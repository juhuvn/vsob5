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2" r:id="rId2"/>
    <p:sldMasterId id="2147483665" r:id="rId3"/>
    <p:sldMasterId id="2147483668" r:id="rId4"/>
  </p:sldMasterIdLst>
  <p:notesMasterIdLst>
    <p:notesMasterId r:id="rId39"/>
  </p:notesMasterIdLst>
  <p:sldIdLst>
    <p:sldId id="256" r:id="rId5"/>
    <p:sldId id="257" r:id="rId6"/>
    <p:sldId id="288" r:id="rId7"/>
    <p:sldId id="295" r:id="rId8"/>
    <p:sldId id="298" r:id="rId9"/>
    <p:sldId id="294" r:id="rId10"/>
    <p:sldId id="296" r:id="rId11"/>
    <p:sldId id="285" r:id="rId12"/>
    <p:sldId id="286" r:id="rId13"/>
    <p:sldId id="287" r:id="rId14"/>
    <p:sldId id="261" r:id="rId15"/>
    <p:sldId id="259" r:id="rId16"/>
    <p:sldId id="260" r:id="rId17"/>
    <p:sldId id="263" r:id="rId18"/>
    <p:sldId id="264" r:id="rId19"/>
    <p:sldId id="265" r:id="rId20"/>
    <p:sldId id="266" r:id="rId21"/>
    <p:sldId id="267" r:id="rId22"/>
    <p:sldId id="268" r:id="rId23"/>
    <p:sldId id="297" r:id="rId24"/>
    <p:sldId id="283" r:id="rId25"/>
    <p:sldId id="300" r:id="rId26"/>
    <p:sldId id="604" r:id="rId27"/>
    <p:sldId id="301" r:id="rId28"/>
    <p:sldId id="302" r:id="rId29"/>
    <p:sldId id="262" r:id="rId30"/>
    <p:sldId id="499" r:id="rId31"/>
    <p:sldId id="500" r:id="rId32"/>
    <p:sldId id="603" r:id="rId33"/>
    <p:sldId id="501" r:id="rId34"/>
    <p:sldId id="606" r:id="rId35"/>
    <p:sldId id="607" r:id="rId36"/>
    <p:sldId id="282" r:id="rId37"/>
    <p:sldId id="605" r:id="rId38"/>
  </p:sldIdLst>
  <p:sldSz cx="12192000" cy="6858000"/>
  <p:notesSz cx="6858000" cy="9144000"/>
  <p:embeddedFontLst>
    <p:embeddedFont>
      <p:font typeface="Calibri" panose="020F0502020204030204" pitchFamily="34" charset="0"/>
      <p:regular r:id="rId40"/>
      <p:bold r:id="rId41"/>
      <p:italic r:id="rId42"/>
      <p:boldItalic r:id="rId43"/>
    </p:embeddedFont>
    <p:embeddedFont>
      <p:font typeface="Century" panose="02040604050505020304" pitchFamily="18" charset="0"/>
      <p:regular r:id="rId44"/>
    </p:embeddedFont>
    <p:embeddedFont>
      <p:font typeface="Georgia" panose="02040502050405020303" pitchFamily="18"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E5743101-1299-4C4C-AD3A-79384F5AD569}">
          <p14:sldIdLst>
            <p14:sldId id="256"/>
            <p14:sldId id="257"/>
            <p14:sldId id="288"/>
          </p14:sldIdLst>
        </p14:section>
        <p14:section name="AI hype" id="{5A0C3CE2-FFC6-CE45-9C8E-5F707DE311F2}">
          <p14:sldIdLst>
            <p14:sldId id="295"/>
            <p14:sldId id="298"/>
            <p14:sldId id="294"/>
            <p14:sldId id="296"/>
          </p14:sldIdLst>
        </p14:section>
        <p14:section name="VirtualLab" id="{8432173B-8ED6-AA4D-97C0-5C0472652DAC}">
          <p14:sldIdLst>
            <p14:sldId id="285"/>
            <p14:sldId id="286"/>
            <p14:sldId id="287"/>
            <p14:sldId id="261"/>
            <p14:sldId id="259"/>
            <p14:sldId id="260"/>
            <p14:sldId id="263"/>
            <p14:sldId id="264"/>
            <p14:sldId id="265"/>
            <p14:sldId id="266"/>
            <p14:sldId id="267"/>
            <p14:sldId id="268"/>
            <p14:sldId id="297"/>
          </p14:sldIdLst>
        </p14:section>
        <p14:section name="LLM, ChatBot, Assistant" id="{16A906FC-5599-9C4A-8873-3ECA6AAD49E7}">
          <p14:sldIdLst>
            <p14:sldId id="283"/>
            <p14:sldId id="300"/>
            <p14:sldId id="604"/>
            <p14:sldId id="301"/>
            <p14:sldId id="302"/>
            <p14:sldId id="262"/>
            <p14:sldId id="499"/>
            <p14:sldId id="500"/>
            <p14:sldId id="603"/>
            <p14:sldId id="501"/>
            <p14:sldId id="606"/>
            <p14:sldId id="607"/>
            <p14:sldId id="282"/>
            <p14:sldId id="605"/>
          </p14:sldIdLst>
        </p14:section>
      </p14:sectionLst>
    </p:ex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hJwTnE1cZhnELbjJOj2/ErQ80fK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1B26"/>
    <a:srgbClr val="2E75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CDA87E-2D77-43CC-8CB8-2C0223D60E04}">
  <a:tblStyle styleId="{8ACDA87E-2D77-43CC-8CB8-2C0223D60E0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4"/>
              </a:solidFill>
              <a:prstDash val="solid"/>
              <a:round/>
              <a:headEnd type="none" w="sm" len="sm"/>
              <a:tailEnd type="none" w="sm" len="sm"/>
            </a:ln>
          </a:top>
          <a:bottom>
            <a:ln w="12700" cap="flat" cmpd="sng">
              <a:solidFill>
                <a:schemeClr val="accent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4">
              <a:alpha val="20000"/>
            </a:schemeClr>
          </a:solidFill>
        </a:fill>
      </a:tcStyle>
    </a:band1H>
    <a:band2H>
      <a:tcTxStyle/>
      <a:tcStyle>
        <a:tcBdr/>
      </a:tcStyle>
    </a:band2H>
    <a:band1V>
      <a:tcTxStyle/>
      <a:tcStyle>
        <a:tcBdr/>
        <a:fill>
          <a:solidFill>
            <a:schemeClr val="accent4">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4"/>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4"/>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529"/>
    <p:restoredTop sz="94562"/>
  </p:normalViewPr>
  <p:slideViewPr>
    <p:cSldViewPr snapToGrid="0">
      <p:cViewPr varScale="1">
        <p:scale>
          <a:sx n="63" d="100"/>
          <a:sy n="63" d="100"/>
        </p:scale>
        <p:origin x="192" y="19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5.fntdata"/><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48" Type="http://schemas.openxmlformats.org/officeDocument/2006/relationships/font" Target="fonts/font9.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7.fntdata"/><Relationship Id="rId20" Type="http://schemas.openxmlformats.org/officeDocument/2006/relationships/slide" Target="slides/slide16.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chính: AI không còn là chủ đề riêng của giới công nghệ – nó xuất hiện mỗi ngày trên mạng xã hội, báo chí, truyền hình, và đã chuyển từ “chatbot” sang “agent”. Nguồn: 53% và 582 tỷ USD (+129,9%) – Stanford HAI, AI Index Report 2026 (13/4/2026). 88% dùng AI, 62% thử nghiệm agent, 23% đang mở rộng – McKinsey, The State of AI, 11/2025 (1.993 người, 105 nước). 40% ứng dụng doanh nghiệp có agent chuyên nhiệm vào cuối 2026 – dự báo của Gartner, 26/8/2025. Việt Nam: Luật Trí tuệ nhân tạo hiệu lực 01/03/2026; FPT Smart Cloud, Whitepaper “10 Xu hướng Công nghệ tại Việt Nam 2026” (xu hướng số 1: Multi-agent Systems); CEOxAI Summit 2026 do MISA đồng hành. Gợi ý: chèn thêm 3–4 ảnh chụp tiêu đề báo, video TikTok/YouTube hoặc bản tin truyền hình về AI agent để tăng sức gợi.</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chính: AI agent không chỉ “nóng” trên báo chí mà đã đi vào công bố khoa học, kể cả các tạp chí hàng đầu. Biểu đồ: số bài trên PubMed có các cụm “AI agent”, “AI agents”, “agentic AI”, “LLM agent(s)”, “language model agents”, “AI scientist” trong tiêu đề/tóm tắt, theo năm xuất bản – 2021: 17; 2022: 18; 2023: 19; 2024: 54; 2025: 289; 2026: 723 (tra ngày 27/10/2026, năm chưa kết thúc). Nếu tính cả từ “agentic” đứng riêng thì 2026 vượt 1.000 bài, nhưng từ này cũng dùng trong tâm lý học nên không đưa vào biểu đồ. Cột phải: tổng hợp từ danh sách 28 bài chọn lọc trên PubMed (tìm ngày 21/10/2026). Coscientist – Boiko et al., Nature 2023; Virtual Lab – Swanson et al., Nature 2025; Co-Scientist – Gottweis et al. (Google DeepMind), Nature 2026; Robin – Ghareeb et al. (FutureHouse), Nature 2026 (ripasudil, KL001 cho thoái hóa điểm vàng thể khô); Virtual Biotech – Zhang, Zou et al., Science 2026; Agentomics – Bioinformatics 2026 (vượt chuyên gia ở 11/20 bộ dữ liệu); OASIS – Molecular Plant 2026; khung đa agent sàng lọc y văn – Water Research 2026 (F1 0,88, nhanh gấp 79 lần, chi phí 1,4%). Lưu ý cho người nghe: Science 2026 cũng cảnh báo hệ AI scientist có thể bịa dữ liệu, p-hack.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chính: truyền thông khoa học đang nói về “nhà khoa học AI”, nhưng các nhà phân tích cũng cảnh báo bong bóng – đây là cầu nối vào nội dung chính của bài giảng. Nguồn: ICML 2026 có 60/247 workshop về agentic AI (~24%) – tổng hợp trên besthub.dev. Stanford AI Index 2026, chương Science (lần đầu tách riêng): bài báo liên quan AI trong khoa học tự nhiên tăng 26% năm 2025, chiếm 5,8–8,8% sản lượng tùy lĩnh vực. DeepScientist – Weng et al., ICLR 2026: ~2 tuần đạt tiến bộ về phát hiện văn bản do AI viết, tương đương ~3 năm nghiên cứu cộng dồn của con người. Các hệ thống tiêu biểu: Google AI co-scientist, Stanford Virtual Lab, Sakana AI Scientist-v2, Paper2Agent (Stanford, 2026). Mặt trái: Gartner Hype Cycle for Agentic AI (2/4/2026) – đỉnh kỳ vọng thổi phồng, 17% tổ chức đã triển khai; Gartner (25/6/2025) dự báo hơn 40% dự án agentic AI bị hủy trước cuối 2027, chỉ ~130 trong hàng nghìn nhà cung cấp có agent thực chất (“agent washing”). State of AI Report: chưa hệ thống nào tự chọn giả thuyết và tạo ra kết quả được kiểm chứng độc lập trọn vòng – dự đoán này được chấm trong báo cáo tháng 10/2026, nên cập nhật nếu đã có kết quả.</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ảnh dễ nhớ: LLM là bộ não – chỉ nhận token và đoán token tiếp theo (ô xám đi vào, ô cam đi ra). Chatbot là bộ não được “gắn mặt” và bong bóng hội thoại: thêm giao diện chat, lịch sử, system prompt, bộ lọc an toàn – tình huống 1 (gõ câu hỏi vào ChatGPT). Agent là bộ não có tay chân: tay cầm kính lúp (công cụ tìm kiếm, truy xuất), tay cầm bảng kế hoạch (tự chia nhiệm vụ, đánh dấu việc đã xong), chân để hành động, mũi tên vòng lặp (quan sát → quyết định → hành động → kiểm tra lại). Tình huống 2 (ảnh sâu hại + hỏi cách diệt) nằm giữa chatbot và agent: đa phương thức, có thể gọi tìm web một bước. Một agent nông nghiệp thật sự: tự nhận ảnh bẫy đèn/drone mỗi ngày, đếm mật độ sâu, so ngưỡng, tra danh mục thuốc BVTV được phép, lập lịch phun, chỉ cảnh báo khi vượt ngưỡng.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chatbot thuần: một lượt hỏi, một lượt trả lời. (1) Giao diện ghép câu hỏi với lời nhắc hệ thống (system prompt) do nhà cung cấp cài sẵn, lịch sử trò chuyện và bộ nhớ người dùng nếu bật – tất cả thành “ngữ cảnh”. (2) Bộ phân loại an toàn kiểm tra nội dung. (3) Văn bản bị cắt thành token rồi đổi thành vector số. (4) LLM – mạng Transformer nhiều lớp – dùng attention để mỗi token “nhìn” các token khác. Mô hình suy luận đời mới có thể “nghĩ” trước khi trả lời. (5) Mô hình đoán token tiếp theo, nối vào, lặp lại – vì vậy chữ hiện dần (streaming); temperature quyết định độ “sáng tạo”. Nhấn mạnh: câu trả lời về bón đạm dựa trên kiến thức đã học, không tra cứu thực tế ruộng của bạn, nên cần đối chiếu với khuyến cáo của khuyến nông địa phương.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mới so với tình huống 1. (2) Mô hình đa phương thức: ảnh được cắt thành các ô nhỏ, qua bộ mã hóa thị giác thành vector đặt chung “không gian” với token chữ – mô hình “đọc” ảnh như đọc thêm một đoạn token. (3) Nhận dạng là so khớp mẫu theo xác suất, không phải tra cơ sở dữ liệu chuẩn; ảnh mờ, góc chụp xấu, loài hiếm hoặc giai đoạn tuổi sâu khác nhau đều dễ gây nhầm. (4) Với câu “cách diệt”, ChatGPT có thể tự bật tìm kiếm web: mô hình sinh ra một lệnh gọi công cụ, hệ thống chạy tìm kiếm, kết quả được đưa ngược vào ngữ cảnh – đây là RAG và là hành vi agent ở mức sơ khai (một bước, do mô hình tự quyết định). (5) Câu trả lời thường gồm biện pháp canh tác, sinh học, hóa học. Nhắc học viên: liều lượng và loại thuốc phải theo nhãn và Danh mục thuốc BVTV được phép sử dụng tại Việt Nam, hỏi thêm cán bộ BVTV địa phương.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với tình huống 2: ở đó người hỏi một lần, ChatGPT trả lời một lần (có thể gọi một công cụ). Ở đây người chỉ giao mục tiêu, agent tự chạy nhiều bước, dùng nhiều công cụ và tự lặp. Bộ công cụ có thể gồm: ảnh từ bẫy đèn/camera/drone, mô hình nhận dạng và đếm sâu, dữ liệu thời tiết, bản tin dự báo của Chi cục Trồng trọt và BVTV, Danh mục thuốc BVTV được phép sử dụng tại Việt Nam, lịch công việc, kênh gửi tin Zalo/SMS. Bốn thành phần của agent: (1) mục tiêu, (2) LLM làm “bộ não” lập kế hoạch, (3) công cụ để quan sát và hành động, (4) bộ nhớ và vòng lặp kiểm tra kết quả. Chỉ cảnh báo khi mật độ vượt ngưỡng kinh tế – giảm phun thừa. Nhấn mạnh rủi ro: nhận dạng sai, dữ liệu lỗi, hoặc đề xuất thuốc không phù hợp – vì vậy cần bước người duyệt (human-in-the-loop).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3"/>
        <p:cNvGrpSpPr/>
        <p:nvPr/>
      </p:nvGrpSpPr>
      <p:grpSpPr>
        <a:xfrm>
          <a:off x="0" y="0"/>
          <a:ext cx="0" cy="0"/>
          <a:chOff x="0" y="0"/>
          <a:chExt cx="0" cy="0"/>
        </a:xfrm>
      </p:grpSpPr>
      <p:sp>
        <p:nvSpPr>
          <p:cNvPr id="14" name="Google Shape;14;p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2E75B5"/>
              </a:buClr>
              <a:buSzPts val="6000"/>
              <a:buFont typeface="Arial"/>
              <a:buNone/>
              <a:defRPr sz="6000">
                <a:solidFill>
                  <a:srgbClr val="2E75B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8" name="Google Shape;18;p3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dirty="0"/>
          </a:p>
        </p:txBody>
      </p:sp>
      <p:sp>
        <p:nvSpPr>
          <p:cNvPr id="19" name="Google Shape;19;p30"/>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31"/>
          <p:cNvSpPr txBox="1">
            <a:spLocks noGrp="1"/>
          </p:cNvSpPr>
          <p:nvPr>
            <p:ph type="title"/>
          </p:nvPr>
        </p:nvSpPr>
        <p:spPr>
          <a:xfrm>
            <a:off x="838200" y="365126"/>
            <a:ext cx="10515600" cy="7182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9" name="Google Shape;29;p31"/>
          <p:cNvSpPr txBox="1">
            <a:spLocks noGrp="1"/>
          </p:cNvSpPr>
          <p:nvPr>
            <p:ph type="body" idx="1"/>
          </p:nvPr>
        </p:nvSpPr>
        <p:spPr>
          <a:xfrm>
            <a:off x="838200" y="1292087"/>
            <a:ext cx="10515600" cy="48848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0" name="Google Shape;30;p31"/>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7"/>
        <p:cNvGrpSpPr/>
        <p:nvPr/>
      </p:nvGrpSpPr>
      <p:grpSpPr>
        <a:xfrm>
          <a:off x="0" y="0"/>
          <a:ext cx="0" cy="0"/>
          <a:chOff x="0" y="0"/>
          <a:chExt cx="0" cy="0"/>
        </a:xfrm>
      </p:grpSpPr>
      <p:sp>
        <p:nvSpPr>
          <p:cNvPr id="58" name="Google Shape;58;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34"/>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34"/>
          <p:cNvSpPr txBox="1"/>
          <p:nvPr/>
        </p:nvSpPr>
        <p:spPr>
          <a:xfrm>
            <a:off x="7370944" y="-5570215"/>
            <a:ext cx="387162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THE SECOND VIETNAM SCHOOL OF BIOLOGY (VSOB-2)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8"/>
        <p:cNvGrpSpPr/>
        <p:nvPr/>
      </p:nvGrpSpPr>
      <p:grpSpPr>
        <a:xfrm>
          <a:off x="0" y="0"/>
          <a:ext cx="0" cy="0"/>
          <a:chOff x="0" y="0"/>
          <a:chExt cx="0" cy="0"/>
        </a:xfrm>
      </p:grpSpPr>
      <p:sp>
        <p:nvSpPr>
          <p:cNvPr id="69" name="Google Shape;69;p3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1" name="Google Shape;71;p3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3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3" name="Google Shape;73;p3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35"/>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2"/>
        <p:cNvGrpSpPr/>
        <p:nvPr/>
      </p:nvGrpSpPr>
      <p:grpSpPr>
        <a:xfrm>
          <a:off x="0" y="0"/>
          <a:ext cx="0" cy="0"/>
          <a:chOff x="0" y="0"/>
          <a:chExt cx="0" cy="0"/>
        </a:xfrm>
      </p:grpSpPr>
      <p:sp>
        <p:nvSpPr>
          <p:cNvPr id="83" name="Google Shape;83;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5" name="Google Shape;85;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6" name="Google Shape;86;p36"/>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4"/>
        <p:cNvGrpSpPr/>
        <p:nvPr/>
      </p:nvGrpSpPr>
      <p:grpSpPr>
        <a:xfrm>
          <a:off x="0" y="0"/>
          <a:ext cx="0" cy="0"/>
          <a:chOff x="0" y="0"/>
          <a:chExt cx="0" cy="0"/>
        </a:xfrm>
      </p:grpSpPr>
      <p:sp>
        <p:nvSpPr>
          <p:cNvPr id="95" name="Google Shape;95;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37"/>
          <p:cNvSpPr>
            <a:spLocks noGrp="1"/>
          </p:cNvSpPr>
          <p:nvPr>
            <p:ph type="pic" idx="2"/>
          </p:nvPr>
        </p:nvSpPr>
        <p:spPr>
          <a:xfrm>
            <a:off x="5183188" y="987425"/>
            <a:ext cx="6172200" cy="4873625"/>
          </a:xfrm>
          <a:prstGeom prst="rect">
            <a:avLst/>
          </a:prstGeom>
          <a:noFill/>
          <a:ln>
            <a:noFill/>
          </a:ln>
        </p:spPr>
      </p:sp>
      <p:sp>
        <p:nvSpPr>
          <p:cNvPr id="97" name="Google Shape;97;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8" name="Google Shape;98;p37"/>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6"/>
        <p:cNvGrpSpPr/>
        <p:nvPr/>
      </p:nvGrpSpPr>
      <p:grpSpPr>
        <a:xfrm>
          <a:off x="0" y="0"/>
          <a:ext cx="0" cy="0"/>
          <a:chOff x="0" y="0"/>
          <a:chExt cx="0" cy="0"/>
        </a:xfrm>
      </p:grpSpPr>
      <p:sp>
        <p:nvSpPr>
          <p:cNvPr id="107" name="Google Shape;107;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8"/>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117"/>
        <p:cNvGrpSpPr/>
        <p:nvPr/>
      </p:nvGrpSpPr>
      <p:grpSpPr>
        <a:xfrm>
          <a:off x="0" y="0"/>
          <a:ext cx="0" cy="0"/>
          <a:chOff x="0" y="0"/>
          <a:chExt cx="0" cy="0"/>
        </a:xfrm>
      </p:grpSpPr>
      <p:sp>
        <p:nvSpPr>
          <p:cNvPr id="118" name="Google Shape;118;p39"/>
          <p:cNvSpPr txBox="1">
            <a:spLocks noGrp="1"/>
          </p:cNvSpPr>
          <p:nvPr>
            <p:ph type="title"/>
          </p:nvPr>
        </p:nvSpPr>
        <p:spPr>
          <a:xfrm>
            <a:off x="1219200" y="457201"/>
            <a:ext cx="10058400" cy="70788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39"/>
          <p:cNvSpPr txBox="1">
            <a:spLocks noGrp="1"/>
          </p:cNvSpPr>
          <p:nvPr>
            <p:ph type="dt" idx="10"/>
          </p:nvPr>
        </p:nvSpPr>
        <p:spPr>
          <a:xfrm>
            <a:off x="1016000" y="6553200"/>
            <a:ext cx="2438400" cy="276999"/>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20" name="Google Shape;120;p39"/>
          <p:cNvSpPr txBox="1">
            <a:spLocks noGrp="1"/>
          </p:cNvSpPr>
          <p:nvPr>
            <p:ph type="sldNum" idx="12"/>
          </p:nvPr>
        </p:nvSpPr>
        <p:spPr>
          <a:xfrm>
            <a:off x="4775200" y="6629400"/>
            <a:ext cx="2844800" cy="15786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Arial"/>
                <a:ea typeface="Arial"/>
                <a:cs typeface="Arial"/>
                <a:sym typeface="Arial"/>
              </a:defRPr>
            </a:lvl1pPr>
            <a:lvl2pPr marL="0" lvl="1" indent="0" algn="r">
              <a:spcBef>
                <a:spcPts val="0"/>
              </a:spcBef>
              <a:buNone/>
              <a:defRPr sz="1200">
                <a:solidFill>
                  <a:srgbClr val="888888"/>
                </a:solidFill>
                <a:latin typeface="Arial"/>
                <a:ea typeface="Arial"/>
                <a:cs typeface="Arial"/>
                <a:sym typeface="Arial"/>
              </a:defRPr>
            </a:lvl2pPr>
            <a:lvl3pPr marL="0" lvl="2" indent="0" algn="r">
              <a:spcBef>
                <a:spcPts val="0"/>
              </a:spcBef>
              <a:buNone/>
              <a:defRPr sz="1200">
                <a:solidFill>
                  <a:srgbClr val="888888"/>
                </a:solidFill>
                <a:latin typeface="Arial"/>
                <a:ea typeface="Arial"/>
                <a:cs typeface="Arial"/>
                <a:sym typeface="Arial"/>
              </a:defRPr>
            </a:lvl3pPr>
            <a:lvl4pPr marL="0" lvl="3" indent="0" algn="r">
              <a:spcBef>
                <a:spcPts val="0"/>
              </a:spcBef>
              <a:buNone/>
              <a:defRPr sz="1200">
                <a:solidFill>
                  <a:srgbClr val="888888"/>
                </a:solidFill>
                <a:latin typeface="Arial"/>
                <a:ea typeface="Arial"/>
                <a:cs typeface="Arial"/>
                <a:sym typeface="Arial"/>
              </a:defRPr>
            </a:lvl4pPr>
            <a:lvl5pPr marL="0" lvl="4" indent="0" algn="r">
              <a:spcBef>
                <a:spcPts val="0"/>
              </a:spcBef>
              <a:buNone/>
              <a:defRPr sz="1200">
                <a:solidFill>
                  <a:srgbClr val="888888"/>
                </a:solidFill>
                <a:latin typeface="Arial"/>
                <a:ea typeface="Arial"/>
                <a:cs typeface="Arial"/>
                <a:sym typeface="Arial"/>
              </a:defRPr>
            </a:lvl5pPr>
            <a:lvl6pPr marL="0" lvl="5" indent="0" algn="r">
              <a:spcBef>
                <a:spcPts val="0"/>
              </a:spcBef>
              <a:buNone/>
              <a:defRPr sz="1200">
                <a:solidFill>
                  <a:srgbClr val="888888"/>
                </a:solidFill>
                <a:latin typeface="Arial"/>
                <a:ea typeface="Arial"/>
                <a:cs typeface="Arial"/>
                <a:sym typeface="Arial"/>
              </a:defRPr>
            </a:lvl6pPr>
            <a:lvl7pPr marL="0" lvl="6" indent="0" algn="r">
              <a:spcBef>
                <a:spcPts val="0"/>
              </a:spcBef>
              <a:buNone/>
              <a:defRPr sz="1200">
                <a:solidFill>
                  <a:srgbClr val="888888"/>
                </a:solidFill>
                <a:latin typeface="Arial"/>
                <a:ea typeface="Arial"/>
                <a:cs typeface="Arial"/>
                <a:sym typeface="Arial"/>
              </a:defRPr>
            </a:lvl7pPr>
            <a:lvl8pPr marL="0" lvl="7" indent="0" algn="r">
              <a:spcBef>
                <a:spcPts val="0"/>
              </a:spcBef>
              <a:buNone/>
              <a:defRPr sz="1200">
                <a:solidFill>
                  <a:srgbClr val="888888"/>
                </a:solidFill>
                <a:latin typeface="Arial"/>
                <a:ea typeface="Arial"/>
                <a:cs typeface="Arial"/>
                <a:sym typeface="Arial"/>
              </a:defRPr>
            </a:lvl8pPr>
            <a:lvl9pPr marL="0" lvl="8" indent="0" algn="r">
              <a:spcBef>
                <a:spcPts val="0"/>
              </a:spcBef>
              <a:buNone/>
              <a:defRPr sz="12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81900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4032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6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F3EFE6"/>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F3EFE6"/>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335140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8356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6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F3EFE6"/>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F3EFE6"/>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1584933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7520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61B26"/>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161B26"/>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88969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jp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838200" y="365125"/>
            <a:ext cx="10515600" cy="638727"/>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28"/>
          <p:cNvSpPr txBox="1">
            <a:spLocks noGrp="1"/>
          </p:cNvSpPr>
          <p:nvPr>
            <p:ph type="body" idx="1"/>
          </p:nvPr>
        </p:nvSpPr>
        <p:spPr>
          <a:xfrm>
            <a:off x="838200" y="1194795"/>
            <a:ext cx="10515600" cy="498216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12" name="Google Shape;12;p28"/>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2" name="Google Shape;20;p30">
            <a:extLst>
              <a:ext uri="{FF2B5EF4-FFF2-40B4-BE49-F238E27FC236}">
                <a16:creationId xmlns:a16="http://schemas.microsoft.com/office/drawing/2014/main" id="{ABA3CF9A-F654-BCFA-A9F1-DA08BD89FB79}"/>
              </a:ext>
            </a:extLst>
          </p:cNvPr>
          <p:cNvGrpSpPr/>
          <p:nvPr userDrawn="1"/>
        </p:nvGrpSpPr>
        <p:grpSpPr>
          <a:xfrm>
            <a:off x="0" y="6449700"/>
            <a:ext cx="12192000" cy="383327"/>
            <a:chOff x="76200" y="-2180257"/>
            <a:chExt cx="12192000" cy="383327"/>
          </a:xfrm>
        </p:grpSpPr>
        <p:cxnSp>
          <p:nvCxnSpPr>
            <p:cNvPr id="3" name="Google Shape;21;p30">
              <a:extLst>
                <a:ext uri="{FF2B5EF4-FFF2-40B4-BE49-F238E27FC236}">
                  <a16:creationId xmlns:a16="http://schemas.microsoft.com/office/drawing/2014/main" id="{35E41DF8-804B-C4D4-434E-FA028210FEFC}"/>
                </a:ext>
              </a:extLst>
            </p:cNvPr>
            <p:cNvCxnSpPr/>
            <p:nvPr/>
          </p:nvCxnSpPr>
          <p:spPr>
            <a:xfrm>
              <a:off x="76200" y="-2180257"/>
              <a:ext cx="12192000" cy="0"/>
            </a:xfrm>
            <a:prstGeom prst="straightConnector1">
              <a:avLst/>
            </a:prstGeom>
            <a:noFill/>
            <a:ln w="12700" cap="flat" cmpd="sng">
              <a:solidFill>
                <a:schemeClr val="accent1"/>
              </a:solidFill>
              <a:prstDash val="solid"/>
              <a:miter lim="800000"/>
              <a:headEnd type="none" w="sm" len="sm"/>
              <a:tailEnd type="none" w="sm" len="sm"/>
            </a:ln>
          </p:spPr>
        </p:cxnSp>
        <p:pic>
          <p:nvPicPr>
            <p:cNvPr id="4" name="Google Shape;22;p30" descr="Rencontres du Vietnam – International Year of Basic Sciences for Development">
              <a:extLst>
                <a:ext uri="{FF2B5EF4-FFF2-40B4-BE49-F238E27FC236}">
                  <a16:creationId xmlns:a16="http://schemas.microsoft.com/office/drawing/2014/main" id="{9CB30801-4473-0C88-3E51-75F9C77285DF}"/>
                </a:ext>
              </a:extLst>
            </p:cNvPr>
            <p:cNvPicPr preferRelativeResize="0">
              <a:picLocks noChangeAspect="1"/>
            </p:cNvPicPr>
            <p:nvPr/>
          </p:nvPicPr>
          <p:blipFill rotWithShape="1">
            <a:blip r:embed="rId12">
              <a:alphaModFix/>
            </a:blip>
            <a:srcRect t="21347" b="22196"/>
            <a:stretch/>
          </p:blipFill>
          <p:spPr>
            <a:xfrm>
              <a:off x="312430" y="-2156930"/>
              <a:ext cx="637652" cy="360000"/>
            </a:xfrm>
            <a:prstGeom prst="rect">
              <a:avLst/>
            </a:prstGeom>
            <a:noFill/>
            <a:ln>
              <a:noFill/>
            </a:ln>
          </p:spPr>
        </p:pic>
        <p:pic>
          <p:nvPicPr>
            <p:cNvPr id="5" name="Google Shape;23;p30" descr="Internship at ICISE">
              <a:extLst>
                <a:ext uri="{FF2B5EF4-FFF2-40B4-BE49-F238E27FC236}">
                  <a16:creationId xmlns:a16="http://schemas.microsoft.com/office/drawing/2014/main" id="{8A5B6497-D853-1A31-5531-135E09A4B34E}"/>
                </a:ext>
              </a:extLst>
            </p:cNvPr>
            <p:cNvPicPr preferRelativeResize="0">
              <a:picLocks noChangeAspect="1"/>
            </p:cNvPicPr>
            <p:nvPr/>
          </p:nvPicPr>
          <p:blipFill rotWithShape="1">
            <a:blip r:embed="rId13">
              <a:alphaModFix/>
            </a:blip>
            <a:srcRect t="18642" b="10927"/>
            <a:stretch/>
          </p:blipFill>
          <p:spPr>
            <a:xfrm>
              <a:off x="1046266" y="-2156930"/>
              <a:ext cx="959373" cy="360000"/>
            </a:xfrm>
            <a:prstGeom prst="rect">
              <a:avLst/>
            </a:prstGeom>
            <a:noFill/>
            <a:ln>
              <a:noFill/>
            </a:ln>
          </p:spPr>
        </p:pic>
        <p:pic>
          <p:nvPicPr>
            <p:cNvPr id="7" name="Google Shape;25;p30" descr="A logo for a company&#10;&#10;Description automatically generated">
              <a:extLst>
                <a:ext uri="{FF2B5EF4-FFF2-40B4-BE49-F238E27FC236}">
                  <a16:creationId xmlns:a16="http://schemas.microsoft.com/office/drawing/2014/main" id="{D59C01F8-5A89-0752-14CA-75AD95B32822}"/>
                </a:ext>
              </a:extLst>
            </p:cNvPr>
            <p:cNvPicPr preferRelativeResize="0">
              <a:picLocks noChangeAspect="1"/>
            </p:cNvPicPr>
            <p:nvPr/>
          </p:nvPicPr>
          <p:blipFill rotWithShape="1">
            <a:blip r:embed="rId14">
              <a:alphaModFix/>
            </a:blip>
            <a:srcRect t="14976" b="16730"/>
            <a:stretch/>
          </p:blipFill>
          <p:spPr>
            <a:xfrm>
              <a:off x="2005639" y="-2156930"/>
              <a:ext cx="937125" cy="360000"/>
            </a:xfrm>
            <a:prstGeom prst="rect">
              <a:avLst/>
            </a:prstGeom>
            <a:noFill/>
            <a:ln>
              <a:noFill/>
            </a:ln>
          </p:spPr>
        </p:pic>
        <p:sp>
          <p:nvSpPr>
            <p:cNvPr id="8" name="Google Shape;26;p30">
              <a:extLst>
                <a:ext uri="{FF2B5EF4-FFF2-40B4-BE49-F238E27FC236}">
                  <a16:creationId xmlns:a16="http://schemas.microsoft.com/office/drawing/2014/main" id="{FA1970D8-7BDE-4977-2A83-05CC2E6C189E}"/>
                </a:ext>
              </a:extLst>
            </p:cNvPr>
            <p:cNvSpPr txBox="1"/>
            <p:nvPr/>
          </p:nvSpPr>
          <p:spPr>
            <a:xfrm>
              <a:off x="2942764" y="-2129519"/>
              <a:ext cx="5237972"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rgbClr val="1E4E79"/>
                  </a:solidFill>
                  <a:latin typeface="Times New Roman"/>
                  <a:ea typeface="Times New Roman"/>
                  <a:cs typeface="Times New Roman"/>
                  <a:sym typeface="Times New Roman"/>
                </a:rPr>
                <a:t>THE 5</a:t>
              </a:r>
              <a:r>
                <a:rPr lang="en-US" sz="1400" b="0" i="0" u="none" strike="noStrike" cap="none" baseline="30000" dirty="0">
                  <a:solidFill>
                    <a:srgbClr val="1E4E79"/>
                  </a:solidFill>
                  <a:latin typeface="Times New Roman"/>
                  <a:ea typeface="Times New Roman"/>
                  <a:cs typeface="Times New Roman"/>
                  <a:sym typeface="Times New Roman"/>
                </a:rPr>
                <a:t>th</a:t>
              </a:r>
              <a:r>
                <a:rPr lang="en-US" sz="1400" b="0" i="0" u="none" strike="noStrike" cap="none" dirty="0">
                  <a:solidFill>
                    <a:srgbClr val="1E4E79"/>
                  </a:solidFill>
                  <a:latin typeface="Times New Roman"/>
                  <a:ea typeface="Times New Roman"/>
                  <a:cs typeface="Times New Roman"/>
                  <a:sym typeface="Times New Roman"/>
                </a:rPr>
                <a:t> VIETNAM SCHOOL OF BIOLOGY (VSOB5)</a:t>
              </a:r>
              <a:endParaRPr sz="1100" dirty="0"/>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7" r:id="rId7"/>
    <p:sldLayoutId id="2147483658" r:id="rId8"/>
    <p:sldLayoutId id="2147483659" r:id="rId9"/>
    <p:sldLayoutId id="214748366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0" i="0" u="none" strike="noStrike" cap="none">
          <a:solidFill>
            <a:srgbClr val="2E75B5"/>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161B26"/>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216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F3EFE6"/>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F3EFE6"/>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881005833"/>
      </p:ext>
    </p:extLst>
  </p:cSld>
  <p:clrMap bg1="dk1" tx1="lt1" bg2="dk2" tx2="lt2" accent1="accent1" accent2="accent2" accent3="accent3" accent4="accent4" accent5="accent5" accent6="accent6" hlink="hlink" folHlink="folHlink"/>
  <p:sldLayoutIdLst>
    <p:sldLayoutId id="2147483663" r:id="rId1"/>
    <p:sldLayoutId id="2147483664"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1216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F3EFE6"/>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F3EFE6"/>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77664505"/>
      </p:ext>
    </p:extLst>
  </p:cSld>
  <p:clrMap bg1="dk1" tx1="lt1" bg2="dk2" tx2="lt2" accent1="accent1" accent2="accent2" accent3="accent3" accent4="accent4" accent5="accent5" accent6="accent6" hlink="hlink" folHlink="folHlink"/>
  <p:sldLayoutIdLst>
    <p:sldLayoutId id="2147483666" r:id="rId1"/>
    <p:sldLayoutId id="2147483667"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61B26"/>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161B26"/>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443306054"/>
      </p:ext>
    </p:extLst>
  </p:cSld>
  <p:clrMap bg1="lt1" tx1="dk1" bg2="lt2" tx2="dk2" accent1="accent1" accent2="accent2" accent3="accent3" accent4="accent4" accent5="accent5" accent6="accent6" hlink="hlink" folHlink="folHlink"/>
  <p:sldLayoutIdLst>
    <p:sldLayoutId id="2147483669" r:id="rId1"/>
    <p:sldLayoutId id="214748367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6.xml"/><Relationship Id="rId5" Type="http://schemas.openxmlformats.org/officeDocument/2006/relationships/image" Target="../media/image30.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
          <p:cNvSpPr txBox="1"/>
          <p:nvPr/>
        </p:nvSpPr>
        <p:spPr>
          <a:xfrm>
            <a:off x="887059" y="2298575"/>
            <a:ext cx="10479942" cy="23876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1E4E79"/>
              </a:buClr>
              <a:buSzPts val="3200"/>
              <a:buFont typeface="Century"/>
              <a:buNone/>
            </a:pPr>
            <a:r>
              <a:rPr lang="en-US" sz="2000" b="1" i="0" u="none" strike="noStrike" cap="none" dirty="0">
                <a:solidFill>
                  <a:srgbClr val="1E4E79"/>
                </a:solidFill>
                <a:latin typeface="Century"/>
                <a:ea typeface="Century"/>
                <a:cs typeface="Century"/>
                <a:sym typeface="Century"/>
              </a:rPr>
              <a:t>THE 5</a:t>
            </a:r>
            <a:r>
              <a:rPr lang="en-US" sz="2000" b="1" i="0" u="none" strike="noStrike" cap="none" baseline="30000" dirty="0">
                <a:solidFill>
                  <a:srgbClr val="1E4E79"/>
                </a:solidFill>
                <a:latin typeface="Century"/>
                <a:ea typeface="Century"/>
                <a:cs typeface="Century"/>
                <a:sym typeface="Century"/>
              </a:rPr>
              <a:t>th</a:t>
            </a:r>
            <a:r>
              <a:rPr lang="en-US" sz="2000" b="1" i="0" u="none" strike="noStrike" cap="none" dirty="0">
                <a:solidFill>
                  <a:srgbClr val="1E4E79"/>
                </a:solidFill>
                <a:latin typeface="Century"/>
                <a:ea typeface="Century"/>
                <a:cs typeface="Century"/>
                <a:sym typeface="Century"/>
              </a:rPr>
              <a:t> VIETNAM SCHOOL OF BIOLOGY (VSOB5)</a:t>
            </a:r>
          </a:p>
          <a:p>
            <a:pPr marL="0" marR="0" lvl="0" indent="0" algn="ctr" rtl="0">
              <a:lnSpc>
                <a:spcPct val="90000"/>
              </a:lnSpc>
              <a:spcBef>
                <a:spcPts val="0"/>
              </a:spcBef>
              <a:spcAft>
                <a:spcPts val="0"/>
              </a:spcAft>
              <a:buClr>
                <a:srgbClr val="1E4E79"/>
              </a:buClr>
              <a:buSzPts val="3200"/>
              <a:buFont typeface="Century"/>
              <a:buNone/>
            </a:pPr>
            <a:endParaRPr lang="en-US" sz="2000" b="1" i="0" u="none" strike="noStrike" cap="none" dirty="0">
              <a:solidFill>
                <a:srgbClr val="1E4E79"/>
              </a:solidFill>
              <a:latin typeface="Century"/>
              <a:ea typeface="Century"/>
              <a:cs typeface="Century"/>
              <a:sym typeface="Century"/>
            </a:endParaRPr>
          </a:p>
          <a:p>
            <a:pPr algn="ctr">
              <a:lnSpc>
                <a:spcPct val="90000"/>
              </a:lnSpc>
              <a:buClr>
                <a:srgbClr val="1E4E79"/>
              </a:buClr>
              <a:buSzPts val="3200"/>
            </a:pPr>
            <a:r>
              <a:rPr lang="vi-VN" sz="3600" b="1" dirty="0">
                <a:solidFill>
                  <a:srgbClr val="1E4E79"/>
                </a:solidFill>
                <a:sym typeface="Century"/>
              </a:rPr>
              <a:t>Mastering Agentic AI in Bioinformatics: </a:t>
            </a:r>
            <a:br>
              <a:rPr lang="vi-VN" sz="3600" b="1" dirty="0">
                <a:solidFill>
                  <a:srgbClr val="1E4E79"/>
                </a:solidFill>
                <a:sym typeface="Century"/>
              </a:rPr>
            </a:br>
            <a:r>
              <a:rPr lang="vi-VN" sz="3600" b="1" dirty="0">
                <a:solidFill>
                  <a:srgbClr val="1E4E79"/>
                </a:solidFill>
                <a:sym typeface="Century"/>
              </a:rPr>
              <a:t>From Insight to Impact </a:t>
            </a:r>
            <a:endParaRPr sz="3600" b="1" dirty="0">
              <a:solidFill>
                <a:srgbClr val="1E4E79"/>
              </a:solidFill>
              <a:latin typeface="Century"/>
              <a:sym typeface="Century"/>
            </a:endParaRPr>
          </a:p>
        </p:txBody>
      </p:sp>
      <p:sp>
        <p:nvSpPr>
          <p:cNvPr id="126" name="Google Shape;126;p1"/>
          <p:cNvSpPr txBox="1"/>
          <p:nvPr/>
        </p:nvSpPr>
        <p:spPr>
          <a:xfrm>
            <a:off x="1222896" y="4171534"/>
            <a:ext cx="9808267"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br>
              <a:rPr lang="vi-VN" sz="2000" b="1" i="0" u="none" strike="noStrike" cap="none" dirty="0">
                <a:solidFill>
                  <a:srgbClr val="04761A"/>
                </a:solidFill>
                <a:latin typeface="Century"/>
                <a:ea typeface="Century"/>
                <a:cs typeface="Century"/>
                <a:sym typeface="Century"/>
              </a:rPr>
            </a:br>
            <a:r>
              <a:rPr lang="vi-VN" sz="2000" b="1" i="1" u="none" strike="noStrike" cap="none" dirty="0">
                <a:solidFill>
                  <a:srgbClr val="04761A"/>
                </a:solidFill>
                <a:latin typeface="Century"/>
                <a:ea typeface="Century"/>
                <a:cs typeface="Century"/>
                <a:sym typeface="Century"/>
              </a:rPr>
              <a:t>October 29</a:t>
            </a:r>
            <a:r>
              <a:rPr lang="vi-VN" sz="2000" b="1" i="1" u="none" strike="noStrike" cap="none" baseline="30000" dirty="0">
                <a:solidFill>
                  <a:srgbClr val="04761A"/>
                </a:solidFill>
                <a:latin typeface="Century"/>
                <a:ea typeface="Century"/>
                <a:cs typeface="Century"/>
                <a:sym typeface="Century"/>
              </a:rPr>
              <a:t>th</a:t>
            </a:r>
            <a:r>
              <a:rPr lang="vi-VN" sz="2000" b="1" i="1" u="none" strike="noStrike" cap="none" dirty="0">
                <a:solidFill>
                  <a:srgbClr val="04761A"/>
                </a:solidFill>
                <a:latin typeface="Century"/>
                <a:ea typeface="Century"/>
                <a:cs typeface="Century"/>
                <a:sym typeface="Century"/>
              </a:rPr>
              <a:t> -31</a:t>
            </a:r>
            <a:r>
              <a:rPr lang="vi-VN" sz="2000" b="1" i="1" u="none" strike="noStrike" cap="none" baseline="30000" dirty="0">
                <a:solidFill>
                  <a:srgbClr val="04761A"/>
                </a:solidFill>
                <a:latin typeface="Century"/>
                <a:ea typeface="Century"/>
                <a:cs typeface="Century"/>
                <a:sym typeface="Century"/>
              </a:rPr>
              <a:t>st</a:t>
            </a:r>
            <a:r>
              <a:rPr lang="vi-VN" sz="2000" b="1" i="1" u="none" strike="noStrike" cap="none" dirty="0">
                <a:solidFill>
                  <a:srgbClr val="04761A"/>
                </a:solidFill>
                <a:latin typeface="Century"/>
                <a:ea typeface="Century"/>
                <a:cs typeface="Century"/>
                <a:sym typeface="Century"/>
              </a:rPr>
              <a:t>, 2026, ICISE, Gia Lai, Vietnam</a:t>
            </a:r>
          </a:p>
          <a:p>
            <a:pPr marL="0" marR="0" lvl="0" indent="0" algn="ctr" rtl="0">
              <a:spcBef>
                <a:spcPts val="0"/>
              </a:spcBef>
              <a:spcAft>
                <a:spcPts val="0"/>
              </a:spcAft>
              <a:buNone/>
            </a:pPr>
            <a:endParaRPr dirty="0"/>
          </a:p>
        </p:txBody>
      </p:sp>
      <p:pic>
        <p:nvPicPr>
          <p:cNvPr id="127" name="Google Shape;127;p1"/>
          <p:cNvPicPr preferRelativeResize="0">
            <a:picLocks noChangeAspect="1"/>
          </p:cNvPicPr>
          <p:nvPr/>
        </p:nvPicPr>
        <p:blipFill rotWithShape="1">
          <a:blip r:embed="rId3">
            <a:alphaModFix/>
          </a:blip>
          <a:srcRect/>
          <a:stretch/>
        </p:blipFill>
        <p:spPr>
          <a:xfrm>
            <a:off x="3087060" y="857765"/>
            <a:ext cx="3298284" cy="720000"/>
          </a:xfrm>
          <a:prstGeom prst="rect">
            <a:avLst/>
          </a:prstGeom>
          <a:noFill/>
          <a:ln>
            <a:noFill/>
          </a:ln>
        </p:spPr>
      </p:pic>
      <p:pic>
        <p:nvPicPr>
          <p:cNvPr id="129" name="Google Shape;129;p1"/>
          <p:cNvPicPr preferRelativeResize="0">
            <a:picLocks noChangeAspect="1"/>
          </p:cNvPicPr>
          <p:nvPr/>
        </p:nvPicPr>
        <p:blipFill rotWithShape="1">
          <a:blip r:embed="rId4">
            <a:alphaModFix/>
          </a:blip>
          <a:srcRect/>
          <a:stretch/>
        </p:blipFill>
        <p:spPr>
          <a:xfrm>
            <a:off x="6783570" y="857765"/>
            <a:ext cx="1557743" cy="72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
          <p:cNvSpPr txBox="1">
            <a:spLocks noGrp="1"/>
          </p:cNvSpPr>
          <p:nvPr>
            <p:ph type="title"/>
          </p:nvPr>
        </p:nvSpPr>
        <p:spPr>
          <a:xfrm>
            <a:off x="650875" y="1791358"/>
            <a:ext cx="11207750" cy="1662987"/>
          </a:xfrm>
          <a:prstGeom prst="rect">
            <a:avLst/>
          </a:prstGeom>
          <a:noFill/>
          <a:ln>
            <a:noFill/>
          </a:ln>
        </p:spPr>
        <p:txBody>
          <a:bodyPr spcFirstLastPara="1" wrap="square" lIns="91425" tIns="45700" rIns="91425" bIns="45700" anchor="b" anchorCtr="0">
            <a:noAutofit/>
          </a:bodyPr>
          <a:lstStyle/>
          <a:p>
            <a:pPr algn="ctr">
              <a:lnSpc>
                <a:spcPct val="100000"/>
              </a:lnSpc>
              <a:buSzPts val="4500"/>
            </a:pPr>
            <a:r>
              <a:rPr lang="en-US" sz="4000" b="1" dirty="0"/>
              <a:t>Agentic Bioinformatics in Practice: From Raw Data to Biological Insight with AI Agents </a:t>
            </a:r>
            <a:endParaRPr lang="en-US" sz="4000" b="1" i="1" dirty="0"/>
          </a:p>
        </p:txBody>
      </p:sp>
      <p:sp>
        <p:nvSpPr>
          <p:cNvPr id="135" name="Google Shape;135;p2"/>
          <p:cNvSpPr txBox="1">
            <a:spLocks noGrp="1"/>
          </p:cNvSpPr>
          <p:nvPr>
            <p:ph type="body" idx="1"/>
          </p:nvPr>
        </p:nvSpPr>
        <p:spPr>
          <a:xfrm>
            <a:off x="831850" y="3753511"/>
            <a:ext cx="10515600" cy="2028419"/>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2200"/>
              <a:buNone/>
            </a:pPr>
            <a:r>
              <a:rPr lang="en-US" sz="2200" dirty="0">
                <a:solidFill>
                  <a:srgbClr val="161B26"/>
                </a:solidFill>
              </a:rPr>
              <a:t>Dr. Cuong Nguyen</a:t>
            </a:r>
          </a:p>
          <a:p>
            <a:pPr marL="0" indent="0" algn="ctr">
              <a:spcBef>
                <a:spcPts val="0"/>
              </a:spcBef>
              <a:buClr>
                <a:schemeClr val="dk1"/>
              </a:buClr>
              <a:buSzPts val="2200"/>
            </a:pPr>
            <a:endParaRPr lang="en-US" sz="2200" dirty="0">
              <a:solidFill>
                <a:srgbClr val="161B26"/>
              </a:solidFill>
            </a:endParaRPr>
          </a:p>
          <a:p>
            <a:pPr marL="0" indent="0" algn="ctr">
              <a:spcBef>
                <a:spcPts val="0"/>
              </a:spcBef>
              <a:buClr>
                <a:schemeClr val="dk1"/>
              </a:buClr>
              <a:buSzPts val="2200"/>
            </a:pPr>
            <a:r>
              <a:rPr lang="en-US" sz="1800" dirty="0">
                <a:solidFill>
                  <a:srgbClr val="161B26"/>
                </a:solidFill>
              </a:rPr>
              <a:t>LOBI Co. Ltd.,</a:t>
            </a:r>
          </a:p>
          <a:p>
            <a:pPr marL="0" indent="0" algn="ctr">
              <a:spcBef>
                <a:spcPts val="0"/>
              </a:spcBef>
              <a:buClr>
                <a:schemeClr val="dk1"/>
              </a:buClr>
              <a:buSzPts val="2200"/>
            </a:pPr>
            <a:r>
              <a:rPr lang="en-US" sz="1800" dirty="0">
                <a:solidFill>
                  <a:srgbClr val="161B26"/>
                </a:solidFill>
              </a:rPr>
              <a:t>Institute of Information Technology, VAST</a:t>
            </a:r>
            <a:endParaRPr sz="2200" dirty="0">
              <a:solidFill>
                <a:srgbClr val="161B26"/>
              </a:solidFill>
            </a:endParaRPr>
          </a:p>
        </p:txBody>
      </p:sp>
      <p:sp>
        <p:nvSpPr>
          <p:cNvPr id="136" name="Google Shape;136;p2"/>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9702A6-973B-7548-4908-63F3BBD610EA}"/>
              </a:ext>
            </a:extLst>
          </p:cNvPr>
          <p:cNvSpPr>
            <a:spLocks noGrp="1"/>
          </p:cNvSpPr>
          <p:nvPr>
            <p:ph type="title"/>
          </p:nvPr>
        </p:nvSpPr>
        <p:spPr/>
        <p:txBody>
          <a:bodyPr/>
          <a:lstStyle/>
          <a:p>
            <a:r>
              <a:rPr lang="en-US" dirty="0" err="1">
                <a:solidFill>
                  <a:srgbClr val="2E75B5"/>
                </a:solidFill>
              </a:rPr>
              <a:t>Nội</a:t>
            </a:r>
            <a:r>
              <a:rPr lang="en-US" dirty="0">
                <a:solidFill>
                  <a:srgbClr val="2E75B5"/>
                </a:solidFill>
              </a:rPr>
              <a:t> dung</a:t>
            </a:r>
          </a:p>
        </p:txBody>
      </p:sp>
      <p:sp>
        <p:nvSpPr>
          <p:cNvPr id="6" name="Text Placeholder 5">
            <a:extLst>
              <a:ext uri="{FF2B5EF4-FFF2-40B4-BE49-F238E27FC236}">
                <a16:creationId xmlns:a16="http://schemas.microsoft.com/office/drawing/2014/main" id="{28DC576E-7369-B640-F11A-21BAF1BAA2ED}"/>
              </a:ext>
            </a:extLst>
          </p:cNvPr>
          <p:cNvSpPr>
            <a:spLocks noGrp="1"/>
          </p:cNvSpPr>
          <p:nvPr>
            <p:ph type="body" idx="1"/>
          </p:nvPr>
        </p:nvSpPr>
        <p:spPr/>
        <p:txBody>
          <a:bodyPr>
            <a:normAutofit fontScale="92500" lnSpcReduction="10000"/>
          </a:bodyPr>
          <a:lstStyle/>
          <a:p>
            <a:pPr>
              <a:lnSpc>
                <a:spcPct val="150000"/>
              </a:lnSpc>
            </a:pPr>
            <a:r>
              <a:rPr lang="en-US" dirty="0" err="1">
                <a:solidFill>
                  <a:srgbClr val="161B26"/>
                </a:solidFill>
              </a:rPr>
              <a:t>Tổng</a:t>
            </a:r>
            <a:r>
              <a:rPr lang="en-US" dirty="0">
                <a:solidFill>
                  <a:srgbClr val="161B26"/>
                </a:solidFill>
              </a:rPr>
              <a:t> </a:t>
            </a:r>
            <a:r>
              <a:rPr lang="en-US" dirty="0" err="1">
                <a:solidFill>
                  <a:srgbClr val="161B26"/>
                </a:solidFill>
              </a:rPr>
              <a:t>quan</a:t>
            </a:r>
            <a:endParaRPr lang="en-US" dirty="0">
              <a:solidFill>
                <a:srgbClr val="161B26"/>
              </a:solidFill>
            </a:endParaRPr>
          </a:p>
          <a:p>
            <a:pPr lvl="1">
              <a:lnSpc>
                <a:spcPct val="150000"/>
              </a:lnSpc>
            </a:pPr>
            <a:r>
              <a:rPr lang="en-US" dirty="0">
                <a:solidFill>
                  <a:srgbClr val="161B26"/>
                </a:solidFill>
              </a:rPr>
              <a:t>LLM, chatbot, Agent</a:t>
            </a:r>
          </a:p>
          <a:p>
            <a:pPr lvl="1">
              <a:lnSpc>
                <a:spcPct val="150000"/>
              </a:lnSpc>
            </a:pPr>
            <a:r>
              <a:rPr lang="en-US" dirty="0">
                <a:solidFill>
                  <a:srgbClr val="161B26"/>
                </a:solidFill>
              </a:rPr>
              <a:t>Prompt Engineering</a:t>
            </a:r>
          </a:p>
          <a:p>
            <a:pPr lvl="1">
              <a:lnSpc>
                <a:spcPct val="150000"/>
              </a:lnSpc>
            </a:pPr>
            <a:r>
              <a:rPr lang="en-US" dirty="0">
                <a:solidFill>
                  <a:srgbClr val="161B26"/>
                </a:solidFill>
              </a:rPr>
              <a:t>Tin </a:t>
            </a:r>
            <a:r>
              <a:rPr lang="en-US" dirty="0" err="1">
                <a:solidFill>
                  <a:srgbClr val="161B26"/>
                </a:solidFill>
              </a:rPr>
              <a:t>sinh</a:t>
            </a:r>
            <a:r>
              <a:rPr lang="en-US" dirty="0">
                <a:solidFill>
                  <a:srgbClr val="161B26"/>
                </a:solidFill>
              </a:rPr>
              <a:t> </a:t>
            </a:r>
            <a:r>
              <a:rPr lang="en-US" dirty="0" err="1">
                <a:solidFill>
                  <a:srgbClr val="161B26"/>
                </a:solidFill>
              </a:rPr>
              <a:t>học</a:t>
            </a:r>
            <a:r>
              <a:rPr lang="en-US" dirty="0">
                <a:solidFill>
                  <a:srgbClr val="161B26"/>
                </a:solidFill>
              </a:rPr>
              <a:t> </a:t>
            </a:r>
            <a:r>
              <a:rPr lang="en-US" dirty="0" err="1">
                <a:solidFill>
                  <a:srgbClr val="161B26"/>
                </a:solidFill>
              </a:rPr>
              <a:t>và</a:t>
            </a:r>
            <a:r>
              <a:rPr lang="en-US" dirty="0">
                <a:solidFill>
                  <a:srgbClr val="161B26"/>
                </a:solidFill>
              </a:rPr>
              <a:t> AI</a:t>
            </a:r>
          </a:p>
          <a:p>
            <a:pPr>
              <a:lnSpc>
                <a:spcPct val="150000"/>
              </a:lnSpc>
            </a:pPr>
            <a:r>
              <a:rPr lang="en-US" dirty="0" err="1">
                <a:solidFill>
                  <a:srgbClr val="161B26"/>
                </a:solidFill>
              </a:rPr>
              <a:t>Thực</a:t>
            </a:r>
            <a:r>
              <a:rPr lang="en-US" dirty="0">
                <a:solidFill>
                  <a:srgbClr val="161B26"/>
                </a:solidFill>
              </a:rPr>
              <a:t> </a:t>
            </a:r>
            <a:r>
              <a:rPr lang="en-US" dirty="0" err="1">
                <a:solidFill>
                  <a:srgbClr val="161B26"/>
                </a:solidFill>
              </a:rPr>
              <a:t>hành</a:t>
            </a:r>
            <a:endParaRPr lang="en-US" dirty="0">
              <a:solidFill>
                <a:srgbClr val="161B26"/>
              </a:solidFill>
            </a:endParaRPr>
          </a:p>
          <a:p>
            <a:pPr lvl="1">
              <a:lnSpc>
                <a:spcPct val="150000"/>
              </a:lnSpc>
            </a:pPr>
            <a:r>
              <a:rPr lang="en-US" dirty="0" err="1">
                <a:solidFill>
                  <a:srgbClr val="161B26"/>
                </a:solidFill>
              </a:rPr>
              <a:t>Công</a:t>
            </a:r>
            <a:r>
              <a:rPr lang="en-US" dirty="0">
                <a:solidFill>
                  <a:srgbClr val="161B26"/>
                </a:solidFill>
              </a:rPr>
              <a:t> </a:t>
            </a:r>
            <a:r>
              <a:rPr lang="en-US" dirty="0" err="1">
                <a:solidFill>
                  <a:srgbClr val="161B26"/>
                </a:solidFill>
              </a:rPr>
              <a:t>thức</a:t>
            </a:r>
            <a:r>
              <a:rPr lang="en-US" dirty="0">
                <a:solidFill>
                  <a:srgbClr val="161B26"/>
                </a:solidFill>
              </a:rPr>
              <a:t> </a:t>
            </a:r>
            <a:r>
              <a:rPr lang="en-US" dirty="0" err="1">
                <a:solidFill>
                  <a:srgbClr val="161B26"/>
                </a:solidFill>
              </a:rPr>
              <a:t>tạo</a:t>
            </a:r>
            <a:r>
              <a:rPr lang="en-US" dirty="0">
                <a:solidFill>
                  <a:srgbClr val="161B26"/>
                </a:solidFill>
              </a:rPr>
              <a:t> AI Agent</a:t>
            </a:r>
          </a:p>
          <a:p>
            <a:pPr lvl="1">
              <a:lnSpc>
                <a:spcPct val="150000"/>
              </a:lnSpc>
            </a:pPr>
            <a:r>
              <a:rPr lang="en-US" dirty="0" err="1">
                <a:solidFill>
                  <a:srgbClr val="161B26"/>
                </a:solidFill>
              </a:rPr>
              <a:t>Công</a:t>
            </a:r>
            <a:r>
              <a:rPr lang="en-US" dirty="0">
                <a:solidFill>
                  <a:srgbClr val="161B26"/>
                </a:solidFill>
              </a:rPr>
              <a:t> </a:t>
            </a:r>
            <a:r>
              <a:rPr lang="en-US" dirty="0" err="1">
                <a:solidFill>
                  <a:srgbClr val="161B26"/>
                </a:solidFill>
              </a:rPr>
              <a:t>thức</a:t>
            </a:r>
            <a:r>
              <a:rPr lang="en-US" dirty="0">
                <a:solidFill>
                  <a:srgbClr val="161B26"/>
                </a:solidFill>
              </a:rPr>
              <a:t> </a:t>
            </a:r>
            <a:r>
              <a:rPr lang="en-US" dirty="0" err="1">
                <a:solidFill>
                  <a:srgbClr val="161B26"/>
                </a:solidFill>
              </a:rPr>
              <a:t>lập</a:t>
            </a:r>
            <a:r>
              <a:rPr lang="en-US" dirty="0">
                <a:solidFill>
                  <a:srgbClr val="161B26"/>
                </a:solidFill>
              </a:rPr>
              <a:t> </a:t>
            </a:r>
            <a:r>
              <a:rPr lang="en-US" dirty="0" err="1">
                <a:solidFill>
                  <a:srgbClr val="161B26"/>
                </a:solidFill>
              </a:rPr>
              <a:t>nhóm</a:t>
            </a:r>
            <a:r>
              <a:rPr lang="en-US" dirty="0">
                <a:solidFill>
                  <a:srgbClr val="161B26"/>
                </a:solidFill>
              </a:rPr>
              <a:t> AI Agent </a:t>
            </a:r>
            <a:r>
              <a:rPr lang="en-US" dirty="0" err="1">
                <a:solidFill>
                  <a:srgbClr val="161B26"/>
                </a:solidFill>
              </a:rPr>
              <a:t>cộng</a:t>
            </a:r>
            <a:r>
              <a:rPr lang="en-US" dirty="0">
                <a:solidFill>
                  <a:srgbClr val="161B26"/>
                </a:solidFill>
              </a:rPr>
              <a:t> </a:t>
            </a:r>
            <a:r>
              <a:rPr lang="en-US" dirty="0" err="1">
                <a:solidFill>
                  <a:srgbClr val="161B26"/>
                </a:solidFill>
              </a:rPr>
              <a:t>tác</a:t>
            </a:r>
            <a:r>
              <a:rPr lang="en-US" dirty="0">
                <a:solidFill>
                  <a:srgbClr val="161B26"/>
                </a:solidFill>
              </a:rPr>
              <a:t> </a:t>
            </a:r>
            <a:r>
              <a:rPr lang="en-US" dirty="0" err="1">
                <a:solidFill>
                  <a:srgbClr val="161B26"/>
                </a:solidFill>
              </a:rPr>
              <a:t>với</a:t>
            </a:r>
            <a:r>
              <a:rPr lang="en-US" dirty="0">
                <a:solidFill>
                  <a:srgbClr val="161B26"/>
                </a:solidFill>
              </a:rPr>
              <a:t> </a:t>
            </a:r>
            <a:r>
              <a:rPr lang="en-US" dirty="0" err="1">
                <a:solidFill>
                  <a:srgbClr val="161B26"/>
                </a:solidFill>
              </a:rPr>
              <a:t>nhau</a:t>
            </a:r>
            <a:endParaRPr lang="en-US" dirty="0">
              <a:solidFill>
                <a:srgbClr val="161B26"/>
              </a:solidFill>
            </a:endParaRPr>
          </a:p>
          <a:p>
            <a:pPr lvl="1">
              <a:lnSpc>
                <a:spcPct val="150000"/>
              </a:lnSpc>
            </a:pPr>
            <a:r>
              <a:rPr lang="en-US" dirty="0" err="1">
                <a:solidFill>
                  <a:srgbClr val="161B26"/>
                </a:solidFill>
              </a:rPr>
              <a:t>Thực</a:t>
            </a:r>
            <a:r>
              <a:rPr lang="en-US" dirty="0">
                <a:solidFill>
                  <a:srgbClr val="161B26"/>
                </a:solidFill>
              </a:rPr>
              <a:t> </a:t>
            </a:r>
            <a:r>
              <a:rPr lang="en-US" dirty="0" err="1">
                <a:solidFill>
                  <a:srgbClr val="161B26"/>
                </a:solidFill>
              </a:rPr>
              <a:t>hành</a:t>
            </a:r>
            <a:r>
              <a:rPr lang="en-US" dirty="0">
                <a:solidFill>
                  <a:srgbClr val="161B26"/>
                </a:solidFill>
              </a:rPr>
              <a:t> </a:t>
            </a:r>
            <a:r>
              <a:rPr lang="en-US" dirty="0" err="1">
                <a:solidFill>
                  <a:srgbClr val="161B26"/>
                </a:solidFill>
              </a:rPr>
              <a:t>với</a:t>
            </a:r>
            <a:r>
              <a:rPr lang="en-US" dirty="0">
                <a:solidFill>
                  <a:srgbClr val="161B26"/>
                </a:solidFill>
              </a:rPr>
              <a:t> </a:t>
            </a:r>
            <a:r>
              <a:rPr lang="en-US" dirty="0" err="1">
                <a:solidFill>
                  <a:srgbClr val="161B26"/>
                </a:solidFill>
              </a:rPr>
              <a:t>các</a:t>
            </a:r>
            <a:r>
              <a:rPr lang="en-US" dirty="0">
                <a:solidFill>
                  <a:srgbClr val="161B26"/>
                </a:solidFill>
              </a:rPr>
              <a:t> </a:t>
            </a:r>
            <a:r>
              <a:rPr lang="en-US" dirty="0" err="1">
                <a:solidFill>
                  <a:srgbClr val="161B26"/>
                </a:solidFill>
              </a:rPr>
              <a:t>tình</a:t>
            </a:r>
            <a:r>
              <a:rPr lang="en-US" dirty="0">
                <a:solidFill>
                  <a:srgbClr val="161B26"/>
                </a:solidFill>
              </a:rPr>
              <a:t> </a:t>
            </a:r>
            <a:r>
              <a:rPr lang="en-US" dirty="0" err="1">
                <a:solidFill>
                  <a:srgbClr val="161B26"/>
                </a:solidFill>
              </a:rPr>
              <a:t>huống</a:t>
            </a:r>
            <a:r>
              <a:rPr lang="en-US" dirty="0">
                <a:solidFill>
                  <a:srgbClr val="161B26"/>
                </a:solidFill>
              </a:rPr>
              <a:t> </a:t>
            </a:r>
            <a:r>
              <a:rPr lang="en-US" dirty="0" err="1">
                <a:solidFill>
                  <a:srgbClr val="161B26"/>
                </a:solidFill>
              </a:rPr>
              <a:t>cụ</a:t>
            </a:r>
            <a:r>
              <a:rPr lang="en-US" dirty="0">
                <a:solidFill>
                  <a:srgbClr val="161B26"/>
                </a:solidFill>
              </a:rPr>
              <a:t> </a:t>
            </a:r>
            <a:r>
              <a:rPr lang="en-US" dirty="0" err="1">
                <a:solidFill>
                  <a:srgbClr val="161B26"/>
                </a:solidFill>
              </a:rPr>
              <a:t>thể</a:t>
            </a:r>
            <a:endParaRPr lang="en-US" dirty="0">
              <a:solidFill>
                <a:srgbClr val="161B26"/>
              </a:solidFill>
            </a:endParaRPr>
          </a:p>
        </p:txBody>
      </p:sp>
      <p:sp>
        <p:nvSpPr>
          <p:cNvPr id="4" name="Slide Number Placeholder 3">
            <a:extLst>
              <a:ext uri="{FF2B5EF4-FFF2-40B4-BE49-F238E27FC236}">
                <a16:creationId xmlns:a16="http://schemas.microsoft.com/office/drawing/2014/main" id="{00AE5DAA-8C88-1FC9-6227-CD537D9B80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2521129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6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F2A541"/>
                </a:solidFill>
                <a:effectLst/>
                <a:uLnTx/>
                <a:uFillTx/>
                <a:latin typeface="Arial" pitchFamily="34" charset="0"/>
                <a:ea typeface="Arial" pitchFamily="34" charset="-122"/>
                <a:cs typeface="Arial" pitchFamily="34" charset="-120"/>
              </a:rPr>
              <a:t>MỞ ĐẦU · BỐI CẢNH TRUYỀN THÔNG</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3EFE6"/>
                </a:solidFill>
                <a:latin typeface="Georgia" pitchFamily="18" charset="0"/>
                <a:ea typeface="Georgia" pitchFamily="18" charset="-122"/>
                <a:cs typeface="Georgia" pitchFamily="18" charset="-120"/>
              </a:rPr>
              <a:t>Cơn sốt AI phủ sóng mọi kênh truyền thông</a:t>
            </a:r>
            <a:endParaRPr lang="en-US" sz="3200" dirty="0"/>
          </a:p>
        </p:txBody>
      </p:sp>
      <p:sp>
        <p:nvSpPr>
          <p:cNvPr id="4" name="Text 2"/>
          <p:cNvSpPr/>
          <p:nvPr/>
        </p:nvSpPr>
        <p:spPr>
          <a:xfrm>
            <a:off x="812800" y="1625550"/>
            <a:ext cx="10883392" cy="26541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9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Mạng xã hội, báo chí, truyền hình… AI – và nay là AI Agent – đã thành chủ đề nóng của gần như mọi ngành nghề.</a:t>
            </a:r>
            <a:endParaRPr kumimoji="0" lang="en-US" sz="1400" b="0" i="0" u="none" strike="noStrike" kern="1200" cap="none" spc="0" normalizeH="0" baseline="0" noProof="0" dirty="0">
              <a:ln>
                <a:noFill/>
              </a:ln>
              <a:solidFill>
                <a:srgbClr val="F3EFE6"/>
              </a:solidFill>
              <a:effectLst/>
              <a:uLnTx/>
              <a:uFillTx/>
              <a:latin typeface="Arial"/>
              <a:ea typeface="+mn-ea"/>
              <a:cs typeface="+mn-cs"/>
            </a:endParaRPr>
          </a:p>
        </p:txBody>
      </p:sp>
      <p:sp>
        <p:nvSpPr>
          <p:cNvPr id="5" name="Shape 3"/>
          <p:cNvSpPr/>
          <p:nvPr/>
        </p:nvSpPr>
        <p:spPr>
          <a:xfrm>
            <a:off x="815975" y="2173536"/>
            <a:ext cx="2520950" cy="1925191"/>
          </a:xfrm>
          <a:prstGeom prst="roundRect">
            <a:avLst>
              <a:gd name="adj" fmla="val 5112"/>
            </a:avLst>
          </a:prstGeom>
          <a:solidFill>
            <a:srgbClr val="1B2130"/>
          </a:solidFill>
          <a:ln w="6350">
            <a:solidFill>
              <a:srgbClr val="2C3446"/>
            </a:solidFill>
            <a:prstDash val="solid"/>
          </a:ln>
        </p:spPr>
      </p:sp>
      <p:sp>
        <p:nvSpPr>
          <p:cNvPr id="6" name="Text 4"/>
          <p:cNvSpPr/>
          <p:nvPr/>
        </p:nvSpPr>
        <p:spPr>
          <a:xfrm>
            <a:off x="1022350" y="2379911"/>
            <a:ext cx="2171446" cy="528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96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2A541"/>
                </a:solidFill>
                <a:effectLst/>
                <a:uLnTx/>
                <a:uFillTx/>
                <a:latin typeface="Georgia" pitchFamily="18" charset="0"/>
                <a:ea typeface="Georgia" pitchFamily="18" charset="-122"/>
                <a:cs typeface="Georgia" pitchFamily="18" charset="-120"/>
              </a:rPr>
              <a:t>53%</a:t>
            </a:r>
            <a:endParaRPr kumimoji="0" lang="en-US" sz="3600" b="0" i="0" u="none" strike="noStrike" kern="1200" cap="none" spc="0" normalizeH="0" baseline="0" noProof="0" dirty="0">
              <a:ln>
                <a:noFill/>
              </a:ln>
              <a:solidFill>
                <a:srgbClr val="F3EFE6"/>
              </a:solidFill>
              <a:effectLst/>
              <a:uLnTx/>
              <a:uFillTx/>
              <a:latin typeface="Arial"/>
              <a:ea typeface="+mn-ea"/>
              <a:cs typeface="+mn-cs"/>
            </a:endParaRPr>
          </a:p>
        </p:txBody>
      </p:sp>
      <p:sp>
        <p:nvSpPr>
          <p:cNvPr id="7" name="Text 5"/>
          <p:cNvSpPr/>
          <p:nvPr/>
        </p:nvSpPr>
        <p:spPr>
          <a:xfrm>
            <a:off x="1022350" y="2959001"/>
            <a:ext cx="2171446" cy="6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9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dân số thế giới đã dùng GenAI sau 3 năm – nhanh hơn cả Internet</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8" name="Text 6"/>
          <p:cNvSpPr/>
          <p:nvPr/>
        </p:nvSpPr>
        <p:spPr>
          <a:xfrm>
            <a:off x="1022350" y="3679031"/>
            <a:ext cx="2171446"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C96A8"/>
                </a:solidFill>
                <a:effectLst/>
                <a:uLnTx/>
                <a:uFillTx/>
                <a:latin typeface="Arial" pitchFamily="34" charset="0"/>
                <a:ea typeface="Arial" pitchFamily="34" charset="-122"/>
                <a:cs typeface="Arial" pitchFamily="34" charset="-120"/>
              </a:rPr>
              <a:t>Stanford AI Index 2026</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9" name="Shape 7"/>
          <p:cNvSpPr/>
          <p:nvPr/>
        </p:nvSpPr>
        <p:spPr>
          <a:xfrm>
            <a:off x="3495675" y="2173536"/>
            <a:ext cx="2520950" cy="1925191"/>
          </a:xfrm>
          <a:prstGeom prst="roundRect">
            <a:avLst>
              <a:gd name="adj" fmla="val 5112"/>
            </a:avLst>
          </a:prstGeom>
          <a:solidFill>
            <a:srgbClr val="1B2130"/>
          </a:solidFill>
          <a:ln w="6350">
            <a:solidFill>
              <a:srgbClr val="2C3446"/>
            </a:solidFill>
            <a:prstDash val="solid"/>
          </a:ln>
        </p:spPr>
      </p:sp>
      <p:sp>
        <p:nvSpPr>
          <p:cNvPr id="10" name="Text 8"/>
          <p:cNvSpPr/>
          <p:nvPr/>
        </p:nvSpPr>
        <p:spPr>
          <a:xfrm>
            <a:off x="3702050" y="2379911"/>
            <a:ext cx="2171446" cy="528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96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2A541"/>
                </a:solidFill>
                <a:effectLst/>
                <a:uLnTx/>
                <a:uFillTx/>
                <a:latin typeface="Georgia" pitchFamily="18" charset="0"/>
                <a:ea typeface="Georgia" pitchFamily="18" charset="-122"/>
                <a:cs typeface="Georgia" pitchFamily="18" charset="-120"/>
              </a:rPr>
              <a:t>$582 tỷ</a:t>
            </a:r>
            <a:endParaRPr kumimoji="0" lang="en-US" sz="3600" b="0" i="0" u="none" strike="noStrike" kern="1200" cap="none" spc="0" normalizeH="0" baseline="0" noProof="0" dirty="0">
              <a:ln>
                <a:noFill/>
              </a:ln>
              <a:solidFill>
                <a:srgbClr val="F3EFE6"/>
              </a:solidFill>
              <a:effectLst/>
              <a:uLnTx/>
              <a:uFillTx/>
              <a:latin typeface="Arial"/>
              <a:ea typeface="+mn-ea"/>
              <a:cs typeface="+mn-cs"/>
            </a:endParaRPr>
          </a:p>
        </p:txBody>
      </p:sp>
      <p:sp>
        <p:nvSpPr>
          <p:cNvPr id="11" name="Text 9"/>
          <p:cNvSpPr/>
          <p:nvPr/>
        </p:nvSpPr>
        <p:spPr>
          <a:xfrm>
            <a:off x="3702050" y="2959001"/>
            <a:ext cx="2171446" cy="6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9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vốn AI doanh nghiệp toàn cầu năm 2025, gấp ~2,3 lần năm trước</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12" name="Text 10"/>
          <p:cNvSpPr/>
          <p:nvPr/>
        </p:nvSpPr>
        <p:spPr>
          <a:xfrm>
            <a:off x="3702050" y="3679031"/>
            <a:ext cx="2171446"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C96A8"/>
                </a:solidFill>
                <a:effectLst/>
                <a:uLnTx/>
                <a:uFillTx/>
                <a:latin typeface="Arial" pitchFamily="34" charset="0"/>
                <a:ea typeface="Arial" pitchFamily="34" charset="-122"/>
                <a:cs typeface="Arial" pitchFamily="34" charset="-120"/>
              </a:rPr>
              <a:t>Stanford AI Index 2026</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13" name="Shape 11"/>
          <p:cNvSpPr/>
          <p:nvPr/>
        </p:nvSpPr>
        <p:spPr>
          <a:xfrm>
            <a:off x="6175375" y="2173536"/>
            <a:ext cx="2520950" cy="1925191"/>
          </a:xfrm>
          <a:prstGeom prst="roundRect">
            <a:avLst>
              <a:gd name="adj" fmla="val 5112"/>
            </a:avLst>
          </a:prstGeom>
          <a:solidFill>
            <a:srgbClr val="1B2130"/>
          </a:solidFill>
          <a:ln w="6350">
            <a:solidFill>
              <a:srgbClr val="2C3446"/>
            </a:solidFill>
            <a:prstDash val="solid"/>
          </a:ln>
        </p:spPr>
      </p:sp>
      <p:sp>
        <p:nvSpPr>
          <p:cNvPr id="14" name="Text 12"/>
          <p:cNvSpPr/>
          <p:nvPr/>
        </p:nvSpPr>
        <p:spPr>
          <a:xfrm>
            <a:off x="6381750" y="2379911"/>
            <a:ext cx="2171446" cy="528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96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2A541"/>
                </a:solidFill>
                <a:effectLst/>
                <a:uLnTx/>
                <a:uFillTx/>
                <a:latin typeface="Georgia" pitchFamily="18" charset="0"/>
                <a:ea typeface="Georgia" pitchFamily="18" charset="-122"/>
                <a:cs typeface="Georgia" pitchFamily="18" charset="-120"/>
              </a:rPr>
              <a:t>88%</a:t>
            </a:r>
            <a:endParaRPr kumimoji="0" lang="en-US" sz="3600" b="0" i="0" u="none" strike="noStrike" kern="1200" cap="none" spc="0" normalizeH="0" baseline="0" noProof="0" dirty="0">
              <a:ln>
                <a:noFill/>
              </a:ln>
              <a:solidFill>
                <a:srgbClr val="F3EFE6"/>
              </a:solidFill>
              <a:effectLst/>
              <a:uLnTx/>
              <a:uFillTx/>
              <a:latin typeface="Arial"/>
              <a:ea typeface="+mn-ea"/>
              <a:cs typeface="+mn-cs"/>
            </a:endParaRPr>
          </a:p>
        </p:txBody>
      </p:sp>
      <p:sp>
        <p:nvSpPr>
          <p:cNvPr id="15" name="Text 13"/>
          <p:cNvSpPr/>
          <p:nvPr/>
        </p:nvSpPr>
        <p:spPr>
          <a:xfrm>
            <a:off x="6381750" y="2959001"/>
            <a:ext cx="2171446" cy="6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9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tổ chức dùng AI thường xuyên; 62% đã thử nghiệm AI agent</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16" name="Text 14"/>
          <p:cNvSpPr/>
          <p:nvPr/>
        </p:nvSpPr>
        <p:spPr>
          <a:xfrm>
            <a:off x="6381750" y="3679031"/>
            <a:ext cx="2171446"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C96A8"/>
                </a:solidFill>
                <a:effectLst/>
                <a:uLnTx/>
                <a:uFillTx/>
                <a:latin typeface="Arial" pitchFamily="34" charset="0"/>
                <a:ea typeface="Arial" pitchFamily="34" charset="-122"/>
                <a:cs typeface="Arial" pitchFamily="34" charset="-120"/>
              </a:rPr>
              <a:t>McKinsey, 11/2025</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17" name="Shape 15"/>
          <p:cNvSpPr/>
          <p:nvPr/>
        </p:nvSpPr>
        <p:spPr>
          <a:xfrm>
            <a:off x="8855075" y="2173536"/>
            <a:ext cx="2520950" cy="1925191"/>
          </a:xfrm>
          <a:prstGeom prst="roundRect">
            <a:avLst>
              <a:gd name="adj" fmla="val 5112"/>
            </a:avLst>
          </a:prstGeom>
          <a:solidFill>
            <a:srgbClr val="1B2130"/>
          </a:solidFill>
          <a:ln w="6350">
            <a:solidFill>
              <a:srgbClr val="2C3446"/>
            </a:solidFill>
            <a:prstDash val="solid"/>
          </a:ln>
        </p:spPr>
      </p:sp>
      <p:sp>
        <p:nvSpPr>
          <p:cNvPr id="18" name="Text 16"/>
          <p:cNvSpPr/>
          <p:nvPr/>
        </p:nvSpPr>
        <p:spPr>
          <a:xfrm>
            <a:off x="9061450" y="2379911"/>
            <a:ext cx="2171446" cy="528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96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2A541"/>
                </a:solidFill>
                <a:effectLst/>
                <a:uLnTx/>
                <a:uFillTx/>
                <a:latin typeface="Georgia" pitchFamily="18" charset="0"/>
                <a:ea typeface="Georgia" pitchFamily="18" charset="-122"/>
                <a:cs typeface="Georgia" pitchFamily="18" charset="-120"/>
              </a:rPr>
              <a:t>40%</a:t>
            </a:r>
            <a:endParaRPr kumimoji="0" lang="en-US" sz="3600" b="0" i="0" u="none" strike="noStrike" kern="1200" cap="none" spc="0" normalizeH="0" baseline="0" noProof="0" dirty="0">
              <a:ln>
                <a:noFill/>
              </a:ln>
              <a:solidFill>
                <a:srgbClr val="F3EFE6"/>
              </a:solidFill>
              <a:effectLst/>
              <a:uLnTx/>
              <a:uFillTx/>
              <a:latin typeface="Arial"/>
              <a:ea typeface="+mn-ea"/>
              <a:cs typeface="+mn-cs"/>
            </a:endParaRPr>
          </a:p>
        </p:txBody>
      </p:sp>
      <p:sp>
        <p:nvSpPr>
          <p:cNvPr id="19" name="Text 17"/>
          <p:cNvSpPr/>
          <p:nvPr/>
        </p:nvSpPr>
        <p:spPr>
          <a:xfrm>
            <a:off x="9061450" y="2959001"/>
            <a:ext cx="2171446" cy="6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9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ứng dụng doanh nghiệp có AI agent cuối 2026 (2025: dưới 5%)</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20" name="Text 18"/>
          <p:cNvSpPr/>
          <p:nvPr/>
        </p:nvSpPr>
        <p:spPr>
          <a:xfrm>
            <a:off x="9061450" y="3679031"/>
            <a:ext cx="2171446"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C96A8"/>
                </a:solidFill>
                <a:effectLst/>
                <a:uLnTx/>
                <a:uFillTx/>
                <a:latin typeface="Arial" pitchFamily="34" charset="0"/>
                <a:ea typeface="Arial" pitchFamily="34" charset="-122"/>
                <a:cs typeface="Arial" pitchFamily="34" charset="-120"/>
              </a:rPr>
              <a:t>Gartner (dự báo)</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21" name="Shape 19"/>
          <p:cNvSpPr/>
          <p:nvPr/>
        </p:nvSpPr>
        <p:spPr>
          <a:xfrm>
            <a:off x="812800" y="4406702"/>
            <a:ext cx="10566400" cy="1132780"/>
          </a:xfrm>
          <a:prstGeom prst="roundRect">
            <a:avLst>
              <a:gd name="adj" fmla="val 6727"/>
            </a:avLst>
          </a:prstGeom>
          <a:solidFill>
            <a:srgbClr val="1B2130"/>
          </a:solidFill>
          <a:ln/>
        </p:spPr>
      </p:sp>
      <p:sp>
        <p:nvSpPr>
          <p:cNvPr id="22" name="Shape 20"/>
          <p:cNvSpPr/>
          <p:nvPr/>
        </p:nvSpPr>
        <p:spPr>
          <a:xfrm>
            <a:off x="812800" y="4406702"/>
            <a:ext cx="10566400" cy="1132780"/>
          </a:xfrm>
          <a:custGeom>
            <a:avLst/>
            <a:gdLst/>
            <a:ahLst/>
            <a:cxnLst/>
            <a:rect l="l" t="t" r="r" b="b"/>
            <a:pathLst>
              <a:path w="10566400" h="1132780">
                <a:moveTo>
                  <a:pt x="76200" y="1132780"/>
                </a:moveTo>
                <a:lnTo>
                  <a:pt x="76200" y="1132780"/>
                </a:lnTo>
                <a:arcTo wR="76200" hR="76200" stAng="5400000" swAng="5400000"/>
                <a:lnTo>
                  <a:pt x="0" y="76200"/>
                </a:lnTo>
                <a:arcTo wR="76200" hR="76200" stAng="10800000" swAng="5400000"/>
                <a:lnTo>
                  <a:pt x="76200" y="0"/>
                </a:lnTo>
                <a:arcTo wR="38100" hR="76200" stAng="16200000" swAng="-5400000"/>
                <a:lnTo>
                  <a:pt x="38100" y="1056580"/>
                </a:lnTo>
                <a:arcTo wR="38100" hR="76200" stAng="10800000" swAng="-5400000"/>
                <a:close/>
              </a:path>
            </a:pathLst>
          </a:custGeom>
          <a:solidFill>
            <a:srgbClr val="F2A541"/>
          </a:solidFill>
          <a:ln/>
        </p:spPr>
      </p:sp>
      <p:sp>
        <p:nvSpPr>
          <p:cNvPr id="23" name="Text 21"/>
          <p:cNvSpPr/>
          <p:nvPr/>
        </p:nvSpPr>
        <p:spPr>
          <a:xfrm>
            <a:off x="1054100" y="4609902"/>
            <a:ext cx="10425557"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F2A541"/>
                </a:solidFill>
                <a:effectLst/>
                <a:uLnTx/>
                <a:uFillTx/>
                <a:latin typeface="Arial" pitchFamily="34" charset="0"/>
                <a:ea typeface="Arial" pitchFamily="34" charset="-122"/>
                <a:cs typeface="Arial" pitchFamily="34" charset="-120"/>
              </a:rPr>
              <a:t>TẠI VIỆT NAM</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24" name="Text 22"/>
          <p:cNvSpPr/>
          <p:nvPr/>
        </p:nvSpPr>
        <p:spPr>
          <a:xfrm>
            <a:off x="1054100" y="4924822"/>
            <a:ext cx="3441700"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Luật Trí tuệ nhân tạo có hiệu lực từ 01/03/2026</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25" name="Text 23"/>
          <p:cNvSpPr/>
          <p:nvPr/>
        </p:nvSpPr>
        <p:spPr>
          <a:xfrm>
            <a:off x="4495800" y="4924822"/>
            <a:ext cx="3335655"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FPT xếp Multi-agent Systems đầu bảng 10 xu hướng công nghệ 2026</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26" name="Text 24"/>
          <p:cNvSpPr/>
          <p:nvPr/>
        </p:nvSpPr>
        <p:spPr>
          <a:xfrm>
            <a:off x="7937500" y="4924822"/>
            <a:ext cx="3335655"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CEOxAI Summit 2026: doanh nghiệp “tự vận hành 24/7” bằng AI Agent</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6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F2A541"/>
                </a:solidFill>
                <a:effectLst/>
                <a:uLnTx/>
                <a:uFillTx/>
                <a:latin typeface="Arial" pitchFamily="34" charset="0"/>
                <a:ea typeface="Arial" pitchFamily="34" charset="-122"/>
                <a:cs typeface="Arial" pitchFamily="34" charset="-120"/>
              </a:rPr>
              <a:t>AI AGENT TRONG CÔNG BỐ KHOA HỌC</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3EFE6"/>
                </a:solidFill>
                <a:latin typeface="Georgia" pitchFamily="18" charset="0"/>
                <a:ea typeface="Georgia" pitchFamily="18" charset="-122"/>
                <a:cs typeface="Georgia" pitchFamily="18" charset="-120"/>
              </a:rPr>
              <a:t>AI Agent bùng nổ trên PubMed</a:t>
            </a:r>
            <a:endParaRPr lang="en-US" sz="3200" dirty="0"/>
          </a:p>
        </p:txBody>
      </p:sp>
      <p:sp>
        <p:nvSpPr>
          <p:cNvPr id="4" name="Text 2"/>
          <p:cNvSpPr/>
          <p:nvPr/>
        </p:nvSpPr>
        <p:spPr>
          <a:xfrm>
            <a:off x="812800" y="1625550"/>
            <a:ext cx="10883392" cy="26541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9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Số công bố y sinh về AI agent tăng ~38 lần từ 2023 đến 2026 – và đã lên Nature, Science, Cell.</a:t>
            </a:r>
            <a:endParaRPr kumimoji="0" lang="en-US" sz="1400" b="0" i="0" u="none" strike="noStrike" kern="1200" cap="none" spc="0" normalizeH="0" baseline="0" noProof="0" dirty="0">
              <a:ln>
                <a:noFill/>
              </a:ln>
              <a:solidFill>
                <a:srgbClr val="F3EFE6"/>
              </a:solidFill>
              <a:effectLst/>
              <a:uLnTx/>
              <a:uFillTx/>
              <a:latin typeface="Arial"/>
              <a:ea typeface="+mn-ea"/>
              <a:cs typeface="+mn-cs"/>
            </a:endParaRPr>
          </a:p>
        </p:txBody>
      </p:sp>
      <p:sp>
        <p:nvSpPr>
          <p:cNvPr id="5" name="Shape 3"/>
          <p:cNvSpPr/>
          <p:nvPr/>
        </p:nvSpPr>
        <p:spPr>
          <a:xfrm>
            <a:off x="812800" y="5085011"/>
            <a:ext cx="5334000" cy="0"/>
          </a:xfrm>
          <a:prstGeom prst="line">
            <a:avLst/>
          </a:prstGeom>
          <a:noFill/>
          <a:ln w="12700">
            <a:solidFill>
              <a:srgbClr val="3A4458"/>
            </a:solidFill>
            <a:prstDash val="solid"/>
          </a:ln>
        </p:spPr>
      </p:sp>
      <p:sp>
        <p:nvSpPr>
          <p:cNvPr id="6" name="Text 4"/>
          <p:cNvSpPr/>
          <p:nvPr/>
        </p:nvSpPr>
        <p:spPr>
          <a:xfrm>
            <a:off x="1058912" y="4715470"/>
            <a:ext cx="248593" cy="27429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17</a:t>
            </a:r>
            <a:endParaRPr kumimoji="0" lang="en-US" sz="1400" b="0" i="0" u="none" strike="noStrike" kern="1200" cap="none" spc="0" normalizeH="0" baseline="0" noProof="0" dirty="0">
              <a:ln>
                <a:noFill/>
              </a:ln>
              <a:solidFill>
                <a:srgbClr val="F3EFE6"/>
              </a:solidFill>
              <a:effectLst/>
              <a:uLnTx/>
              <a:uFillTx/>
              <a:latin typeface="Arial"/>
              <a:ea typeface="+mn-ea"/>
              <a:cs typeface="+mn-cs"/>
            </a:endParaRPr>
          </a:p>
        </p:txBody>
      </p:sp>
      <p:sp>
        <p:nvSpPr>
          <p:cNvPr id="7" name="Shape 5"/>
          <p:cNvSpPr/>
          <p:nvPr/>
        </p:nvSpPr>
        <p:spPr>
          <a:xfrm>
            <a:off x="878384" y="5027861"/>
            <a:ext cx="609600" cy="50800"/>
          </a:xfrm>
          <a:custGeom>
            <a:avLst/>
            <a:gdLst/>
            <a:ahLst/>
            <a:cxnLst/>
            <a:rect l="l" t="t" r="r" b="b"/>
            <a:pathLst>
              <a:path w="609600" h="50800">
                <a:moveTo>
                  <a:pt x="38100" y="0"/>
                </a:moveTo>
                <a:lnTo>
                  <a:pt x="571500" y="0"/>
                </a:lnTo>
                <a:arcTo wR="38100" hR="38100" stAng="16200000" swAng="5400000"/>
                <a:lnTo>
                  <a:pt x="609600" y="50800"/>
                </a:lnTo>
                <a:lnTo>
                  <a:pt x="0" y="50800"/>
                </a:lnTo>
                <a:lnTo>
                  <a:pt x="0" y="38100"/>
                </a:lnTo>
                <a:arcTo wR="38100" hR="38100" stAng="10800000" swAng="5400000"/>
                <a:close/>
              </a:path>
            </a:pathLst>
          </a:custGeom>
          <a:solidFill>
            <a:srgbClr val="4A5568"/>
          </a:solidFill>
          <a:ln/>
        </p:spPr>
      </p:sp>
      <p:sp>
        <p:nvSpPr>
          <p:cNvPr id="8" name="Text 6"/>
          <p:cNvSpPr/>
          <p:nvPr/>
        </p:nvSpPr>
        <p:spPr>
          <a:xfrm>
            <a:off x="1977529" y="4709120"/>
            <a:ext cx="248593" cy="27429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18</a:t>
            </a:r>
            <a:endParaRPr kumimoji="0" lang="en-US" sz="1400" b="0" i="0" u="none" strike="noStrike" kern="1200" cap="none" spc="0" normalizeH="0" baseline="0" noProof="0" dirty="0">
              <a:ln>
                <a:noFill/>
              </a:ln>
              <a:solidFill>
                <a:srgbClr val="F3EFE6"/>
              </a:solidFill>
              <a:effectLst/>
              <a:uLnTx/>
              <a:uFillTx/>
              <a:latin typeface="Arial"/>
              <a:ea typeface="+mn-ea"/>
              <a:cs typeface="+mn-cs"/>
            </a:endParaRPr>
          </a:p>
        </p:txBody>
      </p:sp>
      <p:sp>
        <p:nvSpPr>
          <p:cNvPr id="9" name="Shape 7"/>
          <p:cNvSpPr/>
          <p:nvPr/>
        </p:nvSpPr>
        <p:spPr>
          <a:xfrm>
            <a:off x="1797050" y="5021511"/>
            <a:ext cx="609600" cy="57150"/>
          </a:xfrm>
          <a:custGeom>
            <a:avLst/>
            <a:gdLst/>
            <a:ahLst/>
            <a:cxnLst/>
            <a:rect l="l" t="t" r="r" b="b"/>
            <a:pathLst>
              <a:path w="609600" h="57150">
                <a:moveTo>
                  <a:pt x="38100" y="0"/>
                </a:moveTo>
                <a:lnTo>
                  <a:pt x="571500" y="0"/>
                </a:lnTo>
                <a:arcTo wR="38100" hR="38100" stAng="16200000" swAng="5400000"/>
                <a:lnTo>
                  <a:pt x="609600" y="57150"/>
                </a:lnTo>
                <a:lnTo>
                  <a:pt x="0" y="57150"/>
                </a:lnTo>
                <a:lnTo>
                  <a:pt x="0" y="38100"/>
                </a:lnTo>
                <a:arcTo wR="38100" hR="38100" stAng="10800000" swAng="5400000"/>
                <a:close/>
              </a:path>
            </a:pathLst>
          </a:custGeom>
          <a:solidFill>
            <a:srgbClr val="4A5568"/>
          </a:solidFill>
          <a:ln/>
        </p:spPr>
      </p:sp>
      <p:sp>
        <p:nvSpPr>
          <p:cNvPr id="10" name="Text 8"/>
          <p:cNvSpPr/>
          <p:nvPr/>
        </p:nvSpPr>
        <p:spPr>
          <a:xfrm>
            <a:off x="2896195" y="4702770"/>
            <a:ext cx="248593" cy="27429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19</a:t>
            </a:r>
            <a:endParaRPr kumimoji="0" lang="en-US" sz="1400" b="0" i="0" u="none" strike="noStrike" kern="1200" cap="none" spc="0" normalizeH="0" baseline="0" noProof="0" dirty="0">
              <a:ln>
                <a:noFill/>
              </a:ln>
              <a:solidFill>
                <a:srgbClr val="F3EFE6"/>
              </a:solidFill>
              <a:effectLst/>
              <a:uLnTx/>
              <a:uFillTx/>
              <a:latin typeface="Arial"/>
              <a:ea typeface="+mn-ea"/>
              <a:cs typeface="+mn-cs"/>
            </a:endParaRPr>
          </a:p>
        </p:txBody>
      </p:sp>
      <p:sp>
        <p:nvSpPr>
          <p:cNvPr id="11" name="Shape 9"/>
          <p:cNvSpPr/>
          <p:nvPr/>
        </p:nvSpPr>
        <p:spPr>
          <a:xfrm>
            <a:off x="2715667" y="5015161"/>
            <a:ext cx="609600" cy="63500"/>
          </a:xfrm>
          <a:custGeom>
            <a:avLst/>
            <a:gdLst/>
            <a:ahLst/>
            <a:cxnLst/>
            <a:rect l="l" t="t" r="r" b="b"/>
            <a:pathLst>
              <a:path w="609600" h="63500">
                <a:moveTo>
                  <a:pt x="38100" y="0"/>
                </a:moveTo>
                <a:lnTo>
                  <a:pt x="571500" y="0"/>
                </a:lnTo>
                <a:arcTo wR="38100" hR="38100" stAng="16200000" swAng="5400000"/>
                <a:lnTo>
                  <a:pt x="609600" y="63500"/>
                </a:lnTo>
                <a:lnTo>
                  <a:pt x="0" y="63500"/>
                </a:lnTo>
                <a:lnTo>
                  <a:pt x="0" y="38100"/>
                </a:lnTo>
                <a:arcTo wR="38100" hR="38100" stAng="10800000" swAng="5400000"/>
                <a:close/>
              </a:path>
            </a:pathLst>
          </a:custGeom>
          <a:solidFill>
            <a:srgbClr val="4A5568"/>
          </a:solidFill>
          <a:ln/>
        </p:spPr>
      </p:sp>
      <p:sp>
        <p:nvSpPr>
          <p:cNvPr id="12" name="Text 10"/>
          <p:cNvSpPr/>
          <p:nvPr/>
        </p:nvSpPr>
        <p:spPr>
          <a:xfrm>
            <a:off x="3814812" y="4594820"/>
            <a:ext cx="248593" cy="27429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54</a:t>
            </a:r>
            <a:endParaRPr kumimoji="0" lang="en-US" sz="1400" b="0" i="0" u="none" strike="noStrike" kern="1200" cap="none" spc="0" normalizeH="0" baseline="0" noProof="0" dirty="0">
              <a:ln>
                <a:noFill/>
              </a:ln>
              <a:solidFill>
                <a:srgbClr val="F3EFE6"/>
              </a:solidFill>
              <a:effectLst/>
              <a:uLnTx/>
              <a:uFillTx/>
              <a:latin typeface="Arial"/>
              <a:ea typeface="+mn-ea"/>
              <a:cs typeface="+mn-cs"/>
            </a:endParaRPr>
          </a:p>
        </p:txBody>
      </p:sp>
      <p:sp>
        <p:nvSpPr>
          <p:cNvPr id="13" name="Shape 11"/>
          <p:cNvSpPr/>
          <p:nvPr/>
        </p:nvSpPr>
        <p:spPr>
          <a:xfrm>
            <a:off x="3634333" y="4907211"/>
            <a:ext cx="609600" cy="171450"/>
          </a:xfrm>
          <a:custGeom>
            <a:avLst/>
            <a:gdLst/>
            <a:ahLst/>
            <a:cxnLst/>
            <a:rect l="l" t="t" r="r" b="b"/>
            <a:pathLst>
              <a:path w="609600" h="171450">
                <a:moveTo>
                  <a:pt x="38100" y="0"/>
                </a:moveTo>
                <a:lnTo>
                  <a:pt x="571500" y="0"/>
                </a:lnTo>
                <a:arcTo wR="38100" hR="38100" stAng="16200000" swAng="5400000"/>
                <a:lnTo>
                  <a:pt x="609600" y="171450"/>
                </a:lnTo>
                <a:lnTo>
                  <a:pt x="0" y="171450"/>
                </a:lnTo>
                <a:lnTo>
                  <a:pt x="0" y="38100"/>
                </a:lnTo>
                <a:arcTo wR="38100" hR="38100" stAng="10800000" swAng="5400000"/>
                <a:close/>
              </a:path>
            </a:pathLst>
          </a:custGeom>
          <a:solidFill>
            <a:srgbClr val="4A5568"/>
          </a:solidFill>
          <a:ln/>
        </p:spPr>
      </p:sp>
      <p:sp>
        <p:nvSpPr>
          <p:cNvPr id="14" name="Text 12"/>
          <p:cNvSpPr/>
          <p:nvPr/>
        </p:nvSpPr>
        <p:spPr>
          <a:xfrm>
            <a:off x="4679752" y="3851870"/>
            <a:ext cx="355997" cy="27429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289</a:t>
            </a:r>
            <a:endParaRPr kumimoji="0" lang="en-US" sz="1400" b="0" i="0" u="none" strike="noStrike" kern="1200" cap="none" spc="0" normalizeH="0" baseline="0" noProof="0" dirty="0">
              <a:ln>
                <a:noFill/>
              </a:ln>
              <a:solidFill>
                <a:srgbClr val="F3EFE6"/>
              </a:solidFill>
              <a:effectLst/>
              <a:uLnTx/>
              <a:uFillTx/>
              <a:latin typeface="Arial"/>
              <a:ea typeface="+mn-ea"/>
              <a:cs typeface="+mn-cs"/>
            </a:endParaRPr>
          </a:p>
        </p:txBody>
      </p:sp>
      <p:sp>
        <p:nvSpPr>
          <p:cNvPr id="15" name="Shape 13"/>
          <p:cNvSpPr/>
          <p:nvPr/>
        </p:nvSpPr>
        <p:spPr>
          <a:xfrm>
            <a:off x="4552950" y="4164261"/>
            <a:ext cx="609600" cy="914400"/>
          </a:xfrm>
          <a:custGeom>
            <a:avLst/>
            <a:gdLst/>
            <a:ahLst/>
            <a:cxnLst/>
            <a:rect l="l" t="t" r="r" b="b"/>
            <a:pathLst>
              <a:path w="609600" h="914400">
                <a:moveTo>
                  <a:pt x="38100" y="0"/>
                </a:moveTo>
                <a:lnTo>
                  <a:pt x="571500" y="0"/>
                </a:lnTo>
                <a:arcTo wR="38100" hR="38100" stAng="16200000" swAng="5400000"/>
                <a:lnTo>
                  <a:pt x="609600" y="914400"/>
                </a:lnTo>
                <a:lnTo>
                  <a:pt x="0" y="914400"/>
                </a:lnTo>
                <a:lnTo>
                  <a:pt x="0" y="38100"/>
                </a:lnTo>
                <a:arcTo wR="38100" hR="38100" stAng="10800000" swAng="5400000"/>
                <a:close/>
              </a:path>
            </a:pathLst>
          </a:custGeom>
          <a:solidFill>
            <a:srgbClr val="B9803A"/>
          </a:solidFill>
          <a:ln/>
        </p:spPr>
      </p:sp>
      <p:sp>
        <p:nvSpPr>
          <p:cNvPr id="16" name="Text 14"/>
          <p:cNvSpPr/>
          <p:nvPr/>
        </p:nvSpPr>
        <p:spPr>
          <a:xfrm>
            <a:off x="5547524" y="2409130"/>
            <a:ext cx="457736" cy="34543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252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723</a:t>
            </a:r>
            <a:endParaRPr kumimoji="0" lang="en-US" sz="1800" b="0" i="0" u="none" strike="noStrike" kern="1200" cap="none" spc="0" normalizeH="0" baseline="0" noProof="0" dirty="0">
              <a:ln>
                <a:noFill/>
              </a:ln>
              <a:solidFill>
                <a:srgbClr val="F3EFE6"/>
              </a:solidFill>
              <a:effectLst/>
              <a:uLnTx/>
              <a:uFillTx/>
              <a:latin typeface="Arial"/>
              <a:ea typeface="+mn-ea"/>
              <a:cs typeface="+mn-cs"/>
            </a:endParaRPr>
          </a:p>
        </p:txBody>
      </p:sp>
      <p:sp>
        <p:nvSpPr>
          <p:cNvPr id="17" name="Shape 15"/>
          <p:cNvSpPr/>
          <p:nvPr/>
        </p:nvSpPr>
        <p:spPr>
          <a:xfrm>
            <a:off x="5471567" y="2792661"/>
            <a:ext cx="609600" cy="2286000"/>
          </a:xfrm>
          <a:custGeom>
            <a:avLst/>
            <a:gdLst/>
            <a:ahLst/>
            <a:cxnLst/>
            <a:rect l="l" t="t" r="r" b="b"/>
            <a:pathLst>
              <a:path w="609600" h="2286000">
                <a:moveTo>
                  <a:pt x="38100" y="0"/>
                </a:moveTo>
                <a:lnTo>
                  <a:pt x="571500" y="0"/>
                </a:lnTo>
                <a:arcTo wR="38100" hR="38100" stAng="16200000" swAng="5400000"/>
                <a:lnTo>
                  <a:pt x="609600" y="2286000"/>
                </a:lnTo>
                <a:lnTo>
                  <a:pt x="0" y="2286000"/>
                </a:lnTo>
                <a:lnTo>
                  <a:pt x="0" y="38100"/>
                </a:lnTo>
                <a:arcTo wR="38100" hR="38100" stAng="10800000" swAng="5400000"/>
                <a:close/>
              </a:path>
            </a:pathLst>
          </a:custGeom>
          <a:solidFill>
            <a:srgbClr val="F2A541"/>
          </a:solidFill>
          <a:ln/>
        </p:spPr>
      </p:sp>
      <p:sp>
        <p:nvSpPr>
          <p:cNvPr id="18" name="Text 16"/>
          <p:cNvSpPr/>
          <p:nvPr/>
        </p:nvSpPr>
        <p:spPr>
          <a:xfrm>
            <a:off x="787400" y="5192961"/>
            <a:ext cx="791617" cy="25653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2021</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19" name="Text 17"/>
          <p:cNvSpPr/>
          <p:nvPr/>
        </p:nvSpPr>
        <p:spPr>
          <a:xfrm>
            <a:off x="1706017" y="5192961"/>
            <a:ext cx="791666" cy="25653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2022</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20" name="Text 18"/>
          <p:cNvSpPr/>
          <p:nvPr/>
        </p:nvSpPr>
        <p:spPr>
          <a:xfrm>
            <a:off x="2624683" y="5192961"/>
            <a:ext cx="791617" cy="25653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2023</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21" name="Text 19"/>
          <p:cNvSpPr/>
          <p:nvPr/>
        </p:nvSpPr>
        <p:spPr>
          <a:xfrm>
            <a:off x="3543300" y="5192961"/>
            <a:ext cx="791666" cy="25653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2024</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22" name="Text 20"/>
          <p:cNvSpPr/>
          <p:nvPr/>
        </p:nvSpPr>
        <p:spPr>
          <a:xfrm>
            <a:off x="4461966" y="5192961"/>
            <a:ext cx="791617" cy="25653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2025</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23" name="Text 21"/>
          <p:cNvSpPr/>
          <p:nvPr/>
        </p:nvSpPr>
        <p:spPr>
          <a:xfrm>
            <a:off x="5380583" y="5192961"/>
            <a:ext cx="791617" cy="25653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2026*</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24" name="Text 22"/>
          <p:cNvSpPr/>
          <p:nvPr/>
        </p:nvSpPr>
        <p:spPr>
          <a:xfrm>
            <a:off x="812800" y="5525691"/>
            <a:ext cx="5494020"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C96A8"/>
                </a:solidFill>
                <a:effectLst/>
                <a:uLnTx/>
                <a:uFillTx/>
                <a:latin typeface="Arial" pitchFamily="34" charset="0"/>
                <a:ea typeface="Arial" pitchFamily="34" charset="-122"/>
                <a:cs typeface="Arial" pitchFamily="34" charset="-120"/>
              </a:rPr>
              <a:t>Số bài PubMed có “AI agent(s)”, “agentic AI”, “LLM agent(s)”, “AI scientist” trong tiêu đề/tóm tắt. *2026: tính đến 27/10.</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25" name="Text 23"/>
          <p:cNvSpPr/>
          <p:nvPr/>
        </p:nvSpPr>
        <p:spPr>
          <a:xfrm>
            <a:off x="6553200" y="2170361"/>
            <a:ext cx="4970780"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28 bài chọn lọc · 20 tạp chí · 21 bài năm 2026</a:t>
            </a:r>
            <a:endParaRPr kumimoji="0" lang="en-US" sz="1600" b="0" i="0" u="none" strike="noStrike" kern="1200" cap="none" spc="0" normalizeH="0" baseline="0" noProof="0" dirty="0">
              <a:ln>
                <a:noFill/>
              </a:ln>
              <a:solidFill>
                <a:srgbClr val="F3EFE6"/>
              </a:solidFill>
              <a:effectLst/>
              <a:uLnTx/>
              <a:uFillTx/>
              <a:latin typeface="Arial"/>
              <a:ea typeface="+mn-ea"/>
              <a:cs typeface="+mn-cs"/>
            </a:endParaRPr>
          </a:p>
        </p:txBody>
      </p:sp>
      <p:sp>
        <p:nvSpPr>
          <p:cNvPr id="26" name="Shape 24"/>
          <p:cNvSpPr/>
          <p:nvPr/>
        </p:nvSpPr>
        <p:spPr>
          <a:xfrm>
            <a:off x="6553200" y="2544366"/>
            <a:ext cx="4826000" cy="0"/>
          </a:xfrm>
          <a:prstGeom prst="line">
            <a:avLst/>
          </a:prstGeom>
          <a:noFill/>
          <a:ln w="6350">
            <a:solidFill>
              <a:srgbClr val="2C3446"/>
            </a:solidFill>
            <a:prstDash val="solid"/>
          </a:ln>
        </p:spPr>
      </p:sp>
      <p:sp>
        <p:nvSpPr>
          <p:cNvPr id="27" name="Text 25"/>
          <p:cNvSpPr/>
          <p:nvPr/>
        </p:nvSpPr>
        <p:spPr>
          <a:xfrm>
            <a:off x="6553200" y="2649141"/>
            <a:ext cx="4970780"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Nature 2023 · Coscientist</a:t>
            </a: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 – GPT-4 tự thiết kế và chạy thí nghiệm hóa học</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28" name="Shape 26"/>
          <p:cNvSpPr/>
          <p:nvPr/>
        </p:nvSpPr>
        <p:spPr>
          <a:xfrm>
            <a:off x="6553200" y="3190776"/>
            <a:ext cx="4826000" cy="0"/>
          </a:xfrm>
          <a:prstGeom prst="line">
            <a:avLst/>
          </a:prstGeom>
          <a:noFill/>
          <a:ln w="6350">
            <a:solidFill>
              <a:srgbClr val="2C3446"/>
            </a:solidFill>
            <a:prstDash val="solid"/>
          </a:ln>
        </p:spPr>
      </p:sp>
      <p:sp>
        <p:nvSpPr>
          <p:cNvPr id="29" name="Text 27"/>
          <p:cNvSpPr/>
          <p:nvPr/>
        </p:nvSpPr>
        <p:spPr>
          <a:xfrm>
            <a:off x="6553200" y="3295551"/>
            <a:ext cx="4970780"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Nature 2025 · Virtual Lab</a:t>
            </a: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 – nhóm agent thiết kế 92 nanobody SARS-CoV-2 mới, kiểm chứng thực nghiệm</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30" name="Shape 28"/>
          <p:cNvSpPr/>
          <p:nvPr/>
        </p:nvSpPr>
        <p:spPr>
          <a:xfrm>
            <a:off x="6553200" y="3837186"/>
            <a:ext cx="4826000" cy="0"/>
          </a:xfrm>
          <a:prstGeom prst="line">
            <a:avLst/>
          </a:prstGeom>
          <a:noFill/>
          <a:ln w="6350">
            <a:solidFill>
              <a:srgbClr val="2C3446"/>
            </a:solidFill>
            <a:prstDash val="solid"/>
          </a:ln>
        </p:spPr>
      </p:sp>
      <p:sp>
        <p:nvSpPr>
          <p:cNvPr id="31" name="Text 29"/>
          <p:cNvSpPr/>
          <p:nvPr/>
        </p:nvSpPr>
        <p:spPr>
          <a:xfrm>
            <a:off x="6553200" y="3941961"/>
            <a:ext cx="4970780"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Nature 2026 · Co-Scientist, Robin</a:t>
            </a: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 – giả thuyết mới cho AML, kháng kháng sinh, thoái hóa điểm vàng</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32" name="Shape 30"/>
          <p:cNvSpPr/>
          <p:nvPr/>
        </p:nvSpPr>
        <p:spPr>
          <a:xfrm>
            <a:off x="6553200" y="4483596"/>
            <a:ext cx="4826000" cy="0"/>
          </a:xfrm>
          <a:prstGeom prst="line">
            <a:avLst/>
          </a:prstGeom>
          <a:noFill/>
          <a:ln w="6350">
            <a:solidFill>
              <a:srgbClr val="2C3446"/>
            </a:solidFill>
            <a:prstDash val="solid"/>
          </a:ln>
        </p:spPr>
      </p:sp>
      <p:sp>
        <p:nvSpPr>
          <p:cNvPr id="33" name="Text 31"/>
          <p:cNvSpPr/>
          <p:nvPr/>
        </p:nvSpPr>
        <p:spPr>
          <a:xfrm>
            <a:off x="6553200" y="4588371"/>
            <a:ext cx="4970780"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Science 2026 · Virtual Biotech</a:t>
            </a: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 – hơn 37.000 agent chú giải 55.984 thử nghiệm lâm sàng</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34" name="Shape 32"/>
          <p:cNvSpPr/>
          <p:nvPr/>
        </p:nvSpPr>
        <p:spPr>
          <a:xfrm>
            <a:off x="6553200" y="5130006"/>
            <a:ext cx="4826000" cy="0"/>
          </a:xfrm>
          <a:prstGeom prst="line">
            <a:avLst/>
          </a:prstGeom>
          <a:noFill/>
          <a:ln w="6350">
            <a:solidFill>
              <a:srgbClr val="2C3446"/>
            </a:solidFill>
            <a:prstDash val="solid"/>
          </a:ln>
        </p:spPr>
      </p:sp>
      <p:sp>
        <p:nvSpPr>
          <p:cNvPr id="35" name="Text 33"/>
          <p:cNvSpPr/>
          <p:nvPr/>
        </p:nvSpPr>
        <p:spPr>
          <a:xfrm>
            <a:off x="6553200" y="5234781"/>
            <a:ext cx="4970780"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Lan sang mọi lĩnh vực</a:t>
            </a: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 – tin sinh (Agentomics), cây trồng (OASIS, lúa chịu mặn), môi trường (sàng lọc y văn nhanh 79 lần)</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A3561A"/>
                </a:solidFill>
                <a:effectLst/>
                <a:uLnTx/>
                <a:uFillTx/>
                <a:latin typeface="Arial" pitchFamily="34" charset="0"/>
                <a:ea typeface="Arial" pitchFamily="34" charset="-122"/>
                <a:cs typeface="Arial" pitchFamily="34" charset="-120"/>
              </a:rPr>
              <a:t>AI AGENT TRONG NGHIÊN CỨU KHOA HỌC</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B26"/>
                </a:solidFill>
                <a:latin typeface="Georgia" pitchFamily="18" charset="0"/>
                <a:ea typeface="Georgia" pitchFamily="18" charset="-122"/>
                <a:cs typeface="Georgia" pitchFamily="18" charset="-120"/>
              </a:rPr>
              <a:t>Từ trợ lý đến “nhà khoa học AI”</a:t>
            </a:r>
            <a:endParaRPr lang="en-US" sz="3200" dirty="0"/>
          </a:p>
        </p:txBody>
      </p:sp>
      <p:sp>
        <p:nvSpPr>
          <p:cNvPr id="4" name="Text 2"/>
          <p:cNvSpPr/>
          <p:nvPr/>
        </p:nvSpPr>
        <p:spPr>
          <a:xfrm>
            <a:off x="812800" y="1854150"/>
            <a:ext cx="1447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24%</a:t>
            </a:r>
            <a:endParaRPr kumimoji="0" lang="en-US" sz="2800" b="0" i="0" u="none" strike="noStrike" kern="1200" cap="none" spc="0" normalizeH="0" baseline="0" noProof="0" dirty="0">
              <a:ln>
                <a:noFill/>
              </a:ln>
              <a:solidFill>
                <a:srgbClr val="F3EFE6"/>
              </a:solidFill>
              <a:effectLst/>
              <a:uLnTx/>
              <a:uFillTx/>
              <a:latin typeface="Arial"/>
              <a:ea typeface="+mn-ea"/>
              <a:cs typeface="+mn-cs"/>
            </a:endParaRPr>
          </a:p>
        </p:txBody>
      </p:sp>
      <p:sp>
        <p:nvSpPr>
          <p:cNvPr id="5" name="Text 3"/>
          <p:cNvSpPr/>
          <p:nvPr/>
        </p:nvSpPr>
        <p:spPr>
          <a:xfrm>
            <a:off x="2362200" y="1993850"/>
            <a:ext cx="5049266" cy="4546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9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2026 – “năm bùng nổ” của agent:</a:t>
            </a:r>
            <a:r>
              <a:rPr kumimoji="0" lang="en-US" sz="1300" b="0"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 60/247 workshop tại ICML 2026 dành riêng cho agentic AI.</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6" name="Shape 4"/>
          <p:cNvSpPr/>
          <p:nvPr/>
        </p:nvSpPr>
        <p:spPr>
          <a:xfrm>
            <a:off x="812800" y="2527846"/>
            <a:ext cx="6451600" cy="0"/>
          </a:xfrm>
          <a:prstGeom prst="line">
            <a:avLst/>
          </a:prstGeom>
          <a:noFill/>
          <a:ln w="6350">
            <a:solidFill>
              <a:srgbClr val="DCD6CA"/>
            </a:solidFill>
            <a:prstDash val="solid"/>
          </a:ln>
        </p:spPr>
      </p:sp>
      <p:sp>
        <p:nvSpPr>
          <p:cNvPr id="7" name="Text 5"/>
          <p:cNvSpPr/>
          <p:nvPr/>
        </p:nvSpPr>
        <p:spPr>
          <a:xfrm>
            <a:off x="812800" y="2632621"/>
            <a:ext cx="1447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+26%</a:t>
            </a:r>
            <a:endParaRPr kumimoji="0" lang="en-US" sz="2800" b="0" i="0" u="none" strike="noStrike" kern="1200" cap="none" spc="0" normalizeH="0" baseline="0" noProof="0" dirty="0">
              <a:ln>
                <a:noFill/>
              </a:ln>
              <a:solidFill>
                <a:srgbClr val="F3EFE6"/>
              </a:solidFill>
              <a:effectLst/>
              <a:uLnTx/>
              <a:uFillTx/>
              <a:latin typeface="Arial"/>
              <a:ea typeface="+mn-ea"/>
              <a:cs typeface="+mn-cs"/>
            </a:endParaRPr>
          </a:p>
        </p:txBody>
      </p:sp>
      <p:sp>
        <p:nvSpPr>
          <p:cNvPr id="8" name="Text 6"/>
          <p:cNvSpPr/>
          <p:nvPr/>
        </p:nvSpPr>
        <p:spPr>
          <a:xfrm>
            <a:off x="2362200" y="2772321"/>
            <a:ext cx="5049266" cy="4546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9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Khoa học tự nhiên:</a:t>
            </a:r>
            <a:r>
              <a:rPr kumimoji="0" lang="en-US" sz="1300" b="0"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 bài báo dùng AI tăng 26% năm 2025; AI Index 2026 lần đầu có chương riêng về Khoa học.</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9" name="Shape 7"/>
          <p:cNvSpPr/>
          <p:nvPr/>
        </p:nvSpPr>
        <p:spPr>
          <a:xfrm>
            <a:off x="812800" y="3306316"/>
            <a:ext cx="6451600" cy="0"/>
          </a:xfrm>
          <a:prstGeom prst="line">
            <a:avLst/>
          </a:prstGeom>
          <a:noFill/>
          <a:ln w="6350">
            <a:solidFill>
              <a:srgbClr val="DCD6CA"/>
            </a:solidFill>
            <a:prstDash val="solid"/>
          </a:ln>
        </p:spPr>
      </p:sp>
      <p:sp>
        <p:nvSpPr>
          <p:cNvPr id="10" name="Text 8"/>
          <p:cNvSpPr/>
          <p:nvPr/>
        </p:nvSpPr>
        <p:spPr>
          <a:xfrm>
            <a:off x="812800" y="3411091"/>
            <a:ext cx="1447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2 tuần</a:t>
            </a:r>
            <a:endParaRPr kumimoji="0" lang="en-US" sz="2800" b="0" i="0" u="none" strike="noStrike" kern="1200" cap="none" spc="0" normalizeH="0" baseline="0" noProof="0" dirty="0">
              <a:ln>
                <a:noFill/>
              </a:ln>
              <a:solidFill>
                <a:srgbClr val="F3EFE6"/>
              </a:solidFill>
              <a:effectLst/>
              <a:uLnTx/>
              <a:uFillTx/>
              <a:latin typeface="Arial"/>
              <a:ea typeface="+mn-ea"/>
              <a:cs typeface="+mn-cs"/>
            </a:endParaRPr>
          </a:p>
        </p:txBody>
      </p:sp>
      <p:sp>
        <p:nvSpPr>
          <p:cNvPr id="11" name="Text 9"/>
          <p:cNvSpPr/>
          <p:nvPr/>
        </p:nvSpPr>
        <p:spPr>
          <a:xfrm>
            <a:off x="2362200" y="3550791"/>
            <a:ext cx="5049266" cy="4546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9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DeepScientist (ICLR 2026):</a:t>
            </a:r>
            <a:r>
              <a:rPr kumimoji="0" lang="en-US" sz="1300" b="0"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 tự động đạt tiến bộ tương đương ~3 năm nghiên cứu của con người trên một bài toán.</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12" name="Shape 10"/>
          <p:cNvSpPr/>
          <p:nvPr/>
        </p:nvSpPr>
        <p:spPr>
          <a:xfrm>
            <a:off x="812800" y="4084786"/>
            <a:ext cx="6451600" cy="0"/>
          </a:xfrm>
          <a:prstGeom prst="line">
            <a:avLst/>
          </a:prstGeom>
          <a:noFill/>
          <a:ln w="6350">
            <a:solidFill>
              <a:srgbClr val="DCD6CA"/>
            </a:solidFill>
            <a:prstDash val="solid"/>
          </a:ln>
        </p:spPr>
      </p:sp>
      <p:sp>
        <p:nvSpPr>
          <p:cNvPr id="13" name="Text 11"/>
          <p:cNvSpPr/>
          <p:nvPr/>
        </p:nvSpPr>
        <p:spPr>
          <a:xfrm>
            <a:off x="812800" y="4189561"/>
            <a:ext cx="1447800" cy="381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Lab AI</a:t>
            </a:r>
            <a:endParaRPr kumimoji="0" lang="en-US" sz="2800" b="0" i="0" u="none" strike="noStrike" kern="1200" cap="none" spc="0" normalizeH="0" baseline="0" noProof="0" dirty="0">
              <a:ln>
                <a:noFill/>
              </a:ln>
              <a:solidFill>
                <a:srgbClr val="F3EFE6"/>
              </a:solidFill>
              <a:effectLst/>
              <a:uLnTx/>
              <a:uFillTx/>
              <a:latin typeface="Arial"/>
              <a:ea typeface="+mn-ea"/>
              <a:cs typeface="+mn-cs"/>
            </a:endParaRPr>
          </a:p>
        </p:txBody>
      </p:sp>
      <p:sp>
        <p:nvSpPr>
          <p:cNvPr id="14" name="Text 12"/>
          <p:cNvSpPr/>
          <p:nvPr/>
        </p:nvSpPr>
        <p:spPr>
          <a:xfrm>
            <a:off x="2362200" y="4329261"/>
            <a:ext cx="5049266" cy="4546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9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Lên mặt báo liên tục:</a:t>
            </a:r>
            <a:r>
              <a:rPr kumimoji="0" lang="en-US" sz="1300" b="0"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 Google AI co-scientist, Stanford Virtual Lab, Sakana AI Scientist-v2, Paper2Agent…</a:t>
            </a:r>
            <a:endParaRPr kumimoji="0" lang="en-US" sz="1300" b="0" i="0" u="none" strike="noStrike" kern="1200" cap="none" spc="0" normalizeH="0" baseline="0" noProof="0" dirty="0">
              <a:ln>
                <a:noFill/>
              </a:ln>
              <a:solidFill>
                <a:srgbClr val="F3EFE6"/>
              </a:solidFill>
              <a:effectLst/>
              <a:uLnTx/>
              <a:uFillTx/>
              <a:latin typeface="Arial"/>
              <a:ea typeface="+mn-ea"/>
              <a:cs typeface="+mn-cs"/>
            </a:endParaRPr>
          </a:p>
        </p:txBody>
      </p:sp>
      <p:sp>
        <p:nvSpPr>
          <p:cNvPr id="15" name="Shape 13"/>
          <p:cNvSpPr/>
          <p:nvPr/>
        </p:nvSpPr>
        <p:spPr>
          <a:xfrm>
            <a:off x="7569200" y="1854150"/>
            <a:ext cx="3810000" cy="2904331"/>
          </a:xfrm>
          <a:prstGeom prst="roundRect">
            <a:avLst>
              <a:gd name="adj" fmla="val 3498"/>
            </a:avLst>
          </a:prstGeom>
          <a:solidFill>
            <a:srgbClr val="121620"/>
          </a:solidFill>
          <a:ln/>
        </p:spPr>
      </p:sp>
      <p:sp>
        <p:nvSpPr>
          <p:cNvPr id="16" name="Text 14"/>
          <p:cNvSpPr/>
          <p:nvPr/>
        </p:nvSpPr>
        <p:spPr>
          <a:xfrm>
            <a:off x="7823200" y="2108150"/>
            <a:ext cx="3401060"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2A541"/>
                </a:solidFill>
                <a:effectLst/>
                <a:uLnTx/>
                <a:uFillTx/>
                <a:latin typeface="Georgia" pitchFamily="18" charset="0"/>
                <a:ea typeface="Georgia" pitchFamily="18" charset="-122"/>
                <a:cs typeface="Georgia" pitchFamily="18" charset="-120"/>
              </a:rPr>
              <a:t>Mặt trái của cơn sốt</a:t>
            </a:r>
            <a:endParaRPr kumimoji="0" lang="en-US" sz="1800" b="0" i="0" u="none" strike="noStrike" kern="1200" cap="none" spc="0" normalizeH="0" baseline="0" noProof="0" dirty="0">
              <a:ln>
                <a:noFill/>
              </a:ln>
              <a:solidFill>
                <a:srgbClr val="F3EFE6"/>
              </a:solidFill>
              <a:effectLst/>
              <a:uLnTx/>
              <a:uFillTx/>
              <a:latin typeface="Arial"/>
              <a:ea typeface="+mn-ea"/>
              <a:cs typeface="+mn-cs"/>
            </a:endParaRPr>
          </a:p>
        </p:txBody>
      </p:sp>
      <p:sp>
        <p:nvSpPr>
          <p:cNvPr id="17" name="Text 15"/>
          <p:cNvSpPr/>
          <p:nvPr/>
        </p:nvSpPr>
        <p:spPr>
          <a:xfrm>
            <a:off x="7823200" y="2509441"/>
            <a:ext cx="340106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Gartner (4/2026): Agentic AI ở </a:t>
            </a:r>
            <a:r>
              <a:rPr kumimoji="0" lang="en-US" sz="1200" b="1"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đỉnh kỳ vọng thổi phồng</a:t>
            </a: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 mới 17% tổ chức thực sự triển khai.</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18" name="Text 16"/>
          <p:cNvSpPr/>
          <p:nvPr/>
        </p:nvSpPr>
        <p:spPr>
          <a:xfrm>
            <a:off x="7823200" y="3253631"/>
            <a:ext cx="3401060"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Dự báo </a:t>
            </a:r>
            <a:r>
              <a:rPr kumimoji="0" lang="en-US" sz="1200" b="1"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&gt;40% dự án agentic AI bị hủy</a:t>
            </a: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 trước cuối 2027; “agent washing” tràn lan.</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19" name="Text 17"/>
          <p:cNvSpPr/>
          <p:nvPr/>
        </p:nvSpPr>
        <p:spPr>
          <a:xfrm>
            <a:off x="7823200" y="3792091"/>
            <a:ext cx="340106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Chưa hệ thống nào tự khép kín vòng </a:t>
            </a:r>
            <a:r>
              <a:rPr kumimoji="0" lang="en-US" sz="1200" b="1"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giả thuyết → thí nghiệm → kết quả</a:t>
            </a:r>
            <a:r>
              <a:rPr kumimoji="0" lang="en-US" sz="12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 được kiểm chứng độc lập.</a:t>
            </a:r>
            <a:endParaRPr kumimoji="0" lang="en-US" sz="1200" b="0" i="0" u="none" strike="noStrike" kern="1200" cap="none" spc="0" normalizeH="0" baseline="0" noProof="0" dirty="0">
              <a:ln>
                <a:noFill/>
              </a:ln>
              <a:solidFill>
                <a:srgbClr val="F3EFE6"/>
              </a:solidFill>
              <a:effectLst/>
              <a:uLnTx/>
              <a:uFillTx/>
              <a:latin typeface="Arial"/>
              <a:ea typeface="+mn-ea"/>
              <a:cs typeface="+mn-cs"/>
            </a:endParaRPr>
          </a:p>
        </p:txBody>
      </p:sp>
      <p:sp>
        <p:nvSpPr>
          <p:cNvPr id="20" name="Shape 18"/>
          <p:cNvSpPr/>
          <p:nvPr/>
        </p:nvSpPr>
        <p:spPr>
          <a:xfrm>
            <a:off x="831850" y="5063282"/>
            <a:ext cx="0" cy="298450"/>
          </a:xfrm>
          <a:prstGeom prst="line">
            <a:avLst/>
          </a:prstGeom>
          <a:noFill/>
          <a:ln w="38100">
            <a:solidFill>
              <a:srgbClr val="A3561A"/>
            </a:solidFill>
            <a:prstDash val="solid"/>
          </a:ln>
        </p:spPr>
      </p:sp>
      <p:sp>
        <p:nvSpPr>
          <p:cNvPr id="21" name="Text 19"/>
          <p:cNvSpPr/>
          <p:nvPr/>
        </p:nvSpPr>
        <p:spPr>
          <a:xfrm>
            <a:off x="1003300" y="5088682"/>
            <a:ext cx="10687177" cy="27305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5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Câu hỏi của bài giảng: tách tín hiệu khỏi tiếng ồn – AI Agent thực sự làm được gì cho nhà nghiên cứu?</a:t>
            </a:r>
            <a:endParaRPr kumimoji="0" lang="en-US" sz="1500" b="0" i="0" u="none" strike="noStrike" kern="1200" cap="none" spc="0" normalizeH="0" baseline="0" noProof="0" dirty="0">
              <a:ln>
                <a:noFill/>
              </a:ln>
              <a:solidFill>
                <a:srgbClr val="F3EFE6"/>
              </a:solidFill>
              <a:effectLst/>
              <a:uLnTx/>
              <a:uFillTx/>
              <a:latin typeface="Arial"/>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1DDBAF-2F52-5F00-2CCF-5EBB0B5DF832}"/>
              </a:ext>
            </a:extLst>
          </p:cNvPr>
          <p:cNvSpPr>
            <a:spLocks noGrp="1"/>
          </p:cNvSpPr>
          <p:nvPr>
            <p:ph type="title"/>
          </p:nvPr>
        </p:nvSpPr>
        <p:spPr/>
        <p:txBody>
          <a:bodyPr/>
          <a:lstStyle/>
          <a:p>
            <a:r>
              <a:rPr lang="en-US" dirty="0" err="1"/>
              <a:t>Kỳ</a:t>
            </a:r>
            <a:r>
              <a:rPr lang="en-US" dirty="0"/>
              <a:t> </a:t>
            </a:r>
            <a:r>
              <a:rPr lang="en-US" dirty="0" err="1"/>
              <a:t>vọng</a:t>
            </a:r>
            <a:r>
              <a:rPr lang="en-US" dirty="0"/>
              <a:t> </a:t>
            </a:r>
            <a:r>
              <a:rPr lang="en-US" dirty="0" err="1"/>
              <a:t>gì</a:t>
            </a:r>
            <a:r>
              <a:rPr lang="en-US" dirty="0"/>
              <a:t>?</a:t>
            </a:r>
          </a:p>
        </p:txBody>
      </p:sp>
      <p:sp>
        <p:nvSpPr>
          <p:cNvPr id="5" name="Text Placeholder 4">
            <a:extLst>
              <a:ext uri="{FF2B5EF4-FFF2-40B4-BE49-F238E27FC236}">
                <a16:creationId xmlns:a16="http://schemas.microsoft.com/office/drawing/2014/main" id="{66065D25-0E99-FA0D-FFE3-EE60BA5778E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16646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F28466-B13D-AAE7-290C-2D34E8D0AA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6" name="Picture 5">
            <a:extLst>
              <a:ext uri="{FF2B5EF4-FFF2-40B4-BE49-F238E27FC236}">
                <a16:creationId xmlns:a16="http://schemas.microsoft.com/office/drawing/2014/main" id="{28C422C3-F503-424D-B89B-6630D9C30DFA}"/>
              </a:ext>
            </a:extLst>
          </p:cNvPr>
          <p:cNvPicPr>
            <a:picLocks noChangeAspect="1"/>
          </p:cNvPicPr>
          <p:nvPr/>
        </p:nvPicPr>
        <p:blipFill>
          <a:blip r:embed="rId2"/>
          <a:stretch>
            <a:fillRect/>
          </a:stretch>
        </p:blipFill>
        <p:spPr>
          <a:xfrm>
            <a:off x="560317" y="470607"/>
            <a:ext cx="11071365" cy="4280771"/>
          </a:xfrm>
          <a:prstGeom prst="rect">
            <a:avLst/>
          </a:prstGeom>
        </p:spPr>
      </p:pic>
      <p:pic>
        <p:nvPicPr>
          <p:cNvPr id="2" name="Picture 1">
            <a:extLst>
              <a:ext uri="{FF2B5EF4-FFF2-40B4-BE49-F238E27FC236}">
                <a16:creationId xmlns:a16="http://schemas.microsoft.com/office/drawing/2014/main" id="{CEB9C364-4B56-A00E-14F2-10BCB23DC712}"/>
              </a:ext>
            </a:extLst>
          </p:cNvPr>
          <p:cNvPicPr>
            <a:picLocks noChangeAspect="1"/>
          </p:cNvPicPr>
          <p:nvPr/>
        </p:nvPicPr>
        <p:blipFill>
          <a:blip r:embed="rId3"/>
          <a:stretch>
            <a:fillRect/>
          </a:stretch>
        </p:blipFill>
        <p:spPr>
          <a:xfrm>
            <a:off x="560317" y="5480839"/>
            <a:ext cx="3009900" cy="4191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41364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86342"/>
          <a:stretch/>
        </p:blipFill>
        <p:spPr>
          <a:xfrm>
            <a:off x="0" y="28575"/>
            <a:ext cx="12192000" cy="928856"/>
          </a:xfrm>
          <a:prstGeom prst="rect">
            <a:avLst/>
          </a:prstGeom>
        </p:spPr>
      </p:pic>
      <p:pic>
        <p:nvPicPr>
          <p:cNvPr id="3" name="Picture 2">
            <a:extLst>
              <a:ext uri="{FF2B5EF4-FFF2-40B4-BE49-F238E27FC236}">
                <a16:creationId xmlns:a16="http://schemas.microsoft.com/office/drawing/2014/main" id="{22591EB4-0E56-8931-E1C9-D1401DABA4B5}"/>
              </a:ext>
            </a:extLst>
          </p:cNvPr>
          <p:cNvPicPr>
            <a:picLocks noChangeAspect="1"/>
          </p:cNvPicPr>
          <p:nvPr/>
        </p:nvPicPr>
        <p:blipFill>
          <a:blip r:embed="rId3"/>
          <a:stretch>
            <a:fillRect/>
          </a:stretch>
        </p:blipFill>
        <p:spPr>
          <a:xfrm>
            <a:off x="499705" y="1452606"/>
            <a:ext cx="10834016" cy="427046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87449"/>
          <a:stretch/>
        </p:blipFill>
        <p:spPr>
          <a:xfrm>
            <a:off x="0" y="28575"/>
            <a:ext cx="12192000" cy="853552"/>
          </a:xfrm>
          <a:prstGeom prst="rect">
            <a:avLst/>
          </a:prstGeom>
        </p:spPr>
      </p:pic>
      <p:pic>
        <p:nvPicPr>
          <p:cNvPr id="3" name="Picture 2">
            <a:extLst>
              <a:ext uri="{FF2B5EF4-FFF2-40B4-BE49-F238E27FC236}">
                <a16:creationId xmlns:a16="http://schemas.microsoft.com/office/drawing/2014/main" id="{E241FB8A-2705-5B95-644A-8755D6EC60F6}"/>
              </a:ext>
            </a:extLst>
          </p:cNvPr>
          <p:cNvPicPr>
            <a:picLocks noChangeAspect="1"/>
          </p:cNvPicPr>
          <p:nvPr/>
        </p:nvPicPr>
        <p:blipFill>
          <a:blip r:embed="rId3"/>
          <a:stretch>
            <a:fillRect/>
          </a:stretch>
        </p:blipFill>
        <p:spPr>
          <a:xfrm>
            <a:off x="315781" y="891041"/>
            <a:ext cx="3310557" cy="5082876"/>
          </a:xfrm>
          <a:prstGeom prst="rect">
            <a:avLst/>
          </a:prstGeom>
        </p:spPr>
      </p:pic>
      <p:sp>
        <p:nvSpPr>
          <p:cNvPr id="5" name="TextBox 4">
            <a:extLst>
              <a:ext uri="{FF2B5EF4-FFF2-40B4-BE49-F238E27FC236}">
                <a16:creationId xmlns:a16="http://schemas.microsoft.com/office/drawing/2014/main" id="{149443B6-2196-CC62-5504-363F48815B7C}"/>
              </a:ext>
            </a:extLst>
          </p:cNvPr>
          <p:cNvSpPr txBox="1"/>
          <p:nvPr/>
        </p:nvSpPr>
        <p:spPr>
          <a:xfrm>
            <a:off x="272749" y="5955827"/>
            <a:ext cx="4374555" cy="461665"/>
          </a:xfrm>
          <a:prstGeom prst="rect">
            <a:avLst/>
          </a:prstGeom>
          <a:solidFill>
            <a:schemeClr val="bg1"/>
          </a:solidFill>
        </p:spPr>
        <p:txBody>
          <a:bodyPr wrap="square">
            <a:spAutoFit/>
          </a:bodyPr>
          <a:lstStyle/>
          <a:p>
            <a:r>
              <a:rPr lang="en-US" sz="1200" dirty="0">
                <a:solidFill>
                  <a:srgbClr val="000000"/>
                </a:solidFill>
                <a:effectLst/>
                <a:latin typeface="Arial" panose="020B0604020202020204" pitchFamily="34" charset="0"/>
              </a:rPr>
              <a:t>The workflow used to apply the Virtual</a:t>
            </a:r>
          </a:p>
          <a:p>
            <a:r>
              <a:rPr lang="en-US" sz="1200" dirty="0">
                <a:solidFill>
                  <a:srgbClr val="000000"/>
                </a:solidFill>
                <a:effectLst/>
                <a:latin typeface="Arial" panose="020B0604020202020204" pitchFamily="34" charset="0"/>
              </a:rPr>
              <a:t>Lab to nanobody design for the KP.3 variant of SARS-CoV-2</a:t>
            </a:r>
          </a:p>
        </p:txBody>
      </p:sp>
      <p:grpSp>
        <p:nvGrpSpPr>
          <p:cNvPr id="4" name="Group 3">
            <a:extLst>
              <a:ext uri="{FF2B5EF4-FFF2-40B4-BE49-F238E27FC236}">
                <a16:creationId xmlns:a16="http://schemas.microsoft.com/office/drawing/2014/main" id="{A7CAD330-B4A4-3F6C-DA99-9AF6F37E76CA}"/>
              </a:ext>
            </a:extLst>
          </p:cNvPr>
          <p:cNvGrpSpPr/>
          <p:nvPr/>
        </p:nvGrpSpPr>
        <p:grpSpPr>
          <a:xfrm>
            <a:off x="4427668" y="1175389"/>
            <a:ext cx="6627848" cy="4046594"/>
            <a:chOff x="4427668" y="1175389"/>
            <a:chExt cx="6627848" cy="4046594"/>
          </a:xfrm>
        </p:grpSpPr>
        <p:pic>
          <p:nvPicPr>
            <p:cNvPr id="6" name="Picture 5">
              <a:extLst>
                <a:ext uri="{FF2B5EF4-FFF2-40B4-BE49-F238E27FC236}">
                  <a16:creationId xmlns:a16="http://schemas.microsoft.com/office/drawing/2014/main" id="{3D2D74DD-578A-9FC5-4F0D-486D8A479DAE}"/>
                </a:ext>
              </a:extLst>
            </p:cNvPr>
            <p:cNvPicPr>
              <a:picLocks noChangeAspect="1"/>
            </p:cNvPicPr>
            <p:nvPr/>
          </p:nvPicPr>
          <p:blipFill>
            <a:blip r:embed="rId4"/>
            <a:stretch>
              <a:fillRect/>
            </a:stretch>
          </p:blipFill>
          <p:spPr>
            <a:xfrm>
              <a:off x="4427668" y="1175389"/>
              <a:ext cx="6627848" cy="4046594"/>
            </a:xfrm>
            <a:prstGeom prst="rect">
              <a:avLst/>
            </a:prstGeom>
          </p:spPr>
        </p:pic>
        <p:sp>
          <p:nvSpPr>
            <p:cNvPr id="8" name="TextBox 7">
              <a:extLst>
                <a:ext uri="{FF2B5EF4-FFF2-40B4-BE49-F238E27FC236}">
                  <a16:creationId xmlns:a16="http://schemas.microsoft.com/office/drawing/2014/main" id="{BC55D4E2-3F4A-8409-DBB9-227DB162E27E}"/>
                </a:ext>
              </a:extLst>
            </p:cNvPr>
            <p:cNvSpPr txBox="1"/>
            <p:nvPr/>
          </p:nvSpPr>
          <p:spPr>
            <a:xfrm>
              <a:off x="8439502" y="4583784"/>
              <a:ext cx="2501025" cy="523220"/>
            </a:xfrm>
            <a:prstGeom prst="rect">
              <a:avLst/>
            </a:prstGeom>
            <a:noFill/>
          </p:spPr>
          <p:txBody>
            <a:bodyPr wrap="square">
              <a:spAutoFit/>
            </a:bodyPr>
            <a:lstStyle/>
            <a:p>
              <a:r>
                <a:rPr lang="en-US" dirty="0">
                  <a:solidFill>
                    <a:srgbClr val="000000"/>
                  </a:solidFill>
                  <a:effectLst/>
                  <a:latin typeface="Arial" panose="020B0604020202020204" pitchFamily="34" charset="0"/>
                </a:rPr>
                <a:t>The workflow for parallel meetings in the Virtual Lab.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BAB5ED-AE93-AC10-9027-EA0F7F9C8394}"/>
              </a:ext>
            </a:extLst>
          </p:cNvPr>
          <p:cNvSpPr>
            <a:spLocks noGrp="1"/>
          </p:cNvSpPr>
          <p:nvPr>
            <p:ph type="title"/>
          </p:nvPr>
        </p:nvSpPr>
        <p:spPr/>
        <p:txBody>
          <a:bodyPr/>
          <a:lstStyle/>
          <a:p>
            <a:r>
              <a:rPr lang="en-US" dirty="0" err="1">
                <a:solidFill>
                  <a:srgbClr val="2E75B5"/>
                </a:solidFill>
              </a:rPr>
              <a:t>Những</a:t>
            </a:r>
            <a:r>
              <a:rPr lang="en-US" dirty="0">
                <a:solidFill>
                  <a:srgbClr val="2E75B5"/>
                </a:solidFill>
              </a:rPr>
              <a:t> </a:t>
            </a:r>
            <a:r>
              <a:rPr lang="en-US" dirty="0" err="1">
                <a:solidFill>
                  <a:srgbClr val="2E75B5"/>
                </a:solidFill>
              </a:rPr>
              <a:t>hạn</a:t>
            </a:r>
            <a:r>
              <a:rPr lang="en-US" dirty="0">
                <a:solidFill>
                  <a:srgbClr val="2E75B5"/>
                </a:solidFill>
              </a:rPr>
              <a:t> </a:t>
            </a:r>
            <a:r>
              <a:rPr lang="en-US" dirty="0" err="1">
                <a:solidFill>
                  <a:srgbClr val="2E75B5"/>
                </a:solidFill>
              </a:rPr>
              <a:t>chế</a:t>
            </a:r>
            <a:r>
              <a:rPr lang="en-US" dirty="0">
                <a:solidFill>
                  <a:srgbClr val="2E75B5"/>
                </a:solidFill>
              </a:rPr>
              <a:t> do </a:t>
            </a:r>
            <a:r>
              <a:rPr lang="en-US" dirty="0" err="1">
                <a:solidFill>
                  <a:srgbClr val="2E75B5"/>
                </a:solidFill>
              </a:rPr>
              <a:t>chính</a:t>
            </a:r>
            <a:r>
              <a:rPr lang="en-US" dirty="0">
                <a:solidFill>
                  <a:srgbClr val="2E75B5"/>
                </a:solidFill>
              </a:rPr>
              <a:t> </a:t>
            </a:r>
            <a:r>
              <a:rPr lang="en-US" dirty="0" err="1">
                <a:solidFill>
                  <a:srgbClr val="2E75B5"/>
                </a:solidFill>
              </a:rPr>
              <a:t>nhóm</a:t>
            </a:r>
            <a:r>
              <a:rPr lang="en-US" dirty="0">
                <a:solidFill>
                  <a:srgbClr val="2E75B5"/>
                </a:solidFill>
              </a:rPr>
              <a:t> </a:t>
            </a:r>
            <a:r>
              <a:rPr lang="en-US" dirty="0" err="1">
                <a:solidFill>
                  <a:srgbClr val="2E75B5"/>
                </a:solidFill>
              </a:rPr>
              <a:t>tác</a:t>
            </a:r>
            <a:r>
              <a:rPr lang="en-US" dirty="0">
                <a:solidFill>
                  <a:srgbClr val="2E75B5"/>
                </a:solidFill>
              </a:rPr>
              <a:t> </a:t>
            </a:r>
            <a:r>
              <a:rPr lang="en-US" dirty="0" err="1">
                <a:solidFill>
                  <a:srgbClr val="2E75B5"/>
                </a:solidFill>
              </a:rPr>
              <a:t>giả</a:t>
            </a:r>
            <a:r>
              <a:rPr lang="en-US" dirty="0">
                <a:solidFill>
                  <a:srgbClr val="2E75B5"/>
                </a:solidFill>
              </a:rPr>
              <a:t> </a:t>
            </a:r>
            <a:r>
              <a:rPr lang="en-US" dirty="0" err="1">
                <a:solidFill>
                  <a:srgbClr val="2E75B5"/>
                </a:solidFill>
              </a:rPr>
              <a:t>nêu</a:t>
            </a:r>
            <a:endParaRPr lang="en-US" dirty="0">
              <a:solidFill>
                <a:srgbClr val="2E75B5"/>
              </a:solidFill>
            </a:endParaRPr>
          </a:p>
        </p:txBody>
      </p:sp>
      <p:sp>
        <p:nvSpPr>
          <p:cNvPr id="4" name="Text Placeholder 3">
            <a:extLst>
              <a:ext uri="{FF2B5EF4-FFF2-40B4-BE49-F238E27FC236}">
                <a16:creationId xmlns:a16="http://schemas.microsoft.com/office/drawing/2014/main" id="{C98157D7-0FF1-975D-4B17-6629AAA9C8EE}"/>
              </a:ext>
            </a:extLst>
          </p:cNvPr>
          <p:cNvSpPr>
            <a:spLocks noGrp="1"/>
          </p:cNvSpPr>
          <p:nvPr>
            <p:ph type="body" idx="1"/>
          </p:nvPr>
        </p:nvSpPr>
        <p:spPr/>
        <p:txBody>
          <a:bodyPr>
            <a:normAutofit fontScale="55000" lnSpcReduction="20000"/>
          </a:bodyPr>
          <a:lstStyle/>
          <a:p>
            <a:pPr>
              <a:lnSpc>
                <a:spcPct val="220000"/>
              </a:lnSpc>
            </a:pPr>
            <a:r>
              <a:rPr lang="vi-VN" b="1" dirty="0">
                <a:solidFill>
                  <a:srgbClr val="161B26"/>
                </a:solidFill>
              </a:rPr>
              <a:t>Kiến thức giới hạn theo thời điểm huấn luyện</a:t>
            </a:r>
            <a:r>
              <a:rPr lang="vi-VN" dirty="0">
                <a:solidFill>
                  <a:srgbClr val="161B26"/>
                </a:solidFill>
              </a:rPr>
              <a:t>: agent có thể không biết tài liệu hay phiên bản công cụ mới nhất. Cách khắc phục là cung cấp tài liệu trực tiếp cho agent.</a:t>
            </a:r>
          </a:p>
          <a:p>
            <a:pPr>
              <a:lnSpc>
                <a:spcPct val="220000"/>
              </a:lnSpc>
            </a:pPr>
            <a:r>
              <a:rPr lang="vi-VN" b="1" dirty="0">
                <a:solidFill>
                  <a:srgbClr val="161B26"/>
                </a:solidFill>
              </a:rPr>
              <a:t>Phải tinh chỉnh prompt</a:t>
            </a:r>
            <a:r>
              <a:rPr lang="vi-VN" dirty="0">
                <a:solidFill>
                  <a:srgbClr val="161B26"/>
                </a:solidFill>
              </a:rPr>
              <a:t>: nếu agenda không đủ rõ, agent trả lời chung chung; nhà nghiên cứu thường phải sửa agenda vài lần.</a:t>
            </a:r>
          </a:p>
          <a:p>
            <a:pPr>
              <a:lnSpc>
                <a:spcPct val="220000"/>
              </a:lnSpc>
            </a:pPr>
            <a:r>
              <a:rPr lang="vi-VN" b="1" dirty="0">
                <a:solidFill>
                  <a:srgbClr val="161B26"/>
                </a:solidFill>
              </a:rPr>
              <a:t>Vẫn có thể bịa thông tin và trích dẫn</a:t>
            </a:r>
            <a:r>
              <a:rPr lang="vi-VN" dirty="0">
                <a:solidFill>
                  <a:srgbClr val="161B26"/>
                </a:solidFill>
              </a:rPr>
              <a:t>. Nhóm tác giả đề xuất giảm thiểu bằng cách cho Critic chất vấn tính xác thực và cung cấp nguồn để agent đối chiếu, nhưng khẳng định </a:t>
            </a:r>
            <a:r>
              <a:rPr lang="vi-VN" b="1" dirty="0">
                <a:solidFill>
                  <a:srgbClr val="161B26"/>
                </a:solidFill>
              </a:rPr>
              <a:t>con người vẫn phải tự kiểm chứng các dữ kiện và quyết định quan trọng</a:t>
            </a:r>
            <a:r>
              <a:rPr lang="vi-VN" dirty="0">
                <a:solidFill>
                  <a:srgbClr val="161B26"/>
                </a:solidFill>
              </a:rPr>
              <a:t>.</a:t>
            </a:r>
          </a:p>
          <a:p>
            <a:pPr>
              <a:lnSpc>
                <a:spcPct val="220000"/>
              </a:lnSpc>
            </a:pPr>
            <a:r>
              <a:rPr lang="vi-VN" dirty="0">
                <a:solidFill>
                  <a:srgbClr val="161B26"/>
                </a:solidFill>
              </a:rPr>
              <a:t>Ngay cả khi mô hình ngôn ngữ ngày càng mạnh, </a:t>
            </a:r>
            <a:r>
              <a:rPr lang="vi-VN" b="1" dirty="0">
                <a:solidFill>
                  <a:srgbClr val="161B26"/>
                </a:solidFill>
              </a:rPr>
              <a:t>con người vẫn giữ vai trò thiết yếu</a:t>
            </a:r>
            <a:r>
              <a:rPr lang="vi-VN" dirty="0">
                <a:solidFill>
                  <a:srgbClr val="161B26"/>
                </a:solidFill>
              </a:rPr>
              <a:t> trong việc chọn câu hỏi nghiên cứu, phương pháp và cách phân tích, sao cho phù hợp với giá trị và mối quan tâm khoa học của mình.</a:t>
            </a:r>
            <a:endParaRPr lang="en-US" dirty="0">
              <a:solidFill>
                <a:srgbClr val="161B26"/>
              </a:solidFill>
            </a:endParaRPr>
          </a:p>
        </p:txBody>
      </p:sp>
      <p:sp>
        <p:nvSpPr>
          <p:cNvPr id="2" name="Slide Number Placeholder 1">
            <a:extLst>
              <a:ext uri="{FF2B5EF4-FFF2-40B4-BE49-F238E27FC236}">
                <a16:creationId xmlns:a16="http://schemas.microsoft.com/office/drawing/2014/main" id="{45209121-9B43-2E77-35AF-C7DCDB769521}"/>
              </a:ext>
            </a:extLst>
          </p:cNvPr>
          <p:cNvSpPr>
            <a:spLocks noGrp="1"/>
          </p:cNvSpPr>
          <p:nvPr>
            <p:ph type="sldNum"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947944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F5747-D0E8-0F91-9986-1A5535B1998B}"/>
              </a:ext>
            </a:extLst>
          </p:cNvPr>
          <p:cNvSpPr>
            <a:spLocks noGrp="1"/>
          </p:cNvSpPr>
          <p:nvPr>
            <p:ph type="title"/>
          </p:nvPr>
        </p:nvSpPr>
        <p:spPr/>
        <p:txBody>
          <a:bodyPr>
            <a:normAutofit/>
          </a:bodyPr>
          <a:lstStyle/>
          <a:p>
            <a:r>
              <a:rPr lang="en-US" sz="5400" dirty="0"/>
              <a:t>LLM, Chatbot, Agent</a:t>
            </a:r>
          </a:p>
        </p:txBody>
      </p:sp>
      <p:sp>
        <p:nvSpPr>
          <p:cNvPr id="3" name="Text Placeholder 2">
            <a:extLst>
              <a:ext uri="{FF2B5EF4-FFF2-40B4-BE49-F238E27FC236}">
                <a16:creationId xmlns:a16="http://schemas.microsoft.com/office/drawing/2014/main" id="{BF8A51AB-DD7B-FFCD-1234-1CFB1A02FF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F63D263-C0C3-4F73-EF83-769DD4004B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2284840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A3561A"/>
                </a:solidFill>
                <a:effectLst/>
                <a:uLnTx/>
                <a:uFillTx/>
                <a:latin typeface="Arial" pitchFamily="34" charset="0"/>
                <a:ea typeface="Arial" pitchFamily="34" charset="-122"/>
                <a:cs typeface="Arial" pitchFamily="34" charset="-120"/>
              </a:rPr>
              <a:t>BA KHÁI NIỆM NỀN TẢNG</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B26"/>
                </a:solidFill>
                <a:latin typeface="Georgia" pitchFamily="18" charset="0"/>
                <a:ea typeface="Georgia" pitchFamily="18" charset="-122"/>
                <a:cs typeface="Georgia" pitchFamily="18" charset="-120"/>
              </a:rPr>
              <a:t>LLM → Chatbot → Agent</a:t>
            </a:r>
            <a:endParaRPr lang="en-US" sz="3200" dirty="0"/>
          </a:p>
        </p:txBody>
      </p:sp>
      <p:sp>
        <p:nvSpPr>
          <p:cNvPr id="4" name="Shape 2"/>
          <p:cNvSpPr/>
          <p:nvPr/>
        </p:nvSpPr>
        <p:spPr>
          <a:xfrm>
            <a:off x="815975" y="1979216"/>
            <a:ext cx="3037384" cy="3775670"/>
          </a:xfrm>
          <a:prstGeom prst="roundRect">
            <a:avLst>
              <a:gd name="adj" fmla="val 3240"/>
            </a:avLst>
          </a:prstGeom>
          <a:solidFill>
            <a:srgbClr val="FBFAF6"/>
          </a:solidFill>
          <a:ln w="6350">
            <a:solidFill>
              <a:srgbClr val="DCD6CA"/>
            </a:solidFill>
            <a:prstDash val="solid"/>
          </a:ln>
        </p:spPr>
      </p:sp>
      <p:pic>
        <p:nvPicPr>
          <p:cNvPr id="5" name="Image 0" descr="Bộ não: các token xám đi vào, token màu cam đi ra"/>
          <p:cNvPicPr>
            <a:picLocks noChangeAspect="1"/>
          </p:cNvPicPr>
          <p:nvPr/>
        </p:nvPicPr>
        <p:blipFill>
          <a:blip r:embed="rId3"/>
          <a:srcRect/>
          <a:stretch/>
        </p:blipFill>
        <p:spPr>
          <a:xfrm>
            <a:off x="1022350" y="2185591"/>
            <a:ext cx="2641600" cy="1981200"/>
          </a:xfrm>
          <a:prstGeom prst="rect">
            <a:avLst/>
          </a:prstGeom>
        </p:spPr>
      </p:pic>
      <p:sp>
        <p:nvSpPr>
          <p:cNvPr id="6" name="Text 3"/>
          <p:cNvSpPr/>
          <p:nvPr/>
        </p:nvSpPr>
        <p:spPr>
          <a:xfrm>
            <a:off x="1022350" y="4242991"/>
            <a:ext cx="2703373"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LLM</a:t>
            </a:r>
            <a:endParaRPr kumimoji="0" lang="en-US" sz="2000" b="0" i="0" u="none" strike="noStrike" kern="1200" cap="none" spc="0" normalizeH="0" baseline="0" noProof="0" dirty="0">
              <a:ln>
                <a:noFill/>
              </a:ln>
              <a:solidFill>
                <a:srgbClr val="161B26"/>
              </a:solidFill>
              <a:effectLst/>
              <a:uLnTx/>
              <a:uFillTx/>
              <a:latin typeface="Arial"/>
              <a:ea typeface="+mn-ea"/>
              <a:cs typeface="+mn-cs"/>
            </a:endParaRPr>
          </a:p>
        </p:txBody>
      </p:sp>
      <p:sp>
        <p:nvSpPr>
          <p:cNvPr id="7" name="Text 4"/>
          <p:cNvSpPr/>
          <p:nvPr/>
        </p:nvSpPr>
        <p:spPr>
          <a:xfrm>
            <a:off x="1022350" y="4623991"/>
            <a:ext cx="2703373" cy="2565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A3561A"/>
                </a:solidFill>
                <a:effectLst/>
                <a:uLnTx/>
                <a:uFillTx/>
                <a:latin typeface="Arial" pitchFamily="34" charset="0"/>
                <a:ea typeface="Arial" pitchFamily="34" charset="-122"/>
                <a:cs typeface="Arial" pitchFamily="34" charset="-120"/>
              </a:rPr>
              <a:t>Bộ não</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8" name="Text 5"/>
          <p:cNvSpPr/>
          <p:nvPr/>
        </p:nvSpPr>
        <p:spPr>
          <a:xfrm>
            <a:off x="1022350" y="4931321"/>
            <a:ext cx="2703373"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Đọc token, đoán token tiếp theo. Biết rất nhiều nhưng chỉ “nghĩ”, không tự làm gì.</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9" name="Image 1" descr="arrow-right"/>
          <p:cNvPicPr>
            <a:picLocks noChangeAspect="1"/>
          </p:cNvPicPr>
          <p:nvPr/>
        </p:nvPicPr>
        <p:blipFill>
          <a:blip r:embed="rId4"/>
          <a:srcRect/>
          <a:stretch/>
        </p:blipFill>
        <p:spPr>
          <a:xfrm>
            <a:off x="4008934" y="3765451"/>
            <a:ext cx="406400" cy="203200"/>
          </a:xfrm>
          <a:prstGeom prst="rect">
            <a:avLst/>
          </a:prstGeom>
        </p:spPr>
      </p:pic>
      <p:sp>
        <p:nvSpPr>
          <p:cNvPr id="10" name="Shape 6"/>
          <p:cNvSpPr/>
          <p:nvPr/>
        </p:nvSpPr>
        <p:spPr>
          <a:xfrm>
            <a:off x="4570909" y="2082105"/>
            <a:ext cx="3037433" cy="3569940"/>
          </a:xfrm>
          <a:prstGeom prst="roundRect">
            <a:avLst>
              <a:gd name="adj" fmla="val 3240"/>
            </a:avLst>
          </a:prstGeom>
          <a:solidFill>
            <a:srgbClr val="FBFAF6"/>
          </a:solidFill>
          <a:ln w="6350">
            <a:solidFill>
              <a:srgbClr val="DCD6CA"/>
            </a:solidFill>
            <a:prstDash val="solid"/>
          </a:ln>
        </p:spPr>
      </p:sp>
      <p:pic>
        <p:nvPicPr>
          <p:cNvPr id="11" name="Image 2" descr="Bộ não có khuôn mặt cười, trò chuyện qua hai bong bóng hội thoại"/>
          <p:cNvPicPr>
            <a:picLocks noChangeAspect="1"/>
          </p:cNvPicPr>
          <p:nvPr/>
        </p:nvPicPr>
        <p:blipFill>
          <a:blip r:embed="rId5"/>
          <a:srcRect/>
          <a:stretch/>
        </p:blipFill>
        <p:spPr>
          <a:xfrm>
            <a:off x="4777284" y="2288480"/>
            <a:ext cx="2641600" cy="1981200"/>
          </a:xfrm>
          <a:prstGeom prst="rect">
            <a:avLst/>
          </a:prstGeom>
        </p:spPr>
      </p:pic>
      <p:sp>
        <p:nvSpPr>
          <p:cNvPr id="12" name="Text 7"/>
          <p:cNvSpPr/>
          <p:nvPr/>
        </p:nvSpPr>
        <p:spPr>
          <a:xfrm>
            <a:off x="4777284" y="4345880"/>
            <a:ext cx="2703424"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Chatbot</a:t>
            </a:r>
            <a:endParaRPr kumimoji="0" lang="en-US" sz="2000" b="0" i="0" u="none" strike="noStrike" kern="1200" cap="none" spc="0" normalizeH="0" baseline="0" noProof="0" dirty="0">
              <a:ln>
                <a:noFill/>
              </a:ln>
              <a:solidFill>
                <a:srgbClr val="161B26"/>
              </a:solidFill>
              <a:effectLst/>
              <a:uLnTx/>
              <a:uFillTx/>
              <a:latin typeface="Arial"/>
              <a:ea typeface="+mn-ea"/>
              <a:cs typeface="+mn-cs"/>
            </a:endParaRPr>
          </a:p>
        </p:txBody>
      </p:sp>
      <p:sp>
        <p:nvSpPr>
          <p:cNvPr id="13" name="Text 8"/>
          <p:cNvSpPr/>
          <p:nvPr/>
        </p:nvSpPr>
        <p:spPr>
          <a:xfrm>
            <a:off x="4777284" y="4726880"/>
            <a:ext cx="2703424" cy="2565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A3561A"/>
                </a:solidFill>
                <a:effectLst/>
                <a:uLnTx/>
                <a:uFillTx/>
                <a:latin typeface="Arial" pitchFamily="34" charset="0"/>
                <a:ea typeface="Arial" pitchFamily="34" charset="-122"/>
                <a:cs typeface="Arial" pitchFamily="34" charset="-120"/>
              </a:rPr>
              <a:t>Bộ não biết trò chuyện</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14" name="Text 9"/>
          <p:cNvSpPr/>
          <p:nvPr/>
        </p:nvSpPr>
        <p:spPr>
          <a:xfrm>
            <a:off x="4777284" y="5034211"/>
            <a:ext cx="2703424"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LLM + giao diện hội thoại, lịch sử chat, lời nhắc hệ thống, bộ lọc an toàn.</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15" name="Image 3" descr="arrow-right"/>
          <p:cNvPicPr>
            <a:picLocks noChangeAspect="1"/>
          </p:cNvPicPr>
          <p:nvPr/>
        </p:nvPicPr>
        <p:blipFill>
          <a:blip r:embed="rId4"/>
          <a:srcRect/>
          <a:stretch/>
        </p:blipFill>
        <p:spPr>
          <a:xfrm>
            <a:off x="7763917" y="3765451"/>
            <a:ext cx="406400" cy="203200"/>
          </a:xfrm>
          <a:prstGeom prst="rect">
            <a:avLst/>
          </a:prstGeom>
        </p:spPr>
      </p:pic>
      <p:sp>
        <p:nvSpPr>
          <p:cNvPr id="16" name="Shape 10"/>
          <p:cNvSpPr/>
          <p:nvPr/>
        </p:nvSpPr>
        <p:spPr>
          <a:xfrm>
            <a:off x="8329067" y="1860500"/>
            <a:ext cx="3043783" cy="4013150"/>
          </a:xfrm>
          <a:prstGeom prst="roundRect">
            <a:avLst>
              <a:gd name="adj" fmla="val 3129"/>
            </a:avLst>
          </a:prstGeom>
          <a:solidFill>
            <a:srgbClr val="FBFAF6"/>
          </a:solidFill>
          <a:ln w="12700">
            <a:solidFill>
              <a:srgbClr val="A3561A"/>
            </a:solidFill>
            <a:prstDash val="solid"/>
          </a:ln>
        </p:spPr>
      </p:sp>
      <p:pic>
        <p:nvPicPr>
          <p:cNvPr id="17" name="Image 4" descr="Bộ não có tay chân: một tay cầm kính lúp, một tay cầm bảng kế hoạch, kèm mũi tên vòng lặp"/>
          <p:cNvPicPr>
            <a:picLocks noChangeAspect="1"/>
          </p:cNvPicPr>
          <p:nvPr/>
        </p:nvPicPr>
        <p:blipFill>
          <a:blip r:embed="rId6"/>
          <a:srcRect/>
          <a:stretch/>
        </p:blipFill>
        <p:spPr>
          <a:xfrm>
            <a:off x="8538617" y="2070050"/>
            <a:ext cx="2641600" cy="1981200"/>
          </a:xfrm>
          <a:prstGeom prst="rect">
            <a:avLst/>
          </a:prstGeom>
        </p:spPr>
      </p:pic>
      <p:sp>
        <p:nvSpPr>
          <p:cNvPr id="18" name="Text 11"/>
          <p:cNvSpPr/>
          <p:nvPr/>
        </p:nvSpPr>
        <p:spPr>
          <a:xfrm>
            <a:off x="8538617" y="4127450"/>
            <a:ext cx="2703424"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Agent</a:t>
            </a:r>
            <a:endParaRPr kumimoji="0" lang="en-US" sz="2000" b="0" i="0" u="none" strike="noStrike" kern="1200" cap="none" spc="0" normalizeH="0" baseline="0" noProof="0" dirty="0">
              <a:ln>
                <a:noFill/>
              </a:ln>
              <a:solidFill>
                <a:srgbClr val="161B26"/>
              </a:solidFill>
              <a:effectLst/>
              <a:uLnTx/>
              <a:uFillTx/>
              <a:latin typeface="Arial"/>
              <a:ea typeface="+mn-ea"/>
              <a:cs typeface="+mn-cs"/>
            </a:endParaRPr>
          </a:p>
        </p:txBody>
      </p:sp>
      <p:sp>
        <p:nvSpPr>
          <p:cNvPr id="19" name="Text 12"/>
          <p:cNvSpPr/>
          <p:nvPr/>
        </p:nvSpPr>
        <p:spPr>
          <a:xfrm>
            <a:off x="8538617" y="4508450"/>
            <a:ext cx="2703424"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A3561A"/>
                </a:solidFill>
                <a:effectLst/>
                <a:uLnTx/>
                <a:uFillTx/>
                <a:latin typeface="Arial" pitchFamily="34" charset="0"/>
                <a:ea typeface="Arial" pitchFamily="34" charset="-122"/>
                <a:cs typeface="Arial" pitchFamily="34" charset="-120"/>
              </a:rPr>
              <a:t>Bộ não có tay chân, tự lên kế hoạch</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20" name="Text 13"/>
          <p:cNvSpPr/>
          <p:nvPr/>
        </p:nvSpPr>
        <p:spPr>
          <a:xfrm>
            <a:off x="8538617" y="5046911"/>
            <a:ext cx="2703424"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LLM + công cụ (tìm web, chạy code…) + vòng lặp: lập kế hoạch → hành động → kiểm tra.</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C8458-CCE5-AA3B-240E-C69E3318C81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AD9C622-F813-1FAA-EA72-D4D2405146D6}"/>
              </a:ext>
            </a:extLst>
          </p:cNvPr>
          <p:cNvSpPr>
            <a:spLocks noGrp="1"/>
          </p:cNvSpPr>
          <p:nvPr>
            <p:ph type="body" idx="101"/>
          </p:nvPr>
        </p:nvSpPr>
        <p:spPr/>
        <p:txBody>
          <a:bodyPr/>
          <a:lstStyle/>
          <a:p>
            <a:endParaRPr lang="en-US"/>
          </a:p>
        </p:txBody>
      </p:sp>
    </p:spTree>
    <p:extLst>
      <p:ext uri="{BB962C8B-B14F-4D97-AF65-F5344CB8AC3E}">
        <p14:creationId xmlns:p14="http://schemas.microsoft.com/office/powerpoint/2010/main" val="3089274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A3561A"/>
                </a:solidFill>
                <a:effectLst/>
                <a:uLnTx/>
                <a:uFillTx/>
                <a:latin typeface="Arial" pitchFamily="34" charset="0"/>
                <a:ea typeface="Arial" pitchFamily="34" charset="-122"/>
                <a:cs typeface="Arial" pitchFamily="34" charset="-120"/>
              </a:rPr>
              <a:t>TÌNH HUỐNG 1 · CHATBOT</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B26"/>
                </a:solidFill>
                <a:latin typeface="Georgia" pitchFamily="18" charset="0"/>
                <a:ea typeface="Georgia" pitchFamily="18" charset="-122"/>
                <a:cs typeface="Georgia" pitchFamily="18" charset="-120"/>
              </a:rPr>
              <a:t>Gõ một câu hỏi vào ChatGPT</a:t>
            </a:r>
            <a:endParaRPr lang="en-US" sz="3200" dirty="0"/>
          </a:p>
        </p:txBody>
      </p:sp>
      <p:pic>
        <p:nvPicPr>
          <p:cNvPr id="4" name="Image 0" descr="Chat"/>
          <p:cNvPicPr>
            <a:picLocks noChangeAspect="1"/>
          </p:cNvPicPr>
          <p:nvPr/>
        </p:nvPicPr>
        <p:blipFill>
          <a:blip r:embed="rId3"/>
          <a:srcRect/>
          <a:stretch/>
        </p:blipFill>
        <p:spPr>
          <a:xfrm>
            <a:off x="812800" y="1914475"/>
            <a:ext cx="304800" cy="304800"/>
          </a:xfrm>
          <a:prstGeom prst="rect">
            <a:avLst/>
          </a:prstGeom>
        </p:spPr>
      </p:pic>
      <p:sp>
        <p:nvSpPr>
          <p:cNvPr id="5" name="Text 2"/>
          <p:cNvSpPr/>
          <p:nvPr/>
        </p:nvSpPr>
        <p:spPr>
          <a:xfrm>
            <a:off x="1244600" y="1854150"/>
            <a:ext cx="4655443" cy="425450"/>
          </a:xfrm>
          <a:prstGeom prst="roundRect">
            <a:avLst>
              <a:gd name="adj" fmla="val 35821"/>
            </a:avLst>
          </a:prstGeom>
          <a:solidFill>
            <a:srgbClr val="E9E3D7"/>
          </a:solidFill>
          <a:ln/>
        </p:spPr>
        <p:txBody>
          <a:bodyPr wrap="none" lIns="0" tIns="0" rIns="0" bIns="0" rtlCol="0" anchor="ctr">
            <a:normAutofit/>
          </a:bodyPr>
          <a:lstStyle/>
          <a:p>
            <a:pPr marL="0" marR="0" lvl="0" indent="0" algn="ctr" defTabSz="914400" rtl="0" eaLnBrk="1" fontAlgn="auto" latinLnBrk="0" hangingPunct="1">
              <a:lnSpc>
                <a:spcPts val="195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“Lúa đang trổ bông, có nên bón thêm đạm không?”</a:t>
            </a:r>
            <a:endParaRPr kumimoji="0" lang="en-US" sz="1500" b="0" i="0" u="none" strike="noStrike" kern="1200" cap="none" spc="0" normalizeH="0" baseline="0" noProof="0" dirty="0">
              <a:ln>
                <a:noFill/>
              </a:ln>
              <a:solidFill>
                <a:srgbClr val="161B26"/>
              </a:solidFill>
              <a:effectLst/>
              <a:uLnTx/>
              <a:uFillTx/>
              <a:latin typeface="Arial"/>
              <a:ea typeface="+mn-ea"/>
              <a:cs typeface="+mn-cs"/>
            </a:endParaRPr>
          </a:p>
        </p:txBody>
      </p:sp>
      <p:sp>
        <p:nvSpPr>
          <p:cNvPr id="6" name="Shape 3"/>
          <p:cNvSpPr/>
          <p:nvPr/>
        </p:nvSpPr>
        <p:spPr>
          <a:xfrm>
            <a:off x="815975" y="2587575"/>
            <a:ext cx="1741140" cy="1939181"/>
          </a:xfrm>
          <a:prstGeom prst="roundRect">
            <a:avLst>
              <a:gd name="adj" fmla="val 5653"/>
            </a:avLst>
          </a:prstGeom>
          <a:solidFill>
            <a:srgbClr val="FBFAF6"/>
          </a:solidFill>
          <a:ln w="6350">
            <a:solidFill>
              <a:srgbClr val="DCD6CA"/>
            </a:solidFill>
            <a:prstDash val="solid"/>
          </a:ln>
        </p:spPr>
      </p:sp>
      <p:sp>
        <p:nvSpPr>
          <p:cNvPr id="7" name="Text 4"/>
          <p:cNvSpPr/>
          <p:nvPr/>
        </p:nvSpPr>
        <p:spPr>
          <a:xfrm>
            <a:off x="971550" y="2743150"/>
            <a:ext cx="148079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1</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8" name="Text 5"/>
          <p:cNvSpPr/>
          <p:nvPr/>
        </p:nvSpPr>
        <p:spPr>
          <a:xfrm>
            <a:off x="971550" y="3086050"/>
            <a:ext cx="148079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Ghép ngữ cảnh</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9" name="Text 6"/>
          <p:cNvSpPr/>
          <p:nvPr/>
        </p:nvSpPr>
        <p:spPr>
          <a:xfrm>
            <a:off x="971550" y="3362871"/>
            <a:ext cx="148079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Câu hỏi + system prompt + lịch sử chat, bộ nhớ</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10" name="Text 7"/>
          <p:cNvSpPr/>
          <p:nvPr/>
        </p:nvSpPr>
        <p:spPr>
          <a:xfrm>
            <a:off x="971550" y="4107061"/>
            <a:ext cx="778818" cy="264120"/>
          </a:xfrm>
          <a:custGeom>
            <a:avLst/>
            <a:gdLst/>
            <a:ahLst/>
            <a:cxnLst/>
            <a:rect l="l" t="t" r="r" b="b"/>
            <a:pathLst>
              <a:path w="778818" h="264120">
                <a:moveTo>
                  <a:pt x="132060" y="0"/>
                </a:moveTo>
                <a:lnTo>
                  <a:pt x="646757" y="0"/>
                </a:lnTo>
                <a:arcTo wR="132060" hR="132060" stAng="16200000" swAng="5400000"/>
                <a:lnTo>
                  <a:pt x="778818" y="132060"/>
                </a:lnTo>
                <a:arcTo wR="132060" hR="132060" stAng="0" swAng="5400000"/>
                <a:lnTo>
                  <a:pt x="132060" y="264120"/>
                </a:lnTo>
                <a:arcTo wR="132060" hR="132060" stAng="5400000" swAng="5400000"/>
                <a:lnTo>
                  <a:pt x="0" y="132060"/>
                </a:lnTo>
                <a:arcTo wR="132060" hR="132060" stAng="10800000" swAng="5400000"/>
                <a:close/>
              </a:path>
            </a:pathLst>
          </a:custGeom>
          <a:solidFill>
            <a:srgbClr val="F2E3CF"/>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A3F12"/>
                </a:solidFill>
                <a:effectLst/>
                <a:uLnTx/>
                <a:uFillTx/>
                <a:latin typeface="Arial" pitchFamily="34" charset="0"/>
                <a:ea typeface="Arial" pitchFamily="34" charset="-122"/>
                <a:cs typeface="Arial" pitchFamily="34" charset="-120"/>
              </a:rPr>
              <a:t>Chatbot</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11" name="Image 1" descr="arrow-right"/>
          <p:cNvPicPr>
            <a:picLocks noChangeAspect="1"/>
          </p:cNvPicPr>
          <p:nvPr/>
        </p:nvPicPr>
        <p:blipFill>
          <a:blip r:embed="rId4"/>
          <a:srcRect/>
          <a:stretch/>
        </p:blipFill>
        <p:spPr>
          <a:xfrm>
            <a:off x="2661890" y="3480941"/>
            <a:ext cx="254000" cy="152400"/>
          </a:xfrm>
          <a:prstGeom prst="rect">
            <a:avLst/>
          </a:prstGeom>
        </p:spPr>
      </p:pic>
      <p:sp>
        <p:nvSpPr>
          <p:cNvPr id="12" name="Shape 8"/>
          <p:cNvSpPr/>
          <p:nvPr/>
        </p:nvSpPr>
        <p:spPr>
          <a:xfrm>
            <a:off x="3020665" y="2587575"/>
            <a:ext cx="1741190" cy="1939181"/>
          </a:xfrm>
          <a:prstGeom prst="roundRect">
            <a:avLst>
              <a:gd name="adj" fmla="val 5653"/>
            </a:avLst>
          </a:prstGeom>
          <a:solidFill>
            <a:srgbClr val="FBFAF6"/>
          </a:solidFill>
          <a:ln w="6350">
            <a:solidFill>
              <a:srgbClr val="DCD6CA"/>
            </a:solidFill>
            <a:prstDash val="solid"/>
          </a:ln>
        </p:spPr>
      </p:sp>
      <p:sp>
        <p:nvSpPr>
          <p:cNvPr id="13" name="Text 9"/>
          <p:cNvSpPr/>
          <p:nvPr/>
        </p:nvSpPr>
        <p:spPr>
          <a:xfrm>
            <a:off x="3176240" y="2743150"/>
            <a:ext cx="148084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2</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14" name="Text 10"/>
          <p:cNvSpPr/>
          <p:nvPr/>
        </p:nvSpPr>
        <p:spPr>
          <a:xfrm>
            <a:off x="3176240" y="3086050"/>
            <a:ext cx="148084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Kiểm duyệt</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15" name="Text 11"/>
          <p:cNvSpPr/>
          <p:nvPr/>
        </p:nvSpPr>
        <p:spPr>
          <a:xfrm>
            <a:off x="3176240" y="3362871"/>
            <a:ext cx="148084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Bộ lọc kiểm tra nội dung vi phạm chính sách</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16" name="Text 12"/>
          <p:cNvSpPr/>
          <p:nvPr/>
        </p:nvSpPr>
        <p:spPr>
          <a:xfrm>
            <a:off x="3176240" y="4107061"/>
            <a:ext cx="770384" cy="264120"/>
          </a:xfrm>
          <a:custGeom>
            <a:avLst/>
            <a:gdLst/>
            <a:ahLst/>
            <a:cxnLst/>
            <a:rect l="l" t="t" r="r" b="b"/>
            <a:pathLst>
              <a:path w="770384" h="264120">
                <a:moveTo>
                  <a:pt x="132060" y="0"/>
                </a:moveTo>
                <a:lnTo>
                  <a:pt x="638324" y="0"/>
                </a:lnTo>
                <a:arcTo wR="132060" hR="132060" stAng="16200000" swAng="5400000"/>
                <a:lnTo>
                  <a:pt x="770384" y="132060"/>
                </a:lnTo>
                <a:arcTo wR="132060" hR="132060" stAng="0" swAng="5400000"/>
                <a:lnTo>
                  <a:pt x="132060" y="264120"/>
                </a:lnTo>
                <a:arcTo wR="132060" hR="132060" stAng="5400000" swAng="5400000"/>
                <a:lnTo>
                  <a:pt x="0" y="132060"/>
                </a:lnTo>
                <a:arcTo wR="132060" hR="132060" stAng="10800000" swAng="5400000"/>
                <a:close/>
              </a:path>
            </a:pathLst>
          </a:custGeom>
          <a:solidFill>
            <a:srgbClr val="F2E3CF"/>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A3F12"/>
                </a:solidFill>
                <a:effectLst/>
                <a:uLnTx/>
                <a:uFillTx/>
                <a:latin typeface="Arial" pitchFamily="34" charset="0"/>
                <a:ea typeface="Arial" pitchFamily="34" charset="-122"/>
                <a:cs typeface="Arial" pitchFamily="34" charset="-120"/>
              </a:rPr>
              <a:t>An toàn</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17" name="Image 2" descr="arrow-right"/>
          <p:cNvPicPr>
            <a:picLocks noChangeAspect="1"/>
          </p:cNvPicPr>
          <p:nvPr/>
        </p:nvPicPr>
        <p:blipFill>
          <a:blip r:embed="rId4"/>
          <a:srcRect/>
          <a:stretch/>
        </p:blipFill>
        <p:spPr>
          <a:xfrm>
            <a:off x="4866630" y="3480941"/>
            <a:ext cx="254000" cy="152400"/>
          </a:xfrm>
          <a:prstGeom prst="rect">
            <a:avLst/>
          </a:prstGeom>
        </p:spPr>
      </p:pic>
      <p:sp>
        <p:nvSpPr>
          <p:cNvPr id="18" name="Shape 13"/>
          <p:cNvSpPr/>
          <p:nvPr/>
        </p:nvSpPr>
        <p:spPr>
          <a:xfrm>
            <a:off x="5225405" y="2587575"/>
            <a:ext cx="1741140" cy="1939181"/>
          </a:xfrm>
          <a:prstGeom prst="roundRect">
            <a:avLst>
              <a:gd name="adj" fmla="val 5653"/>
            </a:avLst>
          </a:prstGeom>
          <a:solidFill>
            <a:srgbClr val="FBFAF6"/>
          </a:solidFill>
          <a:ln w="6350">
            <a:solidFill>
              <a:srgbClr val="DCD6CA"/>
            </a:solidFill>
            <a:prstDash val="solid"/>
          </a:ln>
        </p:spPr>
      </p:sp>
      <p:sp>
        <p:nvSpPr>
          <p:cNvPr id="19" name="Text 14"/>
          <p:cNvSpPr/>
          <p:nvPr/>
        </p:nvSpPr>
        <p:spPr>
          <a:xfrm>
            <a:off x="5380980" y="2743150"/>
            <a:ext cx="148079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3</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20" name="Text 15"/>
          <p:cNvSpPr/>
          <p:nvPr/>
        </p:nvSpPr>
        <p:spPr>
          <a:xfrm>
            <a:off x="5380980" y="3086050"/>
            <a:ext cx="148079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Tách token</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21" name="Text 16"/>
          <p:cNvSpPr/>
          <p:nvPr/>
        </p:nvSpPr>
        <p:spPr>
          <a:xfrm>
            <a:off x="5380980" y="3362871"/>
            <a:ext cx="148079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Chữ → token → vector số (embedding)</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22" name="Text 17"/>
          <p:cNvSpPr/>
          <p:nvPr/>
        </p:nvSpPr>
        <p:spPr>
          <a:xfrm>
            <a:off x="5380980" y="4107061"/>
            <a:ext cx="640705" cy="264120"/>
          </a:xfrm>
          <a:custGeom>
            <a:avLst/>
            <a:gdLst/>
            <a:ahLst/>
            <a:cxnLst/>
            <a:rect l="l" t="t" r="r" b="b"/>
            <a:pathLst>
              <a:path w="640705" h="264120">
                <a:moveTo>
                  <a:pt x="132060" y="0"/>
                </a:moveTo>
                <a:lnTo>
                  <a:pt x="508645" y="0"/>
                </a:lnTo>
                <a:arcTo wR="132060" hR="132060" stAng="16200000" swAng="5400000"/>
                <a:lnTo>
                  <a:pt x="640705" y="132060"/>
                </a:lnTo>
                <a:arcTo wR="132060" hR="132060" stAng="0" swAng="5400000"/>
                <a:lnTo>
                  <a:pt x="132060" y="264120"/>
                </a:lnTo>
                <a:arcTo wR="132060" hR="132060" stAng="5400000" swAng="5400000"/>
                <a:lnTo>
                  <a:pt x="0" y="132060"/>
                </a:lnTo>
                <a:arcTo wR="132060" hR="132060" stAng="10800000" swAng="5400000"/>
                <a:close/>
              </a:path>
            </a:pathLst>
          </a:custGeom>
          <a:solidFill>
            <a:srgbClr val="F2E3CF"/>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A3F12"/>
                </a:solidFill>
                <a:effectLst/>
                <a:uLnTx/>
                <a:uFillTx/>
                <a:latin typeface="Arial" pitchFamily="34" charset="0"/>
                <a:ea typeface="Arial" pitchFamily="34" charset="-122"/>
                <a:cs typeface="Arial" pitchFamily="34" charset="-120"/>
              </a:rPr>
              <a:t>Token</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23" name="Image 3" descr="arrow-right"/>
          <p:cNvPicPr>
            <a:picLocks noChangeAspect="1"/>
          </p:cNvPicPr>
          <p:nvPr/>
        </p:nvPicPr>
        <p:blipFill>
          <a:blip r:embed="rId4"/>
          <a:srcRect/>
          <a:stretch/>
        </p:blipFill>
        <p:spPr>
          <a:xfrm>
            <a:off x="7071320" y="3480941"/>
            <a:ext cx="254000" cy="152400"/>
          </a:xfrm>
          <a:prstGeom prst="rect">
            <a:avLst/>
          </a:prstGeom>
        </p:spPr>
      </p:pic>
      <p:sp>
        <p:nvSpPr>
          <p:cNvPr id="24" name="Shape 18"/>
          <p:cNvSpPr/>
          <p:nvPr/>
        </p:nvSpPr>
        <p:spPr>
          <a:xfrm>
            <a:off x="7430095" y="2587575"/>
            <a:ext cx="1741190" cy="1939181"/>
          </a:xfrm>
          <a:prstGeom prst="roundRect">
            <a:avLst>
              <a:gd name="adj" fmla="val 5653"/>
            </a:avLst>
          </a:prstGeom>
          <a:solidFill>
            <a:srgbClr val="FBFAF6"/>
          </a:solidFill>
          <a:ln w="6350">
            <a:solidFill>
              <a:srgbClr val="DCD6CA"/>
            </a:solidFill>
            <a:prstDash val="solid"/>
          </a:ln>
        </p:spPr>
      </p:sp>
      <p:sp>
        <p:nvSpPr>
          <p:cNvPr id="25" name="Text 19"/>
          <p:cNvSpPr/>
          <p:nvPr/>
        </p:nvSpPr>
        <p:spPr>
          <a:xfrm>
            <a:off x="7585670" y="2743150"/>
            <a:ext cx="148084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4</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26" name="Text 20"/>
          <p:cNvSpPr/>
          <p:nvPr/>
        </p:nvSpPr>
        <p:spPr>
          <a:xfrm>
            <a:off x="7585670" y="3086050"/>
            <a:ext cx="148084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LLM suy luận</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27" name="Text 21"/>
          <p:cNvSpPr/>
          <p:nvPr/>
        </p:nvSpPr>
        <p:spPr>
          <a:xfrm>
            <a:off x="7585670" y="3362871"/>
            <a:ext cx="148084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Transformer, attention “đọc” toàn bộ ngữ cảnh</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28" name="Text 22"/>
          <p:cNvSpPr/>
          <p:nvPr/>
        </p:nvSpPr>
        <p:spPr>
          <a:xfrm>
            <a:off x="7585670" y="4107061"/>
            <a:ext cx="516334" cy="264120"/>
          </a:xfrm>
          <a:custGeom>
            <a:avLst/>
            <a:gdLst/>
            <a:ahLst/>
            <a:cxnLst/>
            <a:rect l="l" t="t" r="r" b="b"/>
            <a:pathLst>
              <a:path w="516334" h="264120">
                <a:moveTo>
                  <a:pt x="132060" y="0"/>
                </a:moveTo>
                <a:lnTo>
                  <a:pt x="384274" y="0"/>
                </a:lnTo>
                <a:arcTo wR="132060" hR="132060" stAng="16200000" swAng="5400000"/>
                <a:lnTo>
                  <a:pt x="516334" y="132060"/>
                </a:lnTo>
                <a:arcTo wR="132060" hR="132060" stAng="0" swAng="5400000"/>
                <a:lnTo>
                  <a:pt x="132060" y="264120"/>
                </a:lnTo>
                <a:arcTo wR="132060" hR="132060" stAng="5400000" swAng="5400000"/>
                <a:lnTo>
                  <a:pt x="0" y="132060"/>
                </a:lnTo>
                <a:arcTo wR="132060" hR="132060" stAng="10800000" swAng="5400000"/>
                <a:close/>
              </a:path>
            </a:pathLst>
          </a:custGeom>
          <a:solidFill>
            <a:srgbClr val="F2E3CF"/>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A3F12"/>
                </a:solidFill>
                <a:effectLst/>
                <a:uLnTx/>
                <a:uFillTx/>
                <a:latin typeface="Arial" pitchFamily="34" charset="0"/>
                <a:ea typeface="Arial" pitchFamily="34" charset="-122"/>
                <a:cs typeface="Arial" pitchFamily="34" charset="-120"/>
              </a:rPr>
              <a:t>LLM</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29" name="Image 4" descr="arrow-right"/>
          <p:cNvPicPr>
            <a:picLocks noChangeAspect="1"/>
          </p:cNvPicPr>
          <p:nvPr/>
        </p:nvPicPr>
        <p:blipFill>
          <a:blip r:embed="rId4"/>
          <a:srcRect/>
          <a:stretch/>
        </p:blipFill>
        <p:spPr>
          <a:xfrm>
            <a:off x="9276060" y="3480941"/>
            <a:ext cx="254000" cy="152400"/>
          </a:xfrm>
          <a:prstGeom prst="rect">
            <a:avLst/>
          </a:prstGeom>
        </p:spPr>
      </p:pic>
      <p:sp>
        <p:nvSpPr>
          <p:cNvPr id="30" name="Shape 23"/>
          <p:cNvSpPr/>
          <p:nvPr/>
        </p:nvSpPr>
        <p:spPr>
          <a:xfrm>
            <a:off x="9634835" y="2587575"/>
            <a:ext cx="1741190" cy="1939181"/>
          </a:xfrm>
          <a:prstGeom prst="roundRect">
            <a:avLst>
              <a:gd name="adj" fmla="val 5653"/>
            </a:avLst>
          </a:prstGeom>
          <a:solidFill>
            <a:srgbClr val="FBFAF6"/>
          </a:solidFill>
          <a:ln w="6350">
            <a:solidFill>
              <a:srgbClr val="DCD6CA"/>
            </a:solidFill>
            <a:prstDash val="solid"/>
          </a:ln>
        </p:spPr>
      </p:sp>
      <p:sp>
        <p:nvSpPr>
          <p:cNvPr id="31" name="Text 24"/>
          <p:cNvSpPr/>
          <p:nvPr/>
        </p:nvSpPr>
        <p:spPr>
          <a:xfrm>
            <a:off x="9790410" y="2743150"/>
            <a:ext cx="148084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5</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32" name="Text 25"/>
          <p:cNvSpPr/>
          <p:nvPr/>
        </p:nvSpPr>
        <p:spPr>
          <a:xfrm>
            <a:off x="9790410" y="3086050"/>
            <a:ext cx="148084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Sinh từng token</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33" name="Text 26"/>
          <p:cNvSpPr/>
          <p:nvPr/>
        </p:nvSpPr>
        <p:spPr>
          <a:xfrm>
            <a:off x="9790410" y="3362871"/>
            <a:ext cx="148084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Đoán token kế tiếp, lặp lại, hiện dần ra màn hình</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34" name="Text 27"/>
          <p:cNvSpPr/>
          <p:nvPr/>
        </p:nvSpPr>
        <p:spPr>
          <a:xfrm>
            <a:off x="9790410" y="4107061"/>
            <a:ext cx="1151632" cy="264120"/>
          </a:xfrm>
          <a:custGeom>
            <a:avLst/>
            <a:gdLst/>
            <a:ahLst/>
            <a:cxnLst/>
            <a:rect l="l" t="t" r="r" b="b"/>
            <a:pathLst>
              <a:path w="1151632" h="264120">
                <a:moveTo>
                  <a:pt x="132060" y="0"/>
                </a:moveTo>
                <a:lnTo>
                  <a:pt x="1019572" y="0"/>
                </a:lnTo>
                <a:arcTo wR="132060" hR="132060" stAng="16200000" swAng="5400000"/>
                <a:lnTo>
                  <a:pt x="1151632" y="132060"/>
                </a:lnTo>
                <a:arcTo wR="132060" hR="132060" stAng="0" swAng="5400000"/>
                <a:lnTo>
                  <a:pt x="132060" y="264120"/>
                </a:lnTo>
                <a:arcTo wR="132060" hR="132060" stAng="5400000" swAng="5400000"/>
                <a:lnTo>
                  <a:pt x="0" y="132060"/>
                </a:lnTo>
                <a:arcTo wR="132060" hR="132060" stAng="10800000" swAng="5400000"/>
                <a:close/>
              </a:path>
            </a:pathLst>
          </a:custGeom>
          <a:solidFill>
            <a:srgbClr val="F2E3CF"/>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A3F12"/>
                </a:solidFill>
                <a:effectLst/>
                <a:uLnTx/>
                <a:uFillTx/>
                <a:latin typeface="Arial" pitchFamily="34" charset="0"/>
                <a:ea typeface="Arial" pitchFamily="34" charset="-122"/>
                <a:cs typeface="Arial" pitchFamily="34" charset="-120"/>
              </a:rPr>
              <a:t>Sinh văn bản</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35" name="Shape 28"/>
          <p:cNvSpPr/>
          <p:nvPr/>
        </p:nvSpPr>
        <p:spPr>
          <a:xfrm>
            <a:off x="812800" y="4834731"/>
            <a:ext cx="10566400" cy="558800"/>
          </a:xfrm>
          <a:prstGeom prst="roundRect">
            <a:avLst>
              <a:gd name="adj" fmla="val 18182"/>
            </a:avLst>
          </a:prstGeom>
          <a:solidFill>
            <a:srgbClr val="121620"/>
          </a:solidFill>
          <a:ln/>
        </p:spPr>
      </p:sp>
      <p:pic>
        <p:nvPicPr>
          <p:cNvPr id="36" name="Image 5" descr="Lightbulb"/>
          <p:cNvPicPr>
            <a:picLocks noChangeAspect="1"/>
          </p:cNvPicPr>
          <p:nvPr/>
        </p:nvPicPr>
        <p:blipFill>
          <a:blip r:embed="rId5"/>
          <a:srcRect/>
          <a:stretch/>
        </p:blipFill>
        <p:spPr>
          <a:xfrm>
            <a:off x="1016000" y="4987131"/>
            <a:ext cx="254000" cy="254000"/>
          </a:xfrm>
          <a:prstGeom prst="rect">
            <a:avLst/>
          </a:prstGeom>
        </p:spPr>
      </p:pic>
      <p:sp>
        <p:nvSpPr>
          <p:cNvPr id="37" name="Text 29"/>
          <p:cNvSpPr/>
          <p:nvPr/>
        </p:nvSpPr>
        <p:spPr>
          <a:xfrm>
            <a:off x="1397000" y="5002709"/>
            <a:ext cx="10072370" cy="248245"/>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755"/>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Không dùng công cụ:</a:t>
            </a:r>
            <a:r>
              <a:rPr kumimoji="0" lang="en-US" sz="13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 kiến thức nằm sẵn trong tham số mô hình – có hạn ở mốc dữ liệu huấn luyện và có thể “bịa” (hallucination).</a:t>
            </a:r>
            <a:endParaRPr kumimoji="0" lang="en-US" sz="1300" b="0" i="0" u="none" strike="noStrike" kern="1200" cap="none" spc="0" normalizeH="0" baseline="0" noProof="0" dirty="0">
              <a:ln>
                <a:noFill/>
              </a:ln>
              <a:solidFill>
                <a:srgbClr val="161B26"/>
              </a:solidFill>
              <a:effectLst/>
              <a:uLnTx/>
              <a:uFillTx/>
              <a:latin typeface="Arial"/>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A3561A"/>
                </a:solidFill>
                <a:effectLst/>
                <a:uLnTx/>
                <a:uFillTx/>
                <a:latin typeface="Arial" pitchFamily="34" charset="0"/>
                <a:ea typeface="Arial" pitchFamily="34" charset="-122"/>
                <a:cs typeface="Arial" pitchFamily="34" charset="-120"/>
              </a:rPr>
              <a:t>TÌNH HUỐNG 2 · CHATBOT ĐA PHƯƠNG THỨC + CÔNG CỤ</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B26"/>
                </a:solidFill>
                <a:latin typeface="Georgia" pitchFamily="18" charset="0"/>
                <a:ea typeface="Georgia" pitchFamily="18" charset="-122"/>
                <a:cs typeface="Georgia" pitchFamily="18" charset="-120"/>
              </a:rPr>
              <a:t>Gửi ảnh sâu hại: sâu gì, diệt thế nào?</a:t>
            </a:r>
            <a:endParaRPr lang="en-US" sz="3200" dirty="0"/>
          </a:p>
        </p:txBody>
      </p:sp>
      <p:pic>
        <p:nvPicPr>
          <p:cNvPr id="4" name="Image 0" descr="Ảnh chụp con sâu xanh trên lá lúa"/>
          <p:cNvPicPr>
            <a:picLocks noChangeAspect="1"/>
          </p:cNvPicPr>
          <p:nvPr/>
        </p:nvPicPr>
        <p:blipFill>
          <a:blip r:embed="rId3"/>
          <a:srcRect/>
          <a:stretch/>
        </p:blipFill>
        <p:spPr>
          <a:xfrm>
            <a:off x="812800" y="1854150"/>
            <a:ext cx="800100" cy="457200"/>
          </a:xfrm>
          <a:prstGeom prst="rect">
            <a:avLst/>
          </a:prstGeom>
        </p:spPr>
      </p:pic>
      <p:sp>
        <p:nvSpPr>
          <p:cNvPr id="5" name="Text 2"/>
          <p:cNvSpPr/>
          <p:nvPr/>
        </p:nvSpPr>
        <p:spPr>
          <a:xfrm>
            <a:off x="1739900" y="1870025"/>
            <a:ext cx="3288854" cy="425450"/>
          </a:xfrm>
          <a:prstGeom prst="roundRect">
            <a:avLst>
              <a:gd name="adj" fmla="val 35821"/>
            </a:avLst>
          </a:prstGeom>
          <a:solidFill>
            <a:srgbClr val="E9E3D7"/>
          </a:solidFill>
          <a:ln/>
        </p:spPr>
        <p:txBody>
          <a:bodyPr wrap="none" lIns="0" tIns="0" rIns="0" bIns="0" rtlCol="0" anchor="ctr">
            <a:normAutofit/>
          </a:bodyPr>
          <a:lstStyle/>
          <a:p>
            <a:pPr marL="0" marR="0" lvl="0" indent="0" algn="ctr" defTabSz="914400" rtl="0" eaLnBrk="1" fontAlgn="auto" latinLnBrk="0" hangingPunct="1">
              <a:lnSpc>
                <a:spcPts val="195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“Đây là con sâu gì? Cách diệt nó?”</a:t>
            </a:r>
            <a:endParaRPr kumimoji="0" lang="en-US" sz="1500" b="0" i="0" u="none" strike="noStrike" kern="1200" cap="none" spc="0" normalizeH="0" baseline="0" noProof="0" dirty="0">
              <a:ln>
                <a:noFill/>
              </a:ln>
              <a:solidFill>
                <a:srgbClr val="161B26"/>
              </a:solidFill>
              <a:effectLst/>
              <a:uLnTx/>
              <a:uFillTx/>
              <a:latin typeface="Arial"/>
              <a:ea typeface="+mn-ea"/>
              <a:cs typeface="+mn-cs"/>
            </a:endParaRPr>
          </a:p>
        </p:txBody>
      </p:sp>
      <p:sp>
        <p:nvSpPr>
          <p:cNvPr id="6" name="Shape 3"/>
          <p:cNvSpPr/>
          <p:nvPr/>
        </p:nvSpPr>
        <p:spPr>
          <a:xfrm>
            <a:off x="815975" y="2619325"/>
            <a:ext cx="1738610" cy="1959471"/>
          </a:xfrm>
          <a:prstGeom prst="roundRect">
            <a:avLst>
              <a:gd name="adj" fmla="val 5661"/>
            </a:avLst>
          </a:prstGeom>
          <a:solidFill>
            <a:srgbClr val="FBFAF6"/>
          </a:solidFill>
          <a:ln w="6350">
            <a:solidFill>
              <a:srgbClr val="DCD6CA"/>
            </a:solidFill>
            <a:prstDash val="solid"/>
          </a:ln>
        </p:spPr>
      </p:sp>
      <p:sp>
        <p:nvSpPr>
          <p:cNvPr id="7" name="Text 4"/>
          <p:cNvSpPr/>
          <p:nvPr/>
        </p:nvSpPr>
        <p:spPr>
          <a:xfrm>
            <a:off x="971550" y="2774900"/>
            <a:ext cx="147826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1</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8" name="Text 5"/>
          <p:cNvSpPr/>
          <p:nvPr/>
        </p:nvSpPr>
        <p:spPr>
          <a:xfrm>
            <a:off x="971550" y="3117800"/>
            <a:ext cx="147826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Ghép ngữ cảnh</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9" name="Text 6"/>
          <p:cNvSpPr/>
          <p:nvPr/>
        </p:nvSpPr>
        <p:spPr>
          <a:xfrm>
            <a:off x="971550" y="3394621"/>
            <a:ext cx="147826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Ảnh + câu hỏi + system prompt + lịch sử</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10" name="Text 7"/>
          <p:cNvSpPr/>
          <p:nvPr/>
        </p:nvSpPr>
        <p:spPr>
          <a:xfrm>
            <a:off x="971550" y="4159101"/>
            <a:ext cx="778818" cy="264120"/>
          </a:xfrm>
          <a:custGeom>
            <a:avLst/>
            <a:gdLst/>
            <a:ahLst/>
            <a:cxnLst/>
            <a:rect l="l" t="t" r="r" b="b"/>
            <a:pathLst>
              <a:path w="778818" h="264120">
                <a:moveTo>
                  <a:pt x="132060" y="0"/>
                </a:moveTo>
                <a:lnTo>
                  <a:pt x="646757" y="0"/>
                </a:lnTo>
                <a:arcTo wR="132060" hR="132060" stAng="16200000" swAng="5400000"/>
                <a:lnTo>
                  <a:pt x="778818" y="132060"/>
                </a:lnTo>
                <a:arcTo wR="132060" hR="132060" stAng="0" swAng="5400000"/>
                <a:lnTo>
                  <a:pt x="132060" y="264120"/>
                </a:lnTo>
                <a:arcTo wR="132060" hR="132060" stAng="5400000" swAng="5400000"/>
                <a:lnTo>
                  <a:pt x="0" y="132060"/>
                </a:lnTo>
                <a:arcTo wR="132060" hR="132060" stAng="10800000" swAng="5400000"/>
                <a:close/>
              </a:path>
            </a:pathLst>
          </a:custGeom>
          <a:solidFill>
            <a:srgbClr val="F2E3CF"/>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A3F12"/>
                </a:solidFill>
                <a:effectLst/>
                <a:uLnTx/>
                <a:uFillTx/>
                <a:latin typeface="Arial" pitchFamily="34" charset="0"/>
                <a:ea typeface="Arial" pitchFamily="34" charset="-122"/>
                <a:cs typeface="Arial" pitchFamily="34" charset="-120"/>
              </a:rPr>
              <a:t>Chatbot</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11" name="Image 1" descr="arrow-right"/>
          <p:cNvPicPr>
            <a:picLocks noChangeAspect="1"/>
          </p:cNvPicPr>
          <p:nvPr/>
        </p:nvPicPr>
        <p:blipFill>
          <a:blip r:embed="rId4"/>
          <a:srcRect/>
          <a:stretch/>
        </p:blipFill>
        <p:spPr>
          <a:xfrm>
            <a:off x="2659360" y="3522861"/>
            <a:ext cx="254000" cy="152400"/>
          </a:xfrm>
          <a:prstGeom prst="rect">
            <a:avLst/>
          </a:prstGeom>
        </p:spPr>
      </p:pic>
      <p:sp>
        <p:nvSpPr>
          <p:cNvPr id="12" name="Shape 8"/>
          <p:cNvSpPr/>
          <p:nvPr/>
        </p:nvSpPr>
        <p:spPr>
          <a:xfrm>
            <a:off x="3018135" y="2619325"/>
            <a:ext cx="1738660" cy="1959471"/>
          </a:xfrm>
          <a:prstGeom prst="roundRect">
            <a:avLst>
              <a:gd name="adj" fmla="val 5661"/>
            </a:avLst>
          </a:prstGeom>
          <a:solidFill>
            <a:srgbClr val="FBFAF6"/>
          </a:solidFill>
          <a:ln w="6350">
            <a:solidFill>
              <a:srgbClr val="DCD6CA"/>
            </a:solidFill>
            <a:prstDash val="solid"/>
          </a:ln>
        </p:spPr>
      </p:sp>
      <p:sp>
        <p:nvSpPr>
          <p:cNvPr id="13" name="Text 9"/>
          <p:cNvSpPr/>
          <p:nvPr/>
        </p:nvSpPr>
        <p:spPr>
          <a:xfrm>
            <a:off x="3173710" y="2774900"/>
            <a:ext cx="147831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2</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14" name="Text 10"/>
          <p:cNvSpPr/>
          <p:nvPr/>
        </p:nvSpPr>
        <p:spPr>
          <a:xfrm>
            <a:off x="3173710" y="3117800"/>
            <a:ext cx="14783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Mã hóa ảnh</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15" name="Text 11"/>
          <p:cNvSpPr/>
          <p:nvPr/>
        </p:nvSpPr>
        <p:spPr>
          <a:xfrm>
            <a:off x="3173710" y="3394621"/>
            <a:ext cx="147831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Ảnh cắt thành ô (patch) → vector, như token chữ</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16" name="Text 12"/>
          <p:cNvSpPr/>
          <p:nvPr/>
        </p:nvSpPr>
        <p:spPr>
          <a:xfrm>
            <a:off x="3173710" y="4159101"/>
            <a:ext cx="1412726" cy="264120"/>
          </a:xfrm>
          <a:custGeom>
            <a:avLst/>
            <a:gdLst/>
            <a:ahLst/>
            <a:cxnLst/>
            <a:rect l="l" t="t" r="r" b="b"/>
            <a:pathLst>
              <a:path w="1412726" h="264120">
                <a:moveTo>
                  <a:pt x="132060" y="0"/>
                </a:moveTo>
                <a:lnTo>
                  <a:pt x="1280666" y="0"/>
                </a:lnTo>
                <a:arcTo wR="132060" hR="132060" stAng="16200000" swAng="5400000"/>
                <a:lnTo>
                  <a:pt x="1412726" y="132060"/>
                </a:lnTo>
                <a:arcTo wR="132060" hR="132060" stAng="0" swAng="5400000"/>
                <a:lnTo>
                  <a:pt x="132060" y="264120"/>
                </a:lnTo>
                <a:arcTo wR="132060" hR="132060" stAng="5400000" swAng="5400000"/>
                <a:lnTo>
                  <a:pt x="0" y="132060"/>
                </a:lnTo>
                <a:arcTo wR="132060" hR="132060" stAng="10800000" swAng="5400000"/>
                <a:close/>
              </a:path>
            </a:pathLst>
          </a:custGeom>
          <a:solidFill>
            <a:srgbClr val="F2E3CF"/>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A3F12"/>
                </a:solidFill>
                <a:effectLst/>
                <a:uLnTx/>
                <a:uFillTx/>
                <a:latin typeface="Arial" pitchFamily="34" charset="0"/>
                <a:ea typeface="Arial" pitchFamily="34" charset="-122"/>
                <a:cs typeface="Arial" pitchFamily="34" charset="-120"/>
              </a:rPr>
              <a:t>Đa phương thức</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17" name="Image 2" descr="arrow-right"/>
          <p:cNvPicPr>
            <a:picLocks noChangeAspect="1"/>
          </p:cNvPicPr>
          <p:nvPr/>
        </p:nvPicPr>
        <p:blipFill>
          <a:blip r:embed="rId4"/>
          <a:srcRect/>
          <a:stretch/>
        </p:blipFill>
        <p:spPr>
          <a:xfrm>
            <a:off x="4861570" y="3522861"/>
            <a:ext cx="254000" cy="152400"/>
          </a:xfrm>
          <a:prstGeom prst="rect">
            <a:avLst/>
          </a:prstGeom>
        </p:spPr>
      </p:pic>
      <p:sp>
        <p:nvSpPr>
          <p:cNvPr id="18" name="Shape 13"/>
          <p:cNvSpPr/>
          <p:nvPr/>
        </p:nvSpPr>
        <p:spPr>
          <a:xfrm>
            <a:off x="5220345" y="2619325"/>
            <a:ext cx="1738610" cy="1959471"/>
          </a:xfrm>
          <a:prstGeom prst="roundRect">
            <a:avLst>
              <a:gd name="adj" fmla="val 5661"/>
            </a:avLst>
          </a:prstGeom>
          <a:solidFill>
            <a:srgbClr val="FBFAF6"/>
          </a:solidFill>
          <a:ln w="6350">
            <a:solidFill>
              <a:srgbClr val="DCD6CA"/>
            </a:solidFill>
            <a:prstDash val="solid"/>
          </a:ln>
        </p:spPr>
      </p:sp>
      <p:sp>
        <p:nvSpPr>
          <p:cNvPr id="19" name="Text 14"/>
          <p:cNvSpPr/>
          <p:nvPr/>
        </p:nvSpPr>
        <p:spPr>
          <a:xfrm>
            <a:off x="5375920" y="2774900"/>
            <a:ext cx="147826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3</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20" name="Text 15"/>
          <p:cNvSpPr/>
          <p:nvPr/>
        </p:nvSpPr>
        <p:spPr>
          <a:xfrm>
            <a:off x="5375920" y="3117800"/>
            <a:ext cx="147826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Nhận dạng</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21" name="Text 16"/>
          <p:cNvSpPr/>
          <p:nvPr/>
        </p:nvSpPr>
        <p:spPr>
          <a:xfrm>
            <a:off x="5375920" y="3394621"/>
            <a:ext cx="147826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So đặc điểm vết hại, màu, hình dạng → đoán loài</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22" name="Text 17"/>
          <p:cNvSpPr/>
          <p:nvPr/>
        </p:nvSpPr>
        <p:spPr>
          <a:xfrm>
            <a:off x="5375920" y="4159101"/>
            <a:ext cx="830064" cy="264120"/>
          </a:xfrm>
          <a:custGeom>
            <a:avLst/>
            <a:gdLst/>
            <a:ahLst/>
            <a:cxnLst/>
            <a:rect l="l" t="t" r="r" b="b"/>
            <a:pathLst>
              <a:path w="830064" h="264120">
                <a:moveTo>
                  <a:pt x="132060" y="0"/>
                </a:moveTo>
                <a:lnTo>
                  <a:pt x="698004" y="0"/>
                </a:lnTo>
                <a:arcTo wR="132060" hR="132060" stAng="16200000" swAng="5400000"/>
                <a:lnTo>
                  <a:pt x="830064" y="132060"/>
                </a:lnTo>
                <a:arcTo wR="132060" hR="132060" stAng="0" swAng="5400000"/>
                <a:lnTo>
                  <a:pt x="132060" y="264120"/>
                </a:lnTo>
                <a:arcTo wR="132060" hR="132060" stAng="5400000" swAng="5400000"/>
                <a:lnTo>
                  <a:pt x="0" y="132060"/>
                </a:lnTo>
                <a:arcTo wR="132060" hR="132060" stAng="10800000" swAng="5400000"/>
                <a:close/>
              </a:path>
            </a:pathLst>
          </a:custGeom>
          <a:solidFill>
            <a:srgbClr val="F2E3CF"/>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A3F12"/>
                </a:solidFill>
                <a:effectLst/>
                <a:uLnTx/>
                <a:uFillTx/>
                <a:latin typeface="Arial" pitchFamily="34" charset="0"/>
                <a:ea typeface="Arial" pitchFamily="34" charset="-122"/>
                <a:cs typeface="Arial" pitchFamily="34" charset="-120"/>
              </a:rPr>
              <a:t>Xác suất</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23" name="Image 3" descr="arrow-right"/>
          <p:cNvPicPr>
            <a:picLocks noChangeAspect="1"/>
          </p:cNvPicPr>
          <p:nvPr/>
        </p:nvPicPr>
        <p:blipFill>
          <a:blip r:embed="rId4"/>
          <a:srcRect/>
          <a:stretch/>
        </p:blipFill>
        <p:spPr>
          <a:xfrm>
            <a:off x="7063730" y="3522861"/>
            <a:ext cx="254000" cy="152400"/>
          </a:xfrm>
          <a:prstGeom prst="rect">
            <a:avLst/>
          </a:prstGeom>
        </p:spPr>
      </p:pic>
      <p:sp>
        <p:nvSpPr>
          <p:cNvPr id="24" name="Shape 18"/>
          <p:cNvSpPr/>
          <p:nvPr/>
        </p:nvSpPr>
        <p:spPr>
          <a:xfrm>
            <a:off x="7425680" y="2622500"/>
            <a:ext cx="1745010" cy="1953121"/>
          </a:xfrm>
          <a:prstGeom prst="roundRect">
            <a:avLst>
              <a:gd name="adj" fmla="val 5458"/>
            </a:avLst>
          </a:prstGeom>
          <a:solidFill>
            <a:srgbClr val="FBF1E4"/>
          </a:solidFill>
          <a:ln w="12700">
            <a:solidFill>
              <a:srgbClr val="A3561A"/>
            </a:solidFill>
            <a:prstDash val="solid"/>
          </a:ln>
        </p:spPr>
      </p:sp>
      <p:sp>
        <p:nvSpPr>
          <p:cNvPr id="25" name="Text 19"/>
          <p:cNvSpPr/>
          <p:nvPr/>
        </p:nvSpPr>
        <p:spPr>
          <a:xfrm>
            <a:off x="7584430" y="2781250"/>
            <a:ext cx="147831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4</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26" name="Text 20"/>
          <p:cNvSpPr/>
          <p:nvPr/>
        </p:nvSpPr>
        <p:spPr>
          <a:xfrm>
            <a:off x="7584430" y="3124150"/>
            <a:ext cx="147831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Gọi công cụ</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27" name="Text 21"/>
          <p:cNvSpPr/>
          <p:nvPr/>
        </p:nvSpPr>
        <p:spPr>
          <a:xfrm>
            <a:off x="7584430" y="3400971"/>
            <a:ext cx="1478310" cy="436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Tự quyết định tìm web khuyến cáo mới</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28" name="Text 22"/>
          <p:cNvSpPr/>
          <p:nvPr/>
        </p:nvSpPr>
        <p:spPr>
          <a:xfrm>
            <a:off x="7584430" y="3939431"/>
            <a:ext cx="1427510" cy="477441"/>
          </a:xfrm>
          <a:custGeom>
            <a:avLst/>
            <a:gdLst/>
            <a:ahLst/>
            <a:cxnLst/>
            <a:rect l="l" t="t" r="r" b="b"/>
            <a:pathLst>
              <a:path w="1427510" h="477441">
                <a:moveTo>
                  <a:pt x="238720" y="0"/>
                </a:moveTo>
                <a:lnTo>
                  <a:pt x="1188789" y="0"/>
                </a:lnTo>
                <a:arcTo wR="238720" hR="238720" stAng="16200000" swAng="5400000"/>
                <a:lnTo>
                  <a:pt x="1427510" y="238720"/>
                </a:lnTo>
                <a:arcTo wR="238720" hR="238720" stAng="0" swAng="5400000"/>
                <a:lnTo>
                  <a:pt x="238720" y="477441"/>
                </a:lnTo>
                <a:arcTo wR="238720" hR="238720" stAng="5400000" swAng="5400000"/>
                <a:lnTo>
                  <a:pt x="0" y="238720"/>
                </a:lnTo>
                <a:arcTo wR="238720" hR="238720" stAng="10800000" swAng="5400000"/>
                <a:close/>
              </a:path>
            </a:pathLst>
          </a:custGeom>
          <a:solidFill>
            <a:srgbClr val="A3561A"/>
          </a:solidFill>
          <a:ln/>
        </p:spPr>
        <p:txBody>
          <a:bodyPr wrap="square" lIns="101600" tIns="25400" rIns="5080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BFAF6"/>
                </a:solidFill>
                <a:effectLst/>
                <a:uLnTx/>
                <a:uFillTx/>
                <a:latin typeface="Arial" pitchFamily="34" charset="0"/>
                <a:ea typeface="Arial" pitchFamily="34" charset="-122"/>
                <a:cs typeface="Arial" pitchFamily="34" charset="-120"/>
              </a:rPr>
              <a:t>RAG · Agent sơ khai</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29" name="Image 4" descr="arrow-right"/>
          <p:cNvPicPr>
            <a:picLocks noChangeAspect="1"/>
          </p:cNvPicPr>
          <p:nvPr/>
        </p:nvPicPr>
        <p:blipFill>
          <a:blip r:embed="rId4"/>
          <a:srcRect/>
          <a:stretch/>
        </p:blipFill>
        <p:spPr>
          <a:xfrm>
            <a:off x="9278640" y="3522861"/>
            <a:ext cx="254000" cy="152400"/>
          </a:xfrm>
          <a:prstGeom prst="rect">
            <a:avLst/>
          </a:prstGeom>
        </p:spPr>
      </p:pic>
      <p:sp>
        <p:nvSpPr>
          <p:cNvPr id="30" name="Shape 23"/>
          <p:cNvSpPr/>
          <p:nvPr/>
        </p:nvSpPr>
        <p:spPr>
          <a:xfrm>
            <a:off x="9637415" y="2619325"/>
            <a:ext cx="1738610" cy="1959471"/>
          </a:xfrm>
          <a:prstGeom prst="roundRect">
            <a:avLst>
              <a:gd name="adj" fmla="val 5661"/>
            </a:avLst>
          </a:prstGeom>
          <a:solidFill>
            <a:srgbClr val="FBFAF6"/>
          </a:solidFill>
          <a:ln w="6350">
            <a:solidFill>
              <a:srgbClr val="DCD6CA"/>
            </a:solidFill>
            <a:prstDash val="solid"/>
          </a:ln>
        </p:spPr>
      </p:sp>
      <p:sp>
        <p:nvSpPr>
          <p:cNvPr id="31" name="Text 24"/>
          <p:cNvSpPr/>
          <p:nvPr/>
        </p:nvSpPr>
        <p:spPr>
          <a:xfrm>
            <a:off x="9792990" y="2774900"/>
            <a:ext cx="147826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A3561A"/>
                </a:solidFill>
                <a:effectLst/>
                <a:uLnTx/>
                <a:uFillTx/>
                <a:latin typeface="Georgia" pitchFamily="18" charset="0"/>
                <a:ea typeface="Georgia" pitchFamily="18" charset="-122"/>
                <a:cs typeface="Georgia" pitchFamily="18" charset="-120"/>
              </a:rPr>
              <a:t>5</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32" name="Text 25"/>
          <p:cNvSpPr/>
          <p:nvPr/>
        </p:nvSpPr>
        <p:spPr>
          <a:xfrm>
            <a:off x="9792990" y="3117800"/>
            <a:ext cx="147826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Tổng hợp</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33" name="Text 26"/>
          <p:cNvSpPr/>
          <p:nvPr/>
        </p:nvSpPr>
        <p:spPr>
          <a:xfrm>
            <a:off x="9792990" y="3394621"/>
            <a:ext cx="147826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A5263"/>
                </a:solidFill>
                <a:effectLst/>
                <a:uLnTx/>
                <a:uFillTx/>
                <a:latin typeface="Arial" pitchFamily="34" charset="0"/>
                <a:ea typeface="Arial" pitchFamily="34" charset="-122"/>
                <a:cs typeface="Arial" pitchFamily="34" charset="-120"/>
              </a:rPr>
              <a:t>Tên sâu, tác hại, biện pháp phòng trừ, kèm nguồn</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34" name="Text 27"/>
          <p:cNvSpPr/>
          <p:nvPr/>
        </p:nvSpPr>
        <p:spPr>
          <a:xfrm>
            <a:off x="9792990" y="4159101"/>
            <a:ext cx="516334" cy="264120"/>
          </a:xfrm>
          <a:custGeom>
            <a:avLst/>
            <a:gdLst/>
            <a:ahLst/>
            <a:cxnLst/>
            <a:rect l="l" t="t" r="r" b="b"/>
            <a:pathLst>
              <a:path w="516334" h="264120">
                <a:moveTo>
                  <a:pt x="132060" y="0"/>
                </a:moveTo>
                <a:lnTo>
                  <a:pt x="384274" y="0"/>
                </a:lnTo>
                <a:arcTo wR="132060" hR="132060" stAng="16200000" swAng="5400000"/>
                <a:lnTo>
                  <a:pt x="516334" y="132060"/>
                </a:lnTo>
                <a:arcTo wR="132060" hR="132060" stAng="0" swAng="5400000"/>
                <a:lnTo>
                  <a:pt x="132060" y="264120"/>
                </a:lnTo>
                <a:arcTo wR="132060" hR="132060" stAng="5400000" swAng="5400000"/>
                <a:lnTo>
                  <a:pt x="0" y="132060"/>
                </a:lnTo>
                <a:arcTo wR="132060" hR="132060" stAng="10800000" swAng="5400000"/>
                <a:close/>
              </a:path>
            </a:pathLst>
          </a:custGeom>
          <a:solidFill>
            <a:srgbClr val="F2E3CF"/>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A3F12"/>
                </a:solidFill>
                <a:effectLst/>
                <a:uLnTx/>
                <a:uFillTx/>
                <a:latin typeface="Arial" pitchFamily="34" charset="0"/>
                <a:ea typeface="Arial" pitchFamily="34" charset="-122"/>
                <a:cs typeface="Arial" pitchFamily="34" charset="-120"/>
              </a:rPr>
              <a:t>LLM</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35" name="Shape 28"/>
          <p:cNvSpPr/>
          <p:nvPr/>
        </p:nvSpPr>
        <p:spPr>
          <a:xfrm>
            <a:off x="812800" y="4886771"/>
            <a:ext cx="10566400" cy="558800"/>
          </a:xfrm>
          <a:prstGeom prst="roundRect">
            <a:avLst>
              <a:gd name="adj" fmla="val 18182"/>
            </a:avLst>
          </a:prstGeom>
          <a:solidFill>
            <a:srgbClr val="121620"/>
          </a:solidFill>
          <a:ln/>
        </p:spPr>
      </p:sp>
      <p:pic>
        <p:nvPicPr>
          <p:cNvPr id="36" name="Image 5" descr="Warning"/>
          <p:cNvPicPr>
            <a:picLocks noChangeAspect="1"/>
          </p:cNvPicPr>
          <p:nvPr/>
        </p:nvPicPr>
        <p:blipFill>
          <a:blip r:embed="rId5"/>
          <a:srcRect/>
          <a:stretch/>
        </p:blipFill>
        <p:spPr>
          <a:xfrm>
            <a:off x="1016000" y="5039171"/>
            <a:ext cx="254000" cy="254000"/>
          </a:xfrm>
          <a:prstGeom prst="rect">
            <a:avLst/>
          </a:prstGeom>
        </p:spPr>
      </p:pic>
      <p:sp>
        <p:nvSpPr>
          <p:cNvPr id="37" name="Text 29"/>
          <p:cNvSpPr/>
          <p:nvPr/>
        </p:nvSpPr>
        <p:spPr>
          <a:xfrm>
            <a:off x="1397000" y="5054749"/>
            <a:ext cx="10072370" cy="248245"/>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755"/>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Nhận dạng là xác suất, có thể sai:</a:t>
            </a:r>
            <a:r>
              <a:rPr kumimoji="0" lang="en-US" sz="1300" b="0"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 kiểm chứng với cán bộ BVTV, chỉ dùng thuốc trong danh mục được phép và đúng nhãn.</a:t>
            </a:r>
            <a:endParaRPr kumimoji="0" lang="en-US" sz="1300" b="0" i="0" u="none" strike="noStrike" kern="1200" cap="none" spc="0" normalizeH="0" baseline="0" noProof="0" dirty="0">
              <a:ln>
                <a:noFill/>
              </a:ln>
              <a:solidFill>
                <a:srgbClr val="161B26"/>
              </a:solidFill>
              <a:effectLst/>
              <a:uLnTx/>
              <a:uFillTx/>
              <a:latin typeface="Arial"/>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16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F2A541"/>
                </a:solidFill>
                <a:effectLst/>
                <a:uLnTx/>
                <a:uFillTx/>
                <a:latin typeface="Arial" pitchFamily="34" charset="0"/>
                <a:ea typeface="Arial" pitchFamily="34" charset="-122"/>
                <a:cs typeface="Arial" pitchFamily="34" charset="-120"/>
              </a:rPr>
              <a:t>TÌNH HUỐNG 3 · AI AGENT</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3EFE6"/>
                </a:solidFill>
                <a:latin typeface="Georgia" pitchFamily="18" charset="0"/>
                <a:ea typeface="Georgia" pitchFamily="18" charset="-122"/>
                <a:cs typeface="Georgia" pitchFamily="18" charset="-120"/>
              </a:rPr>
              <a:t>Agent “canh đồng” sâu hại mỗi ngày</a:t>
            </a:r>
            <a:endParaRPr lang="en-US" sz="3200" dirty="0"/>
          </a:p>
        </p:txBody>
      </p:sp>
      <p:sp>
        <p:nvSpPr>
          <p:cNvPr id="4" name="Text 2"/>
          <p:cNvSpPr/>
          <p:nvPr/>
        </p:nvSpPr>
        <p:spPr>
          <a:xfrm>
            <a:off x="812800" y="1625550"/>
            <a:ext cx="10883392" cy="26541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9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Mục tiêu giao một lần: “Bảo vệ 5 ha lúa khỏi sâu cuốn lá trong vụ này.”</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5" name="Shape 3"/>
          <p:cNvSpPr/>
          <p:nvPr/>
        </p:nvSpPr>
        <p:spPr>
          <a:xfrm>
            <a:off x="815975" y="2173536"/>
            <a:ext cx="1741140" cy="1939181"/>
          </a:xfrm>
          <a:prstGeom prst="roundRect">
            <a:avLst>
              <a:gd name="adj" fmla="val 5653"/>
            </a:avLst>
          </a:prstGeom>
          <a:solidFill>
            <a:srgbClr val="1B2130"/>
          </a:solidFill>
          <a:ln w="6350">
            <a:solidFill>
              <a:srgbClr val="2C3446"/>
            </a:solidFill>
            <a:prstDash val="solid"/>
          </a:ln>
        </p:spPr>
      </p:sp>
      <p:sp>
        <p:nvSpPr>
          <p:cNvPr id="6" name="Text 4"/>
          <p:cNvSpPr/>
          <p:nvPr/>
        </p:nvSpPr>
        <p:spPr>
          <a:xfrm>
            <a:off x="971550" y="2329111"/>
            <a:ext cx="148079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2A541"/>
                </a:solidFill>
                <a:effectLst/>
                <a:uLnTx/>
                <a:uFillTx/>
                <a:latin typeface="Georgia" pitchFamily="18" charset="0"/>
                <a:ea typeface="Georgia" pitchFamily="18" charset="-122"/>
                <a:cs typeface="Georgia" pitchFamily="18" charset="-120"/>
              </a:rPr>
              <a:t>1</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7" name="Text 5"/>
          <p:cNvSpPr/>
          <p:nvPr/>
        </p:nvSpPr>
        <p:spPr>
          <a:xfrm>
            <a:off x="971550" y="2672011"/>
            <a:ext cx="148079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Quan sát</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8" name="Text 6"/>
          <p:cNvSpPr/>
          <p:nvPr/>
        </p:nvSpPr>
        <p:spPr>
          <a:xfrm>
            <a:off x="971550" y="2948831"/>
            <a:ext cx="148079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Mỗi sáng tự lấy ảnh bẫy đèn, camera, drone</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9" name="Text 7"/>
          <p:cNvSpPr/>
          <p:nvPr/>
        </p:nvSpPr>
        <p:spPr>
          <a:xfrm>
            <a:off x="971550" y="3693021"/>
            <a:ext cx="812750" cy="264120"/>
          </a:xfrm>
          <a:custGeom>
            <a:avLst/>
            <a:gdLst/>
            <a:ahLst/>
            <a:cxnLst/>
            <a:rect l="l" t="t" r="r" b="b"/>
            <a:pathLst>
              <a:path w="812750" h="264120">
                <a:moveTo>
                  <a:pt x="132060" y="0"/>
                </a:moveTo>
                <a:lnTo>
                  <a:pt x="680690" y="0"/>
                </a:lnTo>
                <a:arcTo wR="132060" hR="132060" stAng="16200000" swAng="5400000"/>
                <a:lnTo>
                  <a:pt x="812750" y="132060"/>
                </a:lnTo>
                <a:arcTo wR="132060" hR="132060" stAng="0" swAng="5400000"/>
                <a:lnTo>
                  <a:pt x="132060" y="264120"/>
                </a:lnTo>
                <a:arcTo wR="132060" hR="132060" stAng="5400000" swAng="5400000"/>
                <a:lnTo>
                  <a:pt x="0" y="132060"/>
                </a:lnTo>
                <a:arcTo wR="132060" hR="132060" stAng="10800000" swAng="5400000"/>
                <a:close/>
              </a:path>
            </a:pathLst>
          </a:custGeom>
          <a:solidFill>
            <a:srgbClr val="3A2E1C"/>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Công cụ</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10" name="Image 0" descr="arrow-right"/>
          <p:cNvPicPr>
            <a:picLocks noChangeAspect="1"/>
          </p:cNvPicPr>
          <p:nvPr/>
        </p:nvPicPr>
        <p:blipFill>
          <a:blip r:embed="rId3"/>
          <a:srcRect/>
          <a:stretch/>
        </p:blipFill>
        <p:spPr>
          <a:xfrm>
            <a:off x="2661890" y="3066901"/>
            <a:ext cx="254000" cy="152400"/>
          </a:xfrm>
          <a:prstGeom prst="rect">
            <a:avLst/>
          </a:prstGeom>
        </p:spPr>
      </p:pic>
      <p:sp>
        <p:nvSpPr>
          <p:cNvPr id="11" name="Shape 8"/>
          <p:cNvSpPr/>
          <p:nvPr/>
        </p:nvSpPr>
        <p:spPr>
          <a:xfrm>
            <a:off x="3020665" y="2173536"/>
            <a:ext cx="1741190" cy="1939181"/>
          </a:xfrm>
          <a:prstGeom prst="roundRect">
            <a:avLst>
              <a:gd name="adj" fmla="val 5653"/>
            </a:avLst>
          </a:prstGeom>
          <a:solidFill>
            <a:srgbClr val="1B2130"/>
          </a:solidFill>
          <a:ln w="6350">
            <a:solidFill>
              <a:srgbClr val="2C3446"/>
            </a:solidFill>
            <a:prstDash val="solid"/>
          </a:ln>
        </p:spPr>
      </p:sp>
      <p:sp>
        <p:nvSpPr>
          <p:cNvPr id="12" name="Text 9"/>
          <p:cNvSpPr/>
          <p:nvPr/>
        </p:nvSpPr>
        <p:spPr>
          <a:xfrm>
            <a:off x="3176240" y="2329111"/>
            <a:ext cx="148084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2A541"/>
                </a:solidFill>
                <a:effectLst/>
                <a:uLnTx/>
                <a:uFillTx/>
                <a:latin typeface="Georgia" pitchFamily="18" charset="0"/>
                <a:ea typeface="Georgia" pitchFamily="18" charset="-122"/>
                <a:cs typeface="Georgia" pitchFamily="18" charset="-120"/>
              </a:rPr>
              <a:t>2</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13" name="Text 10"/>
          <p:cNvSpPr/>
          <p:nvPr/>
        </p:nvSpPr>
        <p:spPr>
          <a:xfrm>
            <a:off x="3176240" y="2672011"/>
            <a:ext cx="148084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Phân tích</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14" name="Text 11"/>
          <p:cNvSpPr/>
          <p:nvPr/>
        </p:nvSpPr>
        <p:spPr>
          <a:xfrm>
            <a:off x="3176240" y="2948831"/>
            <a:ext cx="148084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Nhận dạng loài, đếm mật độ sâu từng ruộng</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15" name="Text 12"/>
          <p:cNvSpPr/>
          <p:nvPr/>
        </p:nvSpPr>
        <p:spPr>
          <a:xfrm>
            <a:off x="3176240" y="3693021"/>
            <a:ext cx="1412726" cy="264120"/>
          </a:xfrm>
          <a:custGeom>
            <a:avLst/>
            <a:gdLst/>
            <a:ahLst/>
            <a:cxnLst/>
            <a:rect l="l" t="t" r="r" b="b"/>
            <a:pathLst>
              <a:path w="1412726" h="264120">
                <a:moveTo>
                  <a:pt x="132060" y="0"/>
                </a:moveTo>
                <a:lnTo>
                  <a:pt x="1280666" y="0"/>
                </a:lnTo>
                <a:arcTo wR="132060" hR="132060" stAng="16200000" swAng="5400000"/>
                <a:lnTo>
                  <a:pt x="1412726" y="132060"/>
                </a:lnTo>
                <a:arcTo wR="132060" hR="132060" stAng="0" swAng="5400000"/>
                <a:lnTo>
                  <a:pt x="132060" y="264120"/>
                </a:lnTo>
                <a:arcTo wR="132060" hR="132060" stAng="5400000" swAng="5400000"/>
                <a:lnTo>
                  <a:pt x="0" y="132060"/>
                </a:lnTo>
                <a:arcTo wR="132060" hR="132060" stAng="10800000" swAng="5400000"/>
                <a:close/>
              </a:path>
            </a:pathLst>
          </a:custGeom>
          <a:solidFill>
            <a:srgbClr val="3A2E1C"/>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Đa phương thức</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16" name="Image 1" descr="arrow-right"/>
          <p:cNvPicPr>
            <a:picLocks noChangeAspect="1"/>
          </p:cNvPicPr>
          <p:nvPr/>
        </p:nvPicPr>
        <p:blipFill>
          <a:blip r:embed="rId3"/>
          <a:srcRect/>
          <a:stretch/>
        </p:blipFill>
        <p:spPr>
          <a:xfrm>
            <a:off x="4866630" y="3066901"/>
            <a:ext cx="254000" cy="152400"/>
          </a:xfrm>
          <a:prstGeom prst="rect">
            <a:avLst/>
          </a:prstGeom>
        </p:spPr>
      </p:pic>
      <p:sp>
        <p:nvSpPr>
          <p:cNvPr id="17" name="Shape 13"/>
          <p:cNvSpPr/>
          <p:nvPr/>
        </p:nvSpPr>
        <p:spPr>
          <a:xfrm>
            <a:off x="5225405" y="2173536"/>
            <a:ext cx="1741140" cy="1939181"/>
          </a:xfrm>
          <a:prstGeom prst="roundRect">
            <a:avLst>
              <a:gd name="adj" fmla="val 5653"/>
            </a:avLst>
          </a:prstGeom>
          <a:solidFill>
            <a:srgbClr val="1B2130"/>
          </a:solidFill>
          <a:ln w="6350">
            <a:solidFill>
              <a:srgbClr val="2C3446"/>
            </a:solidFill>
            <a:prstDash val="solid"/>
          </a:ln>
        </p:spPr>
      </p:sp>
      <p:sp>
        <p:nvSpPr>
          <p:cNvPr id="18" name="Text 14"/>
          <p:cNvSpPr/>
          <p:nvPr/>
        </p:nvSpPr>
        <p:spPr>
          <a:xfrm>
            <a:off x="5380980" y="2329111"/>
            <a:ext cx="148079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2A541"/>
                </a:solidFill>
                <a:effectLst/>
                <a:uLnTx/>
                <a:uFillTx/>
                <a:latin typeface="Georgia" pitchFamily="18" charset="0"/>
                <a:ea typeface="Georgia" pitchFamily="18" charset="-122"/>
                <a:cs typeface="Georgia" pitchFamily="18" charset="-120"/>
              </a:rPr>
              <a:t>3</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19" name="Text 15"/>
          <p:cNvSpPr/>
          <p:nvPr/>
        </p:nvSpPr>
        <p:spPr>
          <a:xfrm>
            <a:off x="5380980" y="2672011"/>
            <a:ext cx="148079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Suy luận</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20" name="Text 16"/>
          <p:cNvSpPr/>
          <p:nvPr/>
        </p:nvSpPr>
        <p:spPr>
          <a:xfrm>
            <a:off x="5380980" y="2948831"/>
            <a:ext cx="148079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So ngưỡng kinh tế, thời tiết, bản tin dự báo BVTV</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21" name="Text 17"/>
          <p:cNvSpPr/>
          <p:nvPr/>
        </p:nvSpPr>
        <p:spPr>
          <a:xfrm>
            <a:off x="5380980" y="3693021"/>
            <a:ext cx="1177131" cy="264120"/>
          </a:xfrm>
          <a:custGeom>
            <a:avLst/>
            <a:gdLst/>
            <a:ahLst/>
            <a:cxnLst/>
            <a:rect l="l" t="t" r="r" b="b"/>
            <a:pathLst>
              <a:path w="1177131" h="264120">
                <a:moveTo>
                  <a:pt x="132060" y="0"/>
                </a:moveTo>
                <a:lnTo>
                  <a:pt x="1045071" y="0"/>
                </a:lnTo>
                <a:arcTo wR="132060" hR="132060" stAng="16200000" swAng="5400000"/>
                <a:lnTo>
                  <a:pt x="1177131" y="132060"/>
                </a:lnTo>
                <a:arcTo wR="132060" hR="132060" stAng="0" swAng="5400000"/>
                <a:lnTo>
                  <a:pt x="132060" y="264120"/>
                </a:lnTo>
                <a:arcTo wR="132060" hR="132060" stAng="5400000" swAng="5400000"/>
                <a:lnTo>
                  <a:pt x="0" y="132060"/>
                </a:lnTo>
                <a:arcTo wR="132060" hR="132060" stAng="10800000" swAng="5400000"/>
                <a:close/>
              </a:path>
            </a:pathLst>
          </a:custGeom>
          <a:solidFill>
            <a:srgbClr val="3A2E1C"/>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Lập kế hoạch</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22" name="Image 2" descr="arrow-right"/>
          <p:cNvPicPr>
            <a:picLocks noChangeAspect="1"/>
          </p:cNvPicPr>
          <p:nvPr/>
        </p:nvPicPr>
        <p:blipFill>
          <a:blip r:embed="rId3"/>
          <a:srcRect/>
          <a:stretch/>
        </p:blipFill>
        <p:spPr>
          <a:xfrm>
            <a:off x="7071320" y="3066901"/>
            <a:ext cx="254000" cy="152400"/>
          </a:xfrm>
          <a:prstGeom prst="rect">
            <a:avLst/>
          </a:prstGeom>
        </p:spPr>
      </p:pic>
      <p:sp>
        <p:nvSpPr>
          <p:cNvPr id="23" name="Shape 18"/>
          <p:cNvSpPr/>
          <p:nvPr/>
        </p:nvSpPr>
        <p:spPr>
          <a:xfrm>
            <a:off x="7430095" y="2173536"/>
            <a:ext cx="1741190" cy="1939181"/>
          </a:xfrm>
          <a:prstGeom prst="roundRect">
            <a:avLst>
              <a:gd name="adj" fmla="val 5653"/>
            </a:avLst>
          </a:prstGeom>
          <a:solidFill>
            <a:srgbClr val="1B2130"/>
          </a:solidFill>
          <a:ln w="6350">
            <a:solidFill>
              <a:srgbClr val="2C3446"/>
            </a:solidFill>
            <a:prstDash val="solid"/>
          </a:ln>
        </p:spPr>
      </p:sp>
      <p:sp>
        <p:nvSpPr>
          <p:cNvPr id="24" name="Text 19"/>
          <p:cNvSpPr/>
          <p:nvPr/>
        </p:nvSpPr>
        <p:spPr>
          <a:xfrm>
            <a:off x="7585670" y="2329111"/>
            <a:ext cx="148084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2A541"/>
                </a:solidFill>
                <a:effectLst/>
                <a:uLnTx/>
                <a:uFillTx/>
                <a:latin typeface="Georgia" pitchFamily="18" charset="0"/>
                <a:ea typeface="Georgia" pitchFamily="18" charset="-122"/>
                <a:cs typeface="Georgia" pitchFamily="18" charset="-120"/>
              </a:rPr>
              <a:t>4</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25" name="Text 20"/>
          <p:cNvSpPr/>
          <p:nvPr/>
        </p:nvSpPr>
        <p:spPr>
          <a:xfrm>
            <a:off x="7585670" y="2672011"/>
            <a:ext cx="148084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Hành động</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26" name="Text 21"/>
          <p:cNvSpPr/>
          <p:nvPr/>
        </p:nvSpPr>
        <p:spPr>
          <a:xfrm>
            <a:off x="7585670" y="2948831"/>
            <a:ext cx="148084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Tra thuốc được phép, lập lịch phun, gửi cảnh báo</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27" name="Text 22"/>
          <p:cNvSpPr/>
          <p:nvPr/>
        </p:nvSpPr>
        <p:spPr>
          <a:xfrm>
            <a:off x="7585670" y="3693021"/>
            <a:ext cx="998934" cy="264120"/>
          </a:xfrm>
          <a:custGeom>
            <a:avLst/>
            <a:gdLst/>
            <a:ahLst/>
            <a:cxnLst/>
            <a:rect l="l" t="t" r="r" b="b"/>
            <a:pathLst>
              <a:path w="998934" h="264120">
                <a:moveTo>
                  <a:pt x="132060" y="0"/>
                </a:moveTo>
                <a:lnTo>
                  <a:pt x="866874" y="0"/>
                </a:lnTo>
                <a:arcTo wR="132060" hR="132060" stAng="16200000" swAng="5400000"/>
                <a:lnTo>
                  <a:pt x="998934" y="132060"/>
                </a:lnTo>
                <a:arcTo wR="132060" hR="132060" stAng="0" swAng="5400000"/>
                <a:lnTo>
                  <a:pt x="132060" y="264120"/>
                </a:lnTo>
                <a:arcTo wR="132060" hR="132060" stAng="5400000" swAng="5400000"/>
                <a:lnTo>
                  <a:pt x="0" y="132060"/>
                </a:lnTo>
                <a:arcTo wR="132060" hR="132060" stAng="10800000" swAng="5400000"/>
                <a:close/>
              </a:path>
            </a:pathLst>
          </a:custGeom>
          <a:solidFill>
            <a:srgbClr val="3A2E1C"/>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Hành động</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pic>
        <p:nvPicPr>
          <p:cNvPr id="28" name="Image 3" descr="arrow-right"/>
          <p:cNvPicPr>
            <a:picLocks noChangeAspect="1"/>
          </p:cNvPicPr>
          <p:nvPr/>
        </p:nvPicPr>
        <p:blipFill>
          <a:blip r:embed="rId3"/>
          <a:srcRect/>
          <a:stretch/>
        </p:blipFill>
        <p:spPr>
          <a:xfrm>
            <a:off x="9276060" y="3066901"/>
            <a:ext cx="254000" cy="152400"/>
          </a:xfrm>
          <a:prstGeom prst="rect">
            <a:avLst/>
          </a:prstGeom>
        </p:spPr>
      </p:pic>
      <p:sp>
        <p:nvSpPr>
          <p:cNvPr id="29" name="Shape 23"/>
          <p:cNvSpPr/>
          <p:nvPr/>
        </p:nvSpPr>
        <p:spPr>
          <a:xfrm>
            <a:off x="9634835" y="2173536"/>
            <a:ext cx="1741190" cy="1939181"/>
          </a:xfrm>
          <a:prstGeom prst="roundRect">
            <a:avLst>
              <a:gd name="adj" fmla="val 5653"/>
            </a:avLst>
          </a:prstGeom>
          <a:solidFill>
            <a:srgbClr val="1B2130"/>
          </a:solidFill>
          <a:ln w="6350">
            <a:solidFill>
              <a:srgbClr val="2C3446"/>
            </a:solidFill>
            <a:prstDash val="solid"/>
          </a:ln>
        </p:spPr>
      </p:sp>
      <p:sp>
        <p:nvSpPr>
          <p:cNvPr id="30" name="Text 24"/>
          <p:cNvSpPr/>
          <p:nvPr/>
        </p:nvSpPr>
        <p:spPr>
          <a:xfrm>
            <a:off x="9790410" y="2329111"/>
            <a:ext cx="1480840" cy="304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2A541"/>
                </a:solidFill>
                <a:effectLst/>
                <a:uLnTx/>
                <a:uFillTx/>
                <a:latin typeface="Georgia" pitchFamily="18" charset="0"/>
                <a:ea typeface="Georgia" pitchFamily="18" charset="-122"/>
                <a:cs typeface="Georgia" pitchFamily="18" charset="-120"/>
              </a:rPr>
              <a:t>5</a:t>
            </a:r>
            <a:endParaRPr kumimoji="0" lang="en-US" sz="2200" b="0" i="0" u="none" strike="noStrike" kern="1200" cap="none" spc="0" normalizeH="0" baseline="0" noProof="0" dirty="0">
              <a:ln>
                <a:noFill/>
              </a:ln>
              <a:solidFill>
                <a:srgbClr val="161B26"/>
              </a:solidFill>
              <a:effectLst/>
              <a:uLnTx/>
              <a:uFillTx/>
              <a:latin typeface="Arial"/>
              <a:ea typeface="+mn-ea"/>
              <a:cs typeface="+mn-cs"/>
            </a:endParaRPr>
          </a:p>
        </p:txBody>
      </p:sp>
      <p:sp>
        <p:nvSpPr>
          <p:cNvPr id="31" name="Text 25"/>
          <p:cNvSpPr/>
          <p:nvPr/>
        </p:nvSpPr>
        <p:spPr>
          <a:xfrm>
            <a:off x="9790410" y="2672011"/>
            <a:ext cx="148084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3EFE6"/>
                </a:solidFill>
                <a:effectLst/>
                <a:uLnTx/>
                <a:uFillTx/>
                <a:latin typeface="Arial" pitchFamily="34" charset="0"/>
                <a:ea typeface="Arial" pitchFamily="34" charset="-122"/>
                <a:cs typeface="Arial" pitchFamily="34" charset="-120"/>
              </a:rPr>
              <a:t>Kiểm tra</a:t>
            </a:r>
            <a:endParaRPr kumimoji="0" lang="en-US" sz="1400" b="0" i="0" u="none" strike="noStrike" kern="1200" cap="none" spc="0" normalizeH="0" baseline="0" noProof="0" dirty="0">
              <a:ln>
                <a:noFill/>
              </a:ln>
              <a:solidFill>
                <a:srgbClr val="161B26"/>
              </a:solidFill>
              <a:effectLst/>
              <a:uLnTx/>
              <a:uFillTx/>
              <a:latin typeface="Arial"/>
              <a:ea typeface="+mn-ea"/>
              <a:cs typeface="+mn-cs"/>
            </a:endParaRPr>
          </a:p>
        </p:txBody>
      </p:sp>
      <p:sp>
        <p:nvSpPr>
          <p:cNvPr id="32" name="Text 26"/>
          <p:cNvSpPr/>
          <p:nvPr/>
        </p:nvSpPr>
        <p:spPr>
          <a:xfrm>
            <a:off x="9790410" y="2948831"/>
            <a:ext cx="1480840" cy="6425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9B2C3"/>
                </a:solidFill>
                <a:effectLst/>
                <a:uLnTx/>
                <a:uFillTx/>
                <a:latin typeface="Arial" pitchFamily="34" charset="0"/>
                <a:ea typeface="Arial" pitchFamily="34" charset="-122"/>
                <a:cs typeface="Arial" pitchFamily="34" charset="-120"/>
              </a:rPr>
              <a:t>Chụp lại sau vài ngày, đánh giá hiệu quả, điều chỉnh</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33" name="Text 27"/>
          <p:cNvSpPr/>
          <p:nvPr/>
        </p:nvSpPr>
        <p:spPr>
          <a:xfrm>
            <a:off x="9790410" y="3693021"/>
            <a:ext cx="846683" cy="264120"/>
          </a:xfrm>
          <a:custGeom>
            <a:avLst/>
            <a:gdLst/>
            <a:ahLst/>
            <a:cxnLst/>
            <a:rect l="l" t="t" r="r" b="b"/>
            <a:pathLst>
              <a:path w="846683" h="264120">
                <a:moveTo>
                  <a:pt x="132060" y="0"/>
                </a:moveTo>
                <a:lnTo>
                  <a:pt x="714623" y="0"/>
                </a:lnTo>
                <a:arcTo wR="132060" hR="132060" stAng="16200000" swAng="5400000"/>
                <a:lnTo>
                  <a:pt x="846683" y="132060"/>
                </a:lnTo>
                <a:arcTo wR="132060" hR="132060" stAng="0" swAng="5400000"/>
                <a:lnTo>
                  <a:pt x="132060" y="264120"/>
                </a:lnTo>
                <a:arcTo wR="132060" hR="132060" stAng="5400000" swAng="5400000"/>
                <a:lnTo>
                  <a:pt x="0" y="132060"/>
                </a:lnTo>
                <a:arcTo wR="132060" hR="132060" stAng="10800000" swAng="5400000"/>
                <a:close/>
              </a:path>
            </a:pathLst>
          </a:custGeom>
          <a:solidFill>
            <a:srgbClr val="3A2E1C"/>
          </a:solidFill>
          <a:ln/>
        </p:spPr>
        <p:txBody>
          <a:bodyPr wrap="none" lIns="0" tIns="0" rIns="0" bIns="0" rtlCol="0" anchor="ctr">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Vòng lặp</a:t>
            </a:r>
            <a:endParaRPr kumimoji="0" lang="en-US" sz="1200" b="0" i="0" u="none" strike="noStrike" kern="1200" cap="none" spc="0" normalizeH="0" baseline="0" noProof="0" dirty="0">
              <a:ln>
                <a:noFill/>
              </a:ln>
              <a:solidFill>
                <a:srgbClr val="161B26"/>
              </a:solidFill>
              <a:effectLst/>
              <a:uLnTx/>
              <a:uFillTx/>
              <a:latin typeface="Arial"/>
              <a:ea typeface="+mn-ea"/>
              <a:cs typeface="+mn-cs"/>
            </a:endParaRPr>
          </a:p>
        </p:txBody>
      </p:sp>
      <p:sp>
        <p:nvSpPr>
          <p:cNvPr id="34" name="Shape 28"/>
          <p:cNvSpPr/>
          <p:nvPr/>
        </p:nvSpPr>
        <p:spPr>
          <a:xfrm>
            <a:off x="11369675" y="4115891"/>
            <a:ext cx="0" cy="402580"/>
          </a:xfrm>
          <a:prstGeom prst="line">
            <a:avLst/>
          </a:prstGeom>
          <a:noFill/>
          <a:ln w="19050">
            <a:solidFill>
              <a:srgbClr val="F2A541"/>
            </a:solidFill>
            <a:prstDash val="dash"/>
          </a:ln>
        </p:spPr>
      </p:sp>
      <p:sp>
        <p:nvSpPr>
          <p:cNvPr id="35" name="Shape 29"/>
          <p:cNvSpPr/>
          <p:nvPr/>
        </p:nvSpPr>
        <p:spPr>
          <a:xfrm>
            <a:off x="812800" y="4508946"/>
            <a:ext cx="10566400" cy="0"/>
          </a:xfrm>
          <a:prstGeom prst="line">
            <a:avLst/>
          </a:prstGeom>
          <a:noFill/>
          <a:ln w="19050">
            <a:solidFill>
              <a:srgbClr val="F2A541"/>
            </a:solidFill>
            <a:prstDash val="dash"/>
          </a:ln>
        </p:spPr>
      </p:sp>
      <p:sp>
        <p:nvSpPr>
          <p:cNvPr id="36" name="Shape 30"/>
          <p:cNvSpPr/>
          <p:nvPr/>
        </p:nvSpPr>
        <p:spPr>
          <a:xfrm>
            <a:off x="822325" y="4115891"/>
            <a:ext cx="0" cy="402580"/>
          </a:xfrm>
          <a:prstGeom prst="line">
            <a:avLst/>
          </a:prstGeom>
          <a:noFill/>
          <a:ln w="19050">
            <a:solidFill>
              <a:srgbClr val="F2A541"/>
            </a:solidFill>
            <a:prstDash val="dash"/>
          </a:ln>
        </p:spPr>
      </p:sp>
      <p:sp>
        <p:nvSpPr>
          <p:cNvPr id="37" name="Text 31"/>
          <p:cNvSpPr/>
          <p:nvPr/>
        </p:nvSpPr>
        <p:spPr>
          <a:xfrm>
            <a:off x="2423765" y="4192091"/>
            <a:ext cx="7564804" cy="2565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2A541"/>
                </a:solidFill>
                <a:effectLst/>
                <a:uLnTx/>
                <a:uFillTx/>
                <a:latin typeface="Arial" pitchFamily="34" charset="0"/>
                <a:ea typeface="Arial" pitchFamily="34" charset="-122"/>
                <a:cs typeface="Arial" pitchFamily="34" charset="-120"/>
              </a:rPr>
              <a:t>↺ Lặp lại mỗi ngày – agent tự quyết định bước tiếp theo, không cần người ra lệnh từng bước</a:t>
            </a:r>
            <a:endParaRPr kumimoji="0" lang="en-US" sz="1300" b="0" i="0" u="none" strike="noStrike" kern="1200" cap="none" spc="0" normalizeH="0" baseline="0" noProof="0" dirty="0">
              <a:ln>
                <a:noFill/>
              </a:ln>
              <a:solidFill>
                <a:srgbClr val="161B26"/>
              </a:solidFill>
              <a:effectLst/>
              <a:uLnTx/>
              <a:uFillTx/>
              <a:latin typeface="Arial"/>
              <a:ea typeface="+mn-ea"/>
              <a:cs typeface="+mn-cs"/>
            </a:endParaRPr>
          </a:p>
        </p:txBody>
      </p:sp>
      <p:sp>
        <p:nvSpPr>
          <p:cNvPr id="38" name="Shape 32"/>
          <p:cNvSpPr/>
          <p:nvPr/>
        </p:nvSpPr>
        <p:spPr>
          <a:xfrm>
            <a:off x="812800" y="4823271"/>
            <a:ext cx="10566400" cy="558800"/>
          </a:xfrm>
          <a:prstGeom prst="roundRect">
            <a:avLst>
              <a:gd name="adj" fmla="val 18182"/>
            </a:avLst>
          </a:prstGeom>
          <a:solidFill>
            <a:srgbClr val="F6F3EC"/>
          </a:solidFill>
          <a:ln/>
        </p:spPr>
      </p:sp>
      <p:pic>
        <p:nvPicPr>
          <p:cNvPr id="39" name="Image 4" descr="Users"/>
          <p:cNvPicPr>
            <a:picLocks noChangeAspect="1"/>
          </p:cNvPicPr>
          <p:nvPr/>
        </p:nvPicPr>
        <p:blipFill>
          <a:blip r:embed="rId4"/>
          <a:srcRect/>
          <a:stretch/>
        </p:blipFill>
        <p:spPr>
          <a:xfrm>
            <a:off x="1016000" y="4975671"/>
            <a:ext cx="254000" cy="254000"/>
          </a:xfrm>
          <a:prstGeom prst="rect">
            <a:avLst/>
          </a:prstGeom>
        </p:spPr>
      </p:pic>
      <p:sp>
        <p:nvSpPr>
          <p:cNvPr id="40" name="Text 33"/>
          <p:cNvSpPr/>
          <p:nvPr/>
        </p:nvSpPr>
        <p:spPr>
          <a:xfrm>
            <a:off x="1397000" y="4991249"/>
            <a:ext cx="10072370" cy="248245"/>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755"/>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Con người vẫn quyết định cuối:</a:t>
            </a:r>
            <a:r>
              <a:rPr kumimoji="0" lang="en-US" sz="1300" b="0" i="0" u="none" strike="noStrike" kern="1200" cap="none" spc="0" normalizeH="0" baseline="0" noProof="0" dirty="0">
                <a:ln>
                  <a:noFill/>
                </a:ln>
                <a:solidFill>
                  <a:srgbClr val="161B26"/>
                </a:solidFill>
                <a:effectLst/>
                <a:uLnTx/>
                <a:uFillTx/>
                <a:latin typeface="Arial" pitchFamily="34" charset="0"/>
                <a:ea typeface="Arial" pitchFamily="34" charset="-122"/>
                <a:cs typeface="Arial" pitchFamily="34" charset="-120"/>
              </a:rPr>
              <a:t> agent đề xuất và cảnh báo; nông dân, cán bộ BVTV duyệt trước khi phun.</a:t>
            </a:r>
            <a:endParaRPr kumimoji="0" lang="en-US" sz="1300" b="0" i="0" u="none" strike="noStrike" kern="1200" cap="none" spc="0" normalizeH="0" baseline="0" noProof="0" dirty="0">
              <a:ln>
                <a:noFill/>
              </a:ln>
              <a:solidFill>
                <a:srgbClr val="161B26"/>
              </a:solidFill>
              <a:effectLst/>
              <a:uLnTx/>
              <a:uFillTx/>
              <a:latin typeface="Arial"/>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A6412-6D6B-1BDE-07DC-A3B860521372}"/>
              </a:ext>
            </a:extLst>
          </p:cNvPr>
          <p:cNvSpPr>
            <a:spLocks noGrp="1"/>
          </p:cNvSpPr>
          <p:nvPr>
            <p:ph type="title"/>
          </p:nvPr>
        </p:nvSpPr>
        <p:spPr/>
        <p:txBody>
          <a:bodyPr/>
          <a:lstStyle/>
          <a:p>
            <a:r>
              <a:rPr lang="en-US" dirty="0" err="1">
                <a:solidFill>
                  <a:srgbClr val="2E75B5"/>
                </a:solidFill>
              </a:rPr>
              <a:t>Đặc</a:t>
            </a:r>
            <a:r>
              <a:rPr lang="en-US" dirty="0">
                <a:solidFill>
                  <a:srgbClr val="2E75B5"/>
                </a:solidFill>
              </a:rPr>
              <a:t> </a:t>
            </a:r>
            <a:r>
              <a:rPr lang="en-US" dirty="0" err="1">
                <a:solidFill>
                  <a:srgbClr val="2E75B5"/>
                </a:solidFill>
              </a:rPr>
              <a:t>tính</a:t>
            </a:r>
            <a:r>
              <a:rPr lang="en-US" dirty="0">
                <a:solidFill>
                  <a:srgbClr val="2E75B5"/>
                </a:solidFill>
              </a:rPr>
              <a:t> </a:t>
            </a:r>
            <a:r>
              <a:rPr lang="en-US" dirty="0" err="1">
                <a:solidFill>
                  <a:srgbClr val="2E75B5"/>
                </a:solidFill>
              </a:rPr>
              <a:t>của</a:t>
            </a:r>
            <a:r>
              <a:rPr lang="en-US" dirty="0">
                <a:solidFill>
                  <a:srgbClr val="2E75B5"/>
                </a:solidFill>
              </a:rPr>
              <a:t> AI (chatbot, Agent)</a:t>
            </a:r>
          </a:p>
        </p:txBody>
      </p:sp>
      <p:sp>
        <p:nvSpPr>
          <p:cNvPr id="3" name="Content Placeholder 2">
            <a:extLst>
              <a:ext uri="{FF2B5EF4-FFF2-40B4-BE49-F238E27FC236}">
                <a16:creationId xmlns:a16="http://schemas.microsoft.com/office/drawing/2014/main" id="{911B2DCA-4E06-861F-667C-C091316D7B72}"/>
              </a:ext>
            </a:extLst>
          </p:cNvPr>
          <p:cNvSpPr>
            <a:spLocks noGrp="1"/>
          </p:cNvSpPr>
          <p:nvPr>
            <p:ph idx="1"/>
          </p:nvPr>
        </p:nvSpPr>
        <p:spPr/>
        <p:txBody>
          <a:bodyPr>
            <a:normAutofit fontScale="85000" lnSpcReduction="20000"/>
          </a:bodyPr>
          <a:lstStyle/>
          <a:p>
            <a:pPr>
              <a:lnSpc>
                <a:spcPct val="150000"/>
              </a:lnSpc>
            </a:pPr>
            <a:r>
              <a:rPr lang="en-US" dirty="0" err="1">
                <a:solidFill>
                  <a:srgbClr val="161B26"/>
                </a:solidFill>
                <a:latin typeface="Times New Roman" panose="02020603050405020304" pitchFamily="18" charset="0"/>
                <a:cs typeface="Times New Roman" panose="02020603050405020304" pitchFamily="18" charset="0"/>
              </a:rPr>
              <a:t>Biết</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tuốt</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nhưng</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thiếu</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bản</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sắc</a:t>
            </a:r>
            <a:endParaRPr lang="en-US" dirty="0">
              <a:solidFill>
                <a:srgbClr val="161B26"/>
              </a:solidFill>
              <a:latin typeface="Times New Roman" panose="02020603050405020304" pitchFamily="18" charset="0"/>
              <a:cs typeface="Times New Roman" panose="02020603050405020304" pitchFamily="18" charset="0"/>
            </a:endParaRPr>
          </a:p>
          <a:p>
            <a:pPr lvl="1">
              <a:lnSpc>
                <a:spcPct val="150000"/>
              </a:lnSpc>
            </a:pPr>
            <a:r>
              <a:rPr lang="vi-VN" dirty="0">
                <a:solidFill>
                  <a:srgbClr val="161B26"/>
                </a:solidFill>
                <a:latin typeface="Times New Roman" panose="02020603050405020304" pitchFamily="18" charset="0"/>
                <a:cs typeface="Times New Roman" panose="02020603050405020304" pitchFamily="18" charset="0"/>
              </a:rPr>
              <a:t>Quyển bách khoa toàn thư </a:t>
            </a:r>
            <a:r>
              <a:rPr lang="vi-VN" b="1" dirty="0">
                <a:solidFill>
                  <a:srgbClr val="161B26"/>
                </a:solidFill>
                <a:latin typeface="Times New Roman" panose="02020603050405020304" pitchFamily="18" charset="0"/>
                <a:cs typeface="Times New Roman" panose="02020603050405020304" pitchFamily="18" charset="0"/>
              </a:rPr>
              <a:t>biết tuốt</a:t>
            </a:r>
            <a:r>
              <a:rPr lang="vi-VN" dirty="0">
                <a:solidFill>
                  <a:srgbClr val="161B26"/>
                </a:solidFill>
                <a:latin typeface="Times New Roman" panose="02020603050405020304" pitchFamily="18" charset="0"/>
                <a:cs typeface="Times New Roman" panose="02020603050405020304" pitchFamily="18" charset="0"/>
              </a:rPr>
              <a:t> nhưng nhạt nhẽo</a:t>
            </a:r>
            <a:endParaRPr lang="en-US" dirty="0">
              <a:solidFill>
                <a:srgbClr val="161B26"/>
              </a:solidFill>
              <a:latin typeface="Times New Roman" panose="02020603050405020304" pitchFamily="18" charset="0"/>
              <a:cs typeface="Times New Roman" panose="02020603050405020304" pitchFamily="18" charset="0"/>
            </a:endParaRPr>
          </a:p>
          <a:p>
            <a:pPr>
              <a:lnSpc>
                <a:spcPct val="150000"/>
              </a:lnSpc>
            </a:pPr>
            <a:r>
              <a:rPr lang="en-US" dirty="0" err="1">
                <a:solidFill>
                  <a:srgbClr val="161B26"/>
                </a:solidFill>
                <a:latin typeface="Times New Roman" panose="02020603050405020304" pitchFamily="18" charset="0"/>
                <a:cs typeface="Times New Roman" panose="02020603050405020304" pitchFamily="18" charset="0"/>
              </a:rPr>
              <a:t>Kẻ</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nói</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dối</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tự</a:t>
            </a:r>
            <a:r>
              <a:rPr lang="en-US" dirty="0">
                <a:solidFill>
                  <a:srgbClr val="161B26"/>
                </a:solidFill>
                <a:latin typeface="Times New Roman" panose="02020603050405020304" pitchFamily="18" charset="0"/>
                <a:cs typeface="Times New Roman" panose="02020603050405020304" pitchFamily="18" charset="0"/>
              </a:rPr>
              <a:t> tin (Confident Hallucination)</a:t>
            </a:r>
          </a:p>
          <a:p>
            <a:pPr lvl="1">
              <a:lnSpc>
                <a:spcPct val="150000"/>
              </a:lnSpc>
            </a:pPr>
            <a:r>
              <a:rPr lang="vi-VN" dirty="0">
                <a:solidFill>
                  <a:srgbClr val="161B26"/>
                </a:solidFill>
                <a:latin typeface="Times New Roman" panose="02020603050405020304" pitchFamily="18" charset="0"/>
                <a:cs typeface="Times New Roman" panose="02020603050405020304" pitchFamily="18" charset="0"/>
              </a:rPr>
              <a:t>LLM không được thiết kế để nói sự thật; chúng được thiết kế để tạo ra văn bản </a:t>
            </a:r>
            <a:r>
              <a:rPr lang="vi-VN" b="1" dirty="0">
                <a:solidFill>
                  <a:srgbClr val="161B26"/>
                </a:solidFill>
                <a:latin typeface="Times New Roman" panose="02020603050405020304" pitchFamily="18" charset="0"/>
                <a:cs typeface="Times New Roman" panose="02020603050405020304" pitchFamily="18" charset="0"/>
              </a:rPr>
              <a:t>nghe có vẻ hợp lý</a:t>
            </a:r>
            <a:r>
              <a:rPr lang="vi-VN" dirty="0">
                <a:solidFill>
                  <a:srgbClr val="161B26"/>
                </a:solidFill>
                <a:latin typeface="Times New Roman" panose="02020603050405020304" pitchFamily="18" charset="0"/>
                <a:cs typeface="Times New Roman" panose="02020603050405020304" pitchFamily="18" charset="0"/>
              </a:rPr>
              <a:t> (plausible).</a:t>
            </a:r>
            <a:endParaRPr lang="en-US" dirty="0">
              <a:solidFill>
                <a:srgbClr val="161B26"/>
              </a:solidFill>
              <a:latin typeface="Times New Roman" panose="02020603050405020304" pitchFamily="18" charset="0"/>
              <a:cs typeface="Times New Roman" panose="02020603050405020304" pitchFamily="18" charset="0"/>
            </a:endParaRPr>
          </a:p>
          <a:p>
            <a:pPr>
              <a:lnSpc>
                <a:spcPct val="150000"/>
              </a:lnSpc>
            </a:pPr>
            <a:r>
              <a:rPr lang="vi-VN" dirty="0">
                <a:solidFill>
                  <a:srgbClr val="161B26"/>
                </a:solidFill>
                <a:latin typeface="Times New Roman" panose="02020603050405020304" pitchFamily="18" charset="0"/>
                <a:cs typeface="Times New Roman" panose="02020603050405020304" pitchFamily="18" charset="0"/>
              </a:rPr>
              <a:t>Sự "Hời hợt" về Tư duy Logic (Lack of True Reasoning)</a:t>
            </a:r>
          </a:p>
          <a:p>
            <a:pPr lvl="1">
              <a:lnSpc>
                <a:spcPct val="150000"/>
              </a:lnSpc>
            </a:pPr>
            <a:r>
              <a:rPr lang="vi-VN" dirty="0">
                <a:solidFill>
                  <a:srgbClr val="161B26"/>
                </a:solidFill>
                <a:latin typeface="Times New Roman" panose="02020603050405020304" pitchFamily="18" charset="0"/>
                <a:cs typeface="Times New Roman" panose="02020603050405020304" pitchFamily="18" charset="0"/>
              </a:rPr>
              <a:t>Mô phỏng tư duy: Chúng thực hiện việc "khớp mẫu" (pattern matching) cực kỳ tinh vi. Nếu bài toán nằm ngoài vùng dữ liệu huấn luyện hoặc đòi hỏi suy luận đa bước phức tạp mà không có chỉ dẫn "hãy suy nghĩ từng bước" (Chain of Thought), chúng thường thất bại thảm hại.</a:t>
            </a:r>
          </a:p>
        </p:txBody>
      </p:sp>
      <p:sp>
        <p:nvSpPr>
          <p:cNvPr id="4" name="Slide Number Placeholder 3">
            <a:extLst>
              <a:ext uri="{FF2B5EF4-FFF2-40B4-BE49-F238E27FC236}">
                <a16:creationId xmlns:a16="http://schemas.microsoft.com/office/drawing/2014/main" id="{EC6F9FF2-7CA0-6491-3C9C-025FEF253868}"/>
              </a:ext>
            </a:extLst>
          </p:cNvPr>
          <p:cNvSpPr>
            <a:spLocks noGrp="1"/>
          </p:cNvSpPr>
          <p:nvPr>
            <p:ph type="sldNum" sz="quarter" idx="12"/>
          </p:nvPr>
        </p:nvSpPr>
        <p:spPr/>
        <p:txBody>
          <a:bodyPr/>
          <a:lstStyle/>
          <a:p>
            <a:fld id="{32C01A72-EF70-FE45-A48F-AE9060BA8856}" type="slidenum">
              <a:rPr lang="en-US" smtClean="0"/>
              <a:t>27</a:t>
            </a:fld>
            <a:endParaRPr lang="en-US"/>
          </a:p>
        </p:txBody>
      </p:sp>
    </p:spTree>
    <p:extLst>
      <p:ext uri="{BB962C8B-B14F-4D97-AF65-F5344CB8AC3E}">
        <p14:creationId xmlns:p14="http://schemas.microsoft.com/office/powerpoint/2010/main" val="1469970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A6412-6D6B-1BDE-07DC-A3B860521372}"/>
              </a:ext>
            </a:extLst>
          </p:cNvPr>
          <p:cNvSpPr>
            <a:spLocks noGrp="1"/>
          </p:cNvSpPr>
          <p:nvPr>
            <p:ph type="title"/>
          </p:nvPr>
        </p:nvSpPr>
        <p:spPr/>
        <p:txBody>
          <a:bodyPr/>
          <a:lstStyle/>
          <a:p>
            <a:r>
              <a:rPr lang="en-US" dirty="0" err="1">
                <a:solidFill>
                  <a:srgbClr val="2E75B5"/>
                </a:solidFill>
              </a:rPr>
              <a:t>Đặc</a:t>
            </a:r>
            <a:r>
              <a:rPr lang="en-US" dirty="0">
                <a:solidFill>
                  <a:srgbClr val="2E75B5"/>
                </a:solidFill>
              </a:rPr>
              <a:t> </a:t>
            </a:r>
            <a:r>
              <a:rPr lang="en-US" dirty="0" err="1">
                <a:solidFill>
                  <a:srgbClr val="2E75B5"/>
                </a:solidFill>
              </a:rPr>
              <a:t>tính</a:t>
            </a:r>
            <a:r>
              <a:rPr lang="en-US" dirty="0">
                <a:solidFill>
                  <a:srgbClr val="2E75B5"/>
                </a:solidFill>
              </a:rPr>
              <a:t> </a:t>
            </a:r>
            <a:r>
              <a:rPr lang="en-US" dirty="0" err="1">
                <a:solidFill>
                  <a:srgbClr val="2E75B5"/>
                </a:solidFill>
              </a:rPr>
              <a:t>của</a:t>
            </a:r>
            <a:r>
              <a:rPr lang="en-US" dirty="0">
                <a:solidFill>
                  <a:srgbClr val="2E75B5"/>
                </a:solidFill>
              </a:rPr>
              <a:t> AI (chatbot, Agent)</a:t>
            </a:r>
          </a:p>
        </p:txBody>
      </p:sp>
      <p:sp>
        <p:nvSpPr>
          <p:cNvPr id="3" name="Content Placeholder 2">
            <a:extLst>
              <a:ext uri="{FF2B5EF4-FFF2-40B4-BE49-F238E27FC236}">
                <a16:creationId xmlns:a16="http://schemas.microsoft.com/office/drawing/2014/main" id="{911B2DCA-4E06-861F-667C-C091316D7B72}"/>
              </a:ext>
            </a:extLst>
          </p:cNvPr>
          <p:cNvSpPr>
            <a:spLocks noGrp="1"/>
          </p:cNvSpPr>
          <p:nvPr>
            <p:ph idx="1"/>
          </p:nvPr>
        </p:nvSpPr>
        <p:spPr>
          <a:xfrm>
            <a:off x="838200" y="1406769"/>
            <a:ext cx="10515600" cy="4770194"/>
          </a:xfrm>
        </p:spPr>
        <p:txBody>
          <a:bodyPr>
            <a:normAutofit fontScale="62500" lnSpcReduction="20000"/>
          </a:bodyPr>
          <a:lstStyle/>
          <a:p>
            <a:pPr>
              <a:lnSpc>
                <a:spcPct val="150000"/>
              </a:lnSpc>
            </a:pPr>
            <a:r>
              <a:rPr lang="en-US" dirty="0" err="1">
                <a:solidFill>
                  <a:srgbClr val="161B26"/>
                </a:solidFill>
                <a:latin typeface="Times New Roman" panose="02020603050405020304" pitchFamily="18" charset="0"/>
                <a:cs typeface="Times New Roman" panose="02020603050405020304" pitchFamily="18" charset="0"/>
              </a:rPr>
              <a:t>Tính</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chất</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Tắc</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kè</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hoa</a:t>
            </a:r>
            <a:r>
              <a:rPr lang="en-US" dirty="0">
                <a:solidFill>
                  <a:srgbClr val="161B26"/>
                </a:solidFill>
                <a:latin typeface="Times New Roman" panose="02020603050405020304" pitchFamily="18" charset="0"/>
                <a:cs typeface="Times New Roman" panose="02020603050405020304" pitchFamily="18" charset="0"/>
              </a:rPr>
              <a:t>" (Sycophancy)</a:t>
            </a:r>
          </a:p>
          <a:p>
            <a:pPr lvl="1">
              <a:lnSpc>
                <a:spcPct val="150000"/>
              </a:lnSpc>
            </a:pPr>
            <a:r>
              <a:rPr lang="vi-VN" dirty="0">
                <a:solidFill>
                  <a:srgbClr val="161B26"/>
                </a:solidFill>
                <a:latin typeface="Times New Roman" panose="02020603050405020304" pitchFamily="18" charset="0"/>
                <a:cs typeface="Times New Roman" panose="02020603050405020304" pitchFamily="18" charset="0"/>
              </a:rPr>
              <a:t>LLM có xu hướng nịnh nọt người dùng. Đây là một tính chất sinh ra do quá trình huấn luyện để làm hài lòng con người.</a:t>
            </a:r>
          </a:p>
          <a:p>
            <a:pPr>
              <a:lnSpc>
                <a:spcPct val="150000"/>
              </a:lnSpc>
            </a:pPr>
            <a:r>
              <a:rPr lang="en-US" dirty="0" err="1">
                <a:solidFill>
                  <a:srgbClr val="161B26"/>
                </a:solidFill>
                <a:latin typeface="Times New Roman" panose="02020603050405020304" pitchFamily="18" charset="0"/>
                <a:cs typeface="Times New Roman" panose="02020603050405020304" pitchFamily="18" charset="0"/>
              </a:rPr>
              <a:t>Khả</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năng</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Biến</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đổi</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thay</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vì</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Sáng</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tạo</a:t>
            </a:r>
            <a:r>
              <a:rPr lang="en-US" dirty="0">
                <a:solidFill>
                  <a:srgbClr val="161B26"/>
                </a:solidFill>
                <a:latin typeface="Times New Roman" panose="02020603050405020304" pitchFamily="18" charset="0"/>
                <a:cs typeface="Times New Roman" panose="02020603050405020304" pitchFamily="18" charset="0"/>
              </a:rPr>
              <a:t>"</a:t>
            </a:r>
          </a:p>
          <a:p>
            <a:pPr lvl="1">
              <a:lnSpc>
                <a:spcPct val="150000"/>
              </a:lnSpc>
            </a:pPr>
            <a:r>
              <a:rPr lang="vi-VN" dirty="0">
                <a:solidFill>
                  <a:srgbClr val="161B26"/>
                </a:solidFill>
                <a:latin typeface="Times New Roman" panose="02020603050405020304" pitchFamily="18" charset="0"/>
                <a:cs typeface="Times New Roman" panose="02020603050405020304" pitchFamily="18" charset="0"/>
              </a:rPr>
              <a:t>Nhiều người lầm tưởng LLM sáng tạo. Thực tế, chúng là những cỗ máy tái tổ hợp (remixer) vĩ đại.</a:t>
            </a:r>
            <a:endParaRPr lang="en-US" dirty="0">
              <a:solidFill>
                <a:srgbClr val="161B26"/>
              </a:solidFill>
              <a:latin typeface="Times New Roman" panose="02020603050405020304" pitchFamily="18" charset="0"/>
              <a:cs typeface="Times New Roman" panose="02020603050405020304" pitchFamily="18" charset="0"/>
            </a:endParaRPr>
          </a:p>
          <a:p>
            <a:pPr>
              <a:lnSpc>
                <a:spcPct val="150000"/>
              </a:lnSpc>
            </a:pPr>
            <a:r>
              <a:rPr lang="vi-VN" dirty="0">
                <a:solidFill>
                  <a:srgbClr val="161B26"/>
                </a:solidFill>
                <a:latin typeface="Times New Roman" panose="02020603050405020304" pitchFamily="18" charset="0"/>
                <a:cs typeface="Times New Roman" panose="02020603050405020304" pitchFamily="18" charset="0"/>
              </a:rPr>
              <a:t>Hiệu ứng "Cánh bướm" trong Prompt (Prompt Sensitivity)</a:t>
            </a:r>
          </a:p>
          <a:p>
            <a:pPr lvl="1">
              <a:lnSpc>
                <a:spcPct val="150000"/>
              </a:lnSpc>
            </a:pPr>
            <a:r>
              <a:rPr lang="en-US" dirty="0" err="1">
                <a:solidFill>
                  <a:srgbClr val="161B26"/>
                </a:solidFill>
                <a:latin typeface="Times New Roman" panose="02020603050405020304" pitchFamily="18" charset="0"/>
                <a:cs typeface="Times New Roman" panose="02020603050405020304" pitchFamily="18" charset="0"/>
              </a:rPr>
              <a:t>Thay</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đổi</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một</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từ</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trong</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câu</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lệnh</a:t>
            </a:r>
            <a:r>
              <a:rPr lang="en-US" dirty="0">
                <a:solidFill>
                  <a:srgbClr val="161B26"/>
                </a:solidFill>
                <a:latin typeface="Times New Roman" panose="02020603050405020304" pitchFamily="18" charset="0"/>
                <a:cs typeface="Times New Roman" panose="02020603050405020304" pitchFamily="18" charset="0"/>
              </a:rPr>
              <a:t> (prompt), </a:t>
            </a:r>
            <a:r>
              <a:rPr lang="en-US" dirty="0" err="1">
                <a:solidFill>
                  <a:srgbClr val="161B26"/>
                </a:solidFill>
                <a:latin typeface="Times New Roman" panose="02020603050405020304" pitchFamily="18" charset="0"/>
                <a:cs typeface="Times New Roman" panose="02020603050405020304" pitchFamily="18" charset="0"/>
              </a:rPr>
              <a:t>hoặc</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thậm</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chí</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thay</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đổi</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thứ</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tự</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các</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ví</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dụ</a:t>
            </a:r>
            <a:r>
              <a:rPr lang="en-US" dirty="0">
                <a:solidFill>
                  <a:srgbClr val="161B26"/>
                </a:solidFill>
                <a:latin typeface="Times New Roman" panose="02020603050405020304" pitchFamily="18" charset="0"/>
                <a:cs typeface="Times New Roman" panose="02020603050405020304" pitchFamily="18" charset="0"/>
              </a:rPr>
              <a:t> (few-shot prompting), </a:t>
            </a:r>
            <a:r>
              <a:rPr lang="en-US" dirty="0" err="1">
                <a:solidFill>
                  <a:srgbClr val="161B26"/>
                </a:solidFill>
                <a:latin typeface="Times New Roman" panose="02020603050405020304" pitchFamily="18" charset="0"/>
                <a:cs typeface="Times New Roman" panose="02020603050405020304" pitchFamily="18" charset="0"/>
              </a:rPr>
              <a:t>có</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thể</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dẫn</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đến</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kết</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quả</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đầu</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ra</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hoàn</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toàn</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khác</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biệt</a:t>
            </a:r>
            <a:r>
              <a:rPr lang="en-US" dirty="0">
                <a:solidFill>
                  <a:srgbClr val="161B26"/>
                </a:solidFill>
                <a:latin typeface="Times New Roman" panose="02020603050405020304" pitchFamily="18" charset="0"/>
                <a:cs typeface="Times New Roman" panose="02020603050405020304" pitchFamily="18" charset="0"/>
              </a:rPr>
              <a:t>.</a:t>
            </a:r>
          </a:p>
          <a:p>
            <a:pPr>
              <a:lnSpc>
                <a:spcPct val="150000"/>
              </a:lnSpc>
            </a:pPr>
            <a:r>
              <a:rPr lang="en-US" dirty="0" err="1">
                <a:solidFill>
                  <a:srgbClr val="161B26"/>
                </a:solidFill>
                <a:latin typeface="Times New Roman" panose="02020603050405020304" pitchFamily="18" charset="0"/>
                <a:cs typeface="Times New Roman" panose="02020603050405020304" pitchFamily="18" charset="0"/>
              </a:rPr>
              <a:t>Cửa</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sổ</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ngữ</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cảnh</a:t>
            </a:r>
            <a:r>
              <a:rPr lang="en-US" dirty="0">
                <a:solidFill>
                  <a:srgbClr val="161B26"/>
                </a:solidFill>
                <a:latin typeface="Times New Roman" panose="02020603050405020304" pitchFamily="18" charset="0"/>
                <a:cs typeface="Times New Roman" panose="02020603050405020304" pitchFamily="18" charset="0"/>
              </a:rPr>
              <a:t> (Context Window) </a:t>
            </a:r>
            <a:r>
              <a:rPr lang="en-US" dirty="0" err="1">
                <a:solidFill>
                  <a:srgbClr val="161B26"/>
                </a:solidFill>
                <a:latin typeface="Times New Roman" panose="02020603050405020304" pitchFamily="18" charset="0"/>
                <a:cs typeface="Times New Roman" panose="02020603050405020304" pitchFamily="18" charset="0"/>
              </a:rPr>
              <a:t>và</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Trí</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nhớ</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cá</a:t>
            </a:r>
            <a:r>
              <a:rPr lang="en-US" dirty="0">
                <a:solidFill>
                  <a:srgbClr val="161B26"/>
                </a:solidFill>
                <a:latin typeface="Times New Roman" panose="02020603050405020304" pitchFamily="18" charset="0"/>
                <a:cs typeface="Times New Roman" panose="02020603050405020304" pitchFamily="18" charset="0"/>
              </a:rPr>
              <a:t> </a:t>
            </a:r>
            <a:r>
              <a:rPr lang="en-US" dirty="0" err="1">
                <a:solidFill>
                  <a:srgbClr val="161B26"/>
                </a:solidFill>
                <a:latin typeface="Times New Roman" panose="02020603050405020304" pitchFamily="18" charset="0"/>
                <a:cs typeface="Times New Roman" panose="02020603050405020304" pitchFamily="18" charset="0"/>
              </a:rPr>
              <a:t>vàng</a:t>
            </a:r>
            <a:r>
              <a:rPr lang="en-US" dirty="0">
                <a:solidFill>
                  <a:srgbClr val="161B26"/>
                </a:solidFill>
                <a:latin typeface="Times New Roman" panose="02020603050405020304" pitchFamily="18" charset="0"/>
                <a:cs typeface="Times New Roman" panose="02020603050405020304" pitchFamily="18" charset="0"/>
              </a:rPr>
              <a:t>"</a:t>
            </a:r>
          </a:p>
          <a:p>
            <a:pPr lvl="1">
              <a:lnSpc>
                <a:spcPct val="150000"/>
              </a:lnSpc>
            </a:pPr>
            <a:r>
              <a:rPr lang="vi-VN" dirty="0">
                <a:solidFill>
                  <a:srgbClr val="161B26"/>
                </a:solidFill>
                <a:latin typeface="Times New Roman" panose="02020603050405020304" pitchFamily="18" charset="0"/>
                <a:cs typeface="Times New Roman" panose="02020603050405020304" pitchFamily="18" charset="0"/>
              </a:rPr>
              <a:t>Chúng thường nhớ rất tốt thông tin ở đầu và ở cuối đoạn văn bản dài, nhưng lại hay "quên" hoặc bỏ qua các chi tiết nằm ở khúc giữa.</a:t>
            </a:r>
            <a:endParaRPr lang="en-US" dirty="0">
              <a:solidFill>
                <a:srgbClr val="161B26"/>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AFDBE69-1EFD-AC10-F276-E258DD92361D}"/>
              </a:ext>
            </a:extLst>
          </p:cNvPr>
          <p:cNvSpPr>
            <a:spLocks noGrp="1"/>
          </p:cNvSpPr>
          <p:nvPr>
            <p:ph type="sldNum" sz="quarter" idx="12"/>
          </p:nvPr>
        </p:nvSpPr>
        <p:spPr/>
        <p:txBody>
          <a:bodyPr/>
          <a:lstStyle/>
          <a:p>
            <a:fld id="{32C01A72-EF70-FE45-A48F-AE9060BA8856}" type="slidenum">
              <a:rPr lang="en-US" smtClean="0"/>
              <a:t>28</a:t>
            </a:fld>
            <a:endParaRPr lang="en-US"/>
          </a:p>
        </p:txBody>
      </p:sp>
    </p:spTree>
    <p:extLst>
      <p:ext uri="{BB962C8B-B14F-4D97-AF65-F5344CB8AC3E}">
        <p14:creationId xmlns:p14="http://schemas.microsoft.com/office/powerpoint/2010/main" val="11370107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6EA441-D676-2664-8D8B-EB7817F37805}"/>
              </a:ext>
            </a:extLst>
          </p:cNvPr>
          <p:cNvSpPr>
            <a:spLocks noGrp="1"/>
          </p:cNvSpPr>
          <p:nvPr>
            <p:ph type="title"/>
          </p:nvPr>
        </p:nvSpPr>
        <p:spPr/>
        <p:txBody>
          <a:bodyPr>
            <a:normAutofit/>
          </a:bodyPr>
          <a:lstStyle/>
          <a:p>
            <a:r>
              <a:rPr lang="en-US" sz="4800" dirty="0" err="1"/>
              <a:t>Kỹ</a:t>
            </a:r>
            <a:r>
              <a:rPr lang="en-US" sz="4800" dirty="0"/>
              <a:t> </a:t>
            </a:r>
            <a:r>
              <a:rPr lang="en-US" sz="4800" dirty="0" err="1"/>
              <a:t>thuật</a:t>
            </a:r>
            <a:r>
              <a:rPr lang="en-US" sz="4800" dirty="0"/>
              <a:t> </a:t>
            </a:r>
            <a:r>
              <a:rPr lang="en-US" sz="4800" dirty="0" err="1"/>
              <a:t>viết</a:t>
            </a:r>
            <a:r>
              <a:rPr lang="en-US" sz="4800" dirty="0"/>
              <a:t> </a:t>
            </a:r>
            <a:r>
              <a:rPr lang="en-US" sz="4800" dirty="0" err="1"/>
              <a:t>lệnh</a:t>
            </a:r>
            <a:r>
              <a:rPr lang="en-US" sz="4800" dirty="0"/>
              <a:t> </a:t>
            </a:r>
            <a:r>
              <a:rPr lang="en-US" sz="4800" dirty="0" err="1"/>
              <a:t>cho</a:t>
            </a:r>
            <a:r>
              <a:rPr lang="en-US" sz="4800" dirty="0"/>
              <a:t> AI</a:t>
            </a:r>
            <a:br>
              <a:rPr lang="en-US" sz="4800" dirty="0"/>
            </a:br>
            <a:r>
              <a:rPr lang="en-US" sz="4800" dirty="0"/>
              <a:t>(Prompt Engineering)</a:t>
            </a:r>
          </a:p>
        </p:txBody>
      </p:sp>
      <p:sp>
        <p:nvSpPr>
          <p:cNvPr id="4" name="Text Placeholder 3">
            <a:extLst>
              <a:ext uri="{FF2B5EF4-FFF2-40B4-BE49-F238E27FC236}">
                <a16:creationId xmlns:a16="http://schemas.microsoft.com/office/drawing/2014/main" id="{57210E16-957B-E5A0-95C6-66FE3B1454C9}"/>
              </a:ext>
            </a:extLst>
          </p:cNvPr>
          <p:cNvSpPr>
            <a:spLocks noGrp="1"/>
          </p:cNvSpPr>
          <p:nvPr>
            <p:ph type="body" idx="1"/>
          </p:nvPr>
        </p:nvSpPr>
        <p:spPr/>
        <p:txBody>
          <a:bodyPr/>
          <a:lstStyle/>
          <a:p>
            <a:endParaRPr lang="en-US"/>
          </a:p>
        </p:txBody>
      </p:sp>
      <p:sp>
        <p:nvSpPr>
          <p:cNvPr id="2" name="Slide Number Placeholder 1">
            <a:extLst>
              <a:ext uri="{FF2B5EF4-FFF2-40B4-BE49-F238E27FC236}">
                <a16:creationId xmlns:a16="http://schemas.microsoft.com/office/drawing/2014/main" id="{6F46AE01-69EF-2E3F-716C-C219B62EC009}"/>
              </a:ext>
            </a:extLst>
          </p:cNvPr>
          <p:cNvSpPr>
            <a:spLocks noGrp="1"/>
          </p:cNvSpPr>
          <p:nvPr>
            <p:ph type="sldNum"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4293841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61918-AB05-0FDD-B5EB-BA820D882287}"/>
              </a:ext>
            </a:extLst>
          </p:cNvPr>
          <p:cNvSpPr>
            <a:spLocks noGrp="1"/>
          </p:cNvSpPr>
          <p:nvPr>
            <p:ph type="title"/>
          </p:nvPr>
        </p:nvSpPr>
        <p:spPr/>
        <p:txBody>
          <a:bodyPr>
            <a:normAutofit fontScale="90000"/>
          </a:bodyPr>
          <a:lstStyle/>
          <a:p>
            <a:r>
              <a:rPr lang="en-US" dirty="0" err="1">
                <a:solidFill>
                  <a:srgbClr val="2E75B5"/>
                </a:solidFill>
              </a:rPr>
              <a:t>Kỹ</a:t>
            </a:r>
            <a:r>
              <a:rPr lang="en-US" dirty="0">
                <a:solidFill>
                  <a:srgbClr val="2E75B5"/>
                </a:solidFill>
              </a:rPr>
              <a:t> </a:t>
            </a:r>
            <a:r>
              <a:rPr lang="en-US" dirty="0" err="1">
                <a:solidFill>
                  <a:srgbClr val="2E75B5"/>
                </a:solidFill>
              </a:rPr>
              <a:t>thuật</a:t>
            </a:r>
            <a:r>
              <a:rPr lang="en-US" dirty="0">
                <a:solidFill>
                  <a:srgbClr val="2E75B5"/>
                </a:solidFill>
              </a:rPr>
              <a:t> </a:t>
            </a:r>
            <a:r>
              <a:rPr lang="en-US" dirty="0" err="1">
                <a:solidFill>
                  <a:srgbClr val="2E75B5"/>
                </a:solidFill>
              </a:rPr>
              <a:t>viết</a:t>
            </a:r>
            <a:r>
              <a:rPr lang="en-US" dirty="0">
                <a:solidFill>
                  <a:srgbClr val="2E75B5"/>
                </a:solidFill>
              </a:rPr>
              <a:t> Prompt (Prompt Engineering)</a:t>
            </a:r>
          </a:p>
        </p:txBody>
      </p:sp>
      <p:sp>
        <p:nvSpPr>
          <p:cNvPr id="4" name="Slide Number Placeholder 3">
            <a:extLst>
              <a:ext uri="{FF2B5EF4-FFF2-40B4-BE49-F238E27FC236}">
                <a16:creationId xmlns:a16="http://schemas.microsoft.com/office/drawing/2014/main" id="{7C54D7D9-5AAD-AA0F-BE91-448F85AA74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pic>
        <p:nvPicPr>
          <p:cNvPr id="5" name="Picture 4">
            <a:extLst>
              <a:ext uri="{FF2B5EF4-FFF2-40B4-BE49-F238E27FC236}">
                <a16:creationId xmlns:a16="http://schemas.microsoft.com/office/drawing/2014/main" id="{42E9F441-2C59-043A-150F-52D825FB091E}"/>
              </a:ext>
            </a:extLst>
          </p:cNvPr>
          <p:cNvPicPr>
            <a:picLocks noChangeAspect="1"/>
          </p:cNvPicPr>
          <p:nvPr/>
        </p:nvPicPr>
        <p:blipFill>
          <a:blip r:embed="rId2"/>
          <a:stretch>
            <a:fillRect/>
          </a:stretch>
        </p:blipFill>
        <p:spPr>
          <a:xfrm>
            <a:off x="3969153" y="1443853"/>
            <a:ext cx="7772400" cy="4239491"/>
          </a:xfrm>
          <a:prstGeom prst="rect">
            <a:avLst/>
          </a:prstGeom>
        </p:spPr>
      </p:pic>
      <p:grpSp>
        <p:nvGrpSpPr>
          <p:cNvPr id="6" name="Group 5">
            <a:extLst>
              <a:ext uri="{FF2B5EF4-FFF2-40B4-BE49-F238E27FC236}">
                <a16:creationId xmlns:a16="http://schemas.microsoft.com/office/drawing/2014/main" id="{021F9DBD-713F-25CF-950A-88E204CDB132}"/>
              </a:ext>
            </a:extLst>
          </p:cNvPr>
          <p:cNvGrpSpPr/>
          <p:nvPr/>
        </p:nvGrpSpPr>
        <p:grpSpPr>
          <a:xfrm>
            <a:off x="778399" y="2367065"/>
            <a:ext cx="3190754" cy="2577732"/>
            <a:chOff x="778399" y="2367065"/>
            <a:chExt cx="3190754" cy="2577732"/>
          </a:xfrm>
        </p:grpSpPr>
        <p:pic>
          <p:nvPicPr>
            <p:cNvPr id="7" name="Picture 2" descr="Be Different Outstanding, Person, Cartoon, Guy PNG Transparent Image and  Clipart for Free Download">
              <a:extLst>
                <a:ext uri="{FF2B5EF4-FFF2-40B4-BE49-F238E27FC236}">
                  <a16:creationId xmlns:a16="http://schemas.microsoft.com/office/drawing/2014/main" id="{1A893E3C-BFC0-C9B4-D0BB-C4EC4DCEB1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399" y="2367065"/>
              <a:ext cx="3190754" cy="239306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CFC8B99-362F-05FB-952E-275D813CEDDE}"/>
                </a:ext>
              </a:extLst>
            </p:cNvPr>
            <p:cNvSpPr txBox="1"/>
            <p:nvPr/>
          </p:nvSpPr>
          <p:spPr>
            <a:xfrm>
              <a:off x="1573012" y="4575465"/>
              <a:ext cx="1632691" cy="369332"/>
            </a:xfrm>
            <a:prstGeom prst="rect">
              <a:avLst/>
            </a:prstGeom>
            <a:noFill/>
          </p:spPr>
          <p:txBody>
            <a:bodyPr wrap="none" rtlCol="0">
              <a:spAutoFit/>
            </a:bodyPr>
            <a:lstStyle/>
            <a:p>
              <a:r>
                <a:rPr lang="en-US" b="1" dirty="0">
                  <a:solidFill>
                    <a:srgbClr val="375EB1"/>
                  </a:solidFill>
                </a:rPr>
                <a:t>Prompt Master</a:t>
              </a:r>
            </a:p>
          </p:txBody>
        </p:sp>
      </p:grpSp>
    </p:spTree>
    <p:extLst>
      <p:ext uri="{BB962C8B-B14F-4D97-AF65-F5344CB8AC3E}">
        <p14:creationId xmlns:p14="http://schemas.microsoft.com/office/powerpoint/2010/main" val="288053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02B49-F5E0-C231-CE7F-72A95280331A}"/>
              </a:ext>
            </a:extLst>
          </p:cNvPr>
          <p:cNvSpPr>
            <a:spLocks noGrp="1"/>
          </p:cNvSpPr>
          <p:nvPr>
            <p:ph type="title"/>
          </p:nvPr>
        </p:nvSpPr>
        <p:spPr/>
        <p:txBody>
          <a:bodyPr/>
          <a:lstStyle/>
          <a:p>
            <a:r>
              <a:rPr lang="en-US" dirty="0" err="1">
                <a:solidFill>
                  <a:srgbClr val="2E75B5"/>
                </a:solidFill>
              </a:rPr>
              <a:t>Một</a:t>
            </a:r>
            <a:r>
              <a:rPr lang="en-US" dirty="0">
                <a:solidFill>
                  <a:srgbClr val="2E75B5"/>
                </a:solidFill>
              </a:rPr>
              <a:t> </a:t>
            </a:r>
            <a:r>
              <a:rPr lang="en-US" dirty="0" err="1">
                <a:solidFill>
                  <a:srgbClr val="2E75B5"/>
                </a:solidFill>
              </a:rPr>
              <a:t>số</a:t>
            </a:r>
            <a:r>
              <a:rPr lang="en-US" dirty="0">
                <a:solidFill>
                  <a:srgbClr val="2E75B5"/>
                </a:solidFill>
              </a:rPr>
              <a:t> </a:t>
            </a:r>
            <a:r>
              <a:rPr lang="en-US" dirty="0" err="1">
                <a:solidFill>
                  <a:srgbClr val="2E75B5"/>
                </a:solidFill>
              </a:rPr>
              <a:t>kỹ</a:t>
            </a:r>
            <a:r>
              <a:rPr lang="en-US" dirty="0">
                <a:solidFill>
                  <a:srgbClr val="2E75B5"/>
                </a:solidFill>
              </a:rPr>
              <a:t> </a:t>
            </a:r>
            <a:r>
              <a:rPr lang="en-US" dirty="0" err="1">
                <a:solidFill>
                  <a:srgbClr val="2E75B5"/>
                </a:solidFill>
              </a:rPr>
              <a:t>thuật</a:t>
            </a:r>
            <a:r>
              <a:rPr lang="en-US" dirty="0">
                <a:solidFill>
                  <a:srgbClr val="2E75B5"/>
                </a:solidFill>
              </a:rPr>
              <a:t> </a:t>
            </a:r>
            <a:r>
              <a:rPr lang="en-US" dirty="0" err="1">
                <a:solidFill>
                  <a:srgbClr val="2E75B5"/>
                </a:solidFill>
              </a:rPr>
              <a:t>viết</a:t>
            </a:r>
            <a:r>
              <a:rPr lang="en-US" dirty="0">
                <a:solidFill>
                  <a:srgbClr val="2E75B5"/>
                </a:solidFill>
              </a:rPr>
              <a:t> prompt</a:t>
            </a:r>
          </a:p>
        </p:txBody>
      </p:sp>
      <p:sp>
        <p:nvSpPr>
          <p:cNvPr id="3" name="Text Placeholder 2">
            <a:extLst>
              <a:ext uri="{FF2B5EF4-FFF2-40B4-BE49-F238E27FC236}">
                <a16:creationId xmlns:a16="http://schemas.microsoft.com/office/drawing/2014/main" id="{7CB78178-C6E9-27E3-D101-0758B210529B}"/>
              </a:ext>
            </a:extLst>
          </p:cNvPr>
          <p:cNvSpPr>
            <a:spLocks noGrp="1"/>
          </p:cNvSpPr>
          <p:nvPr>
            <p:ph type="body" idx="1"/>
          </p:nvPr>
        </p:nvSpPr>
        <p:spPr/>
        <p:txBody>
          <a:bodyPr>
            <a:normAutofit fontScale="70000" lnSpcReduction="20000"/>
          </a:bodyPr>
          <a:lstStyle/>
          <a:p>
            <a:pPr>
              <a:lnSpc>
                <a:spcPct val="160000"/>
              </a:lnSpc>
            </a:pPr>
            <a:r>
              <a:rPr lang="vi-VN" b="1" dirty="0">
                <a:solidFill>
                  <a:srgbClr val="161B26"/>
                </a:solidFill>
              </a:rPr>
              <a:t>Kỹ thuật Few-shot</a:t>
            </a:r>
            <a:r>
              <a:rPr lang="vi-VN" dirty="0">
                <a:solidFill>
                  <a:srgbClr val="161B26"/>
                </a:solidFill>
              </a:rPr>
              <a:t>: cho ví dụ cụ thể hoặc tương tự để AI có thể tham chiếu và trả lời.</a:t>
            </a:r>
          </a:p>
          <a:p>
            <a:pPr>
              <a:lnSpc>
                <a:spcPct val="160000"/>
              </a:lnSpc>
            </a:pPr>
            <a:r>
              <a:rPr lang="vi-VN" b="1" dirty="0">
                <a:solidFill>
                  <a:srgbClr val="161B26"/>
                </a:solidFill>
              </a:rPr>
              <a:t>Persona (nhập vai)</a:t>
            </a:r>
            <a:r>
              <a:rPr lang="vi-VN" dirty="0">
                <a:solidFill>
                  <a:srgbClr val="161B26"/>
                </a:solidFill>
              </a:rPr>
              <a:t>: gán cho AI một nhân cách (nhập vai) để trả lời theo đúng vai trò (nhà giáo, nhà báo, nhà thơ, nhà khoa học, diễn viên, ...)</a:t>
            </a:r>
          </a:p>
          <a:p>
            <a:pPr>
              <a:lnSpc>
                <a:spcPct val="160000"/>
              </a:lnSpc>
            </a:pPr>
            <a:r>
              <a:rPr lang="vi-VN" b="1" dirty="0">
                <a:solidFill>
                  <a:srgbClr val="161B26"/>
                </a:solidFill>
              </a:rPr>
              <a:t>Chain of Thought (Chuỗi suy luận)</a:t>
            </a:r>
            <a:r>
              <a:rPr lang="vi-VN" dirty="0">
                <a:solidFill>
                  <a:srgbClr val="161B26"/>
                </a:solidFill>
              </a:rPr>
              <a:t>: Cho các bước giải quyết vấn đề để AI có thể làm theo đúng thứ tự.</a:t>
            </a:r>
          </a:p>
          <a:p>
            <a:pPr>
              <a:lnSpc>
                <a:spcPct val="160000"/>
              </a:lnSpc>
            </a:pPr>
            <a:r>
              <a:rPr lang="vi-VN" b="1" dirty="0">
                <a:solidFill>
                  <a:srgbClr val="161B26"/>
                </a:solidFill>
              </a:rPr>
              <a:t>Format (ràng buộc kết quả)</a:t>
            </a:r>
            <a:r>
              <a:rPr lang="vi-VN" dirty="0">
                <a:solidFill>
                  <a:srgbClr val="161B26"/>
                </a:solidFill>
              </a:rPr>
              <a:t>: Đưa ra yêu cầu rõ ràng, cụ thể (độ dài, văn bản, bảng biểu, ...) để AI trả lời đúng theo nhu cầu.</a:t>
            </a:r>
          </a:p>
          <a:p>
            <a:pPr>
              <a:lnSpc>
                <a:spcPct val="160000"/>
              </a:lnSpc>
            </a:pPr>
            <a:r>
              <a:rPr lang="vi-VN" b="1">
                <a:solidFill>
                  <a:srgbClr val="161B26"/>
                </a:solidFill>
              </a:rPr>
              <a:t>Kỹ thuật Đảo ngược (Reverse Engineering)</a:t>
            </a:r>
            <a:r>
              <a:rPr lang="vi-VN">
                <a:solidFill>
                  <a:srgbClr val="161B26"/>
                </a:solidFill>
              </a:rPr>
              <a:t>: Yêu cầu AI tạo prompt từ ví dụ có sẵn.</a:t>
            </a:r>
          </a:p>
        </p:txBody>
      </p:sp>
      <p:sp>
        <p:nvSpPr>
          <p:cNvPr id="4" name="Slide Number Placeholder 3">
            <a:extLst>
              <a:ext uri="{FF2B5EF4-FFF2-40B4-BE49-F238E27FC236}">
                <a16:creationId xmlns:a16="http://schemas.microsoft.com/office/drawing/2014/main" id="{023BB292-5B00-56EA-EDBA-4CD8A2DB9A1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extLst>
      <p:ext uri="{BB962C8B-B14F-4D97-AF65-F5344CB8AC3E}">
        <p14:creationId xmlns:p14="http://schemas.microsoft.com/office/powerpoint/2010/main" val="3498115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2AE36-2EA0-24CA-E1E8-6BC55BD3F66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14B7D6B-3F6B-973F-C582-4FBB9D8697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B5DC35-88DE-BB16-6FD0-727FF208AB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extLst>
      <p:ext uri="{BB962C8B-B14F-4D97-AF65-F5344CB8AC3E}">
        <p14:creationId xmlns:p14="http://schemas.microsoft.com/office/powerpoint/2010/main" val="1464534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9"/>
        <p:cNvGrpSpPr/>
        <p:nvPr/>
      </p:nvGrpSpPr>
      <p:grpSpPr>
        <a:xfrm>
          <a:off x="0" y="0"/>
          <a:ext cx="0" cy="0"/>
          <a:chOff x="0" y="0"/>
          <a:chExt cx="0" cy="0"/>
        </a:xfrm>
      </p:grpSpPr>
      <p:sp>
        <p:nvSpPr>
          <p:cNvPr id="421" name="Google Shape;421;p27"/>
          <p:cNvSpPr/>
          <p:nvPr/>
        </p:nvSpPr>
        <p:spPr>
          <a:xfrm>
            <a:off x="0" y="5320142"/>
            <a:ext cx="12192000" cy="736551"/>
          </a:xfrm>
          <a:prstGeom prst="rect">
            <a:avLst/>
          </a:prstGeom>
          <a:solidFill>
            <a:schemeClr val="lt1">
              <a:alpha val="9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424" name="Google Shape;424;p27"/>
          <p:cNvCxnSpPr/>
          <p:nvPr/>
        </p:nvCxnSpPr>
        <p:spPr>
          <a:xfrm>
            <a:off x="0" y="6134852"/>
            <a:ext cx="12192000" cy="0"/>
          </a:xfrm>
          <a:prstGeom prst="straightConnector1">
            <a:avLst/>
          </a:prstGeom>
          <a:noFill/>
          <a:ln w="41275" cap="flat" cmpd="sng">
            <a:solidFill>
              <a:schemeClr val="lt1">
                <a:alpha val="89803"/>
              </a:schemeClr>
            </a:solidFill>
            <a:prstDash val="solid"/>
            <a:miter lim="800000"/>
            <a:headEnd type="none" w="sm" len="sm"/>
            <a:tailEnd type="none" w="sm" len="sm"/>
          </a:ln>
        </p:spPr>
      </p:cxnSp>
      <p:sp>
        <p:nvSpPr>
          <p:cNvPr id="3" name="Title 2">
            <a:extLst>
              <a:ext uri="{FF2B5EF4-FFF2-40B4-BE49-F238E27FC236}">
                <a16:creationId xmlns:a16="http://schemas.microsoft.com/office/drawing/2014/main" id="{E95848CB-ACA0-AF59-1822-F26858320DC1}"/>
              </a:ext>
            </a:extLst>
          </p:cNvPr>
          <p:cNvSpPr>
            <a:spLocks noGrp="1"/>
          </p:cNvSpPr>
          <p:nvPr>
            <p:ph type="title"/>
          </p:nvPr>
        </p:nvSpPr>
        <p:spPr/>
        <p:txBody>
          <a:bodyPr/>
          <a:lstStyle/>
          <a:p>
            <a:r>
              <a:rPr lang="en-US" dirty="0">
                <a:solidFill>
                  <a:srgbClr val="2E75B5"/>
                </a:solidFill>
              </a:rPr>
              <a:t>Prompt Engineering: Best Practice</a:t>
            </a:r>
          </a:p>
        </p:txBody>
      </p:sp>
      <p:sp>
        <p:nvSpPr>
          <p:cNvPr id="2" name="Text Placeholder 1">
            <a:extLst>
              <a:ext uri="{FF2B5EF4-FFF2-40B4-BE49-F238E27FC236}">
                <a16:creationId xmlns:a16="http://schemas.microsoft.com/office/drawing/2014/main" id="{97FE1783-05E4-90C0-4CAD-86B2836E7BB1}"/>
              </a:ext>
            </a:extLst>
          </p:cNvPr>
          <p:cNvSpPr>
            <a:spLocks noGrp="1"/>
          </p:cNvSpPr>
          <p:nvPr>
            <p:ph type="body" idx="1"/>
          </p:nvPr>
        </p:nvSpPr>
        <p:spPr/>
        <p:txBody>
          <a:bodyPr>
            <a:normAutofit/>
          </a:bodyPr>
          <a:lstStyle/>
          <a:p>
            <a:pPr>
              <a:lnSpc>
                <a:spcPct val="150000"/>
              </a:lnSpc>
            </a:pPr>
            <a:r>
              <a:rPr lang="vi-VN" dirty="0">
                <a:solidFill>
                  <a:srgbClr val="161B26"/>
                </a:solidFill>
              </a:rPr>
              <a:t>RCTF: Viết Prompt chi tiết và cung cấp đủ: </a:t>
            </a:r>
            <a:r>
              <a:rPr lang="vi-VN" b="1" dirty="0">
                <a:solidFill>
                  <a:srgbClr val="161B26"/>
                </a:solidFill>
              </a:rPr>
              <a:t>Vai trò</a:t>
            </a:r>
            <a:r>
              <a:rPr lang="vi-VN" dirty="0">
                <a:solidFill>
                  <a:srgbClr val="161B26"/>
                </a:solidFill>
              </a:rPr>
              <a:t> (Role), </a:t>
            </a:r>
            <a:r>
              <a:rPr lang="vi-VN" b="1" dirty="0">
                <a:solidFill>
                  <a:srgbClr val="161B26"/>
                </a:solidFill>
              </a:rPr>
              <a:t>Bối cảnh </a:t>
            </a:r>
            <a:r>
              <a:rPr lang="vi-VN" dirty="0">
                <a:solidFill>
                  <a:srgbClr val="161B26"/>
                </a:solidFill>
              </a:rPr>
              <a:t>(Context), </a:t>
            </a:r>
            <a:r>
              <a:rPr lang="vi-VN" b="1" dirty="0">
                <a:solidFill>
                  <a:srgbClr val="161B26"/>
                </a:solidFill>
              </a:rPr>
              <a:t>Nhiệm vụ</a:t>
            </a:r>
            <a:r>
              <a:rPr lang="vi-VN" dirty="0">
                <a:solidFill>
                  <a:srgbClr val="161B26"/>
                </a:solidFill>
              </a:rPr>
              <a:t> (Task) và </a:t>
            </a:r>
            <a:r>
              <a:rPr lang="vi-VN" b="1" dirty="0">
                <a:solidFill>
                  <a:srgbClr val="161B26"/>
                </a:solidFill>
              </a:rPr>
              <a:t>Mục tiêu đầu ra</a:t>
            </a:r>
            <a:r>
              <a:rPr lang="vi-VN" dirty="0">
                <a:solidFill>
                  <a:srgbClr val="161B26"/>
                </a:solidFill>
              </a:rPr>
              <a:t> (Format)</a:t>
            </a:r>
          </a:p>
          <a:p>
            <a:pPr>
              <a:lnSpc>
                <a:spcPct val="150000"/>
              </a:lnSpc>
            </a:pPr>
            <a:r>
              <a:rPr lang="vi-VN" dirty="0">
                <a:solidFill>
                  <a:srgbClr val="161B26"/>
                </a:solidFill>
              </a:rPr>
              <a:t>Thay đổi và tùy chỉnh prompt nhiều lần cho tới khi đạt kết quả mong muốn.</a:t>
            </a:r>
          </a:p>
          <a:p>
            <a:pPr>
              <a:lnSpc>
                <a:spcPct val="150000"/>
              </a:lnSpc>
            </a:pPr>
            <a:r>
              <a:rPr lang="vi-VN" dirty="0">
                <a:solidFill>
                  <a:srgbClr val="161B26"/>
                </a:solidFill>
              </a:rPr>
              <a:t>Lưu và tái sử dụng prompt tốt</a:t>
            </a:r>
          </a:p>
        </p:txBody>
      </p:sp>
      <p:sp>
        <p:nvSpPr>
          <p:cNvPr id="425" name="Google Shape;425;p27"/>
          <p:cNvSpPr txBox="1">
            <a:spLocks noGrp="1"/>
          </p:cNvSpPr>
          <p:nvPr>
            <p:ph type="sldNum" idx="12"/>
          </p:nvPr>
        </p:nvSpPr>
        <p:spPr>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solidFill>
                  <a:srgbClr val="FFFFFF"/>
                </a:solidFill>
              </a:rPr>
              <a:t>33</a:t>
            </a:fld>
            <a:endParaRPr>
              <a:solidFill>
                <a:srgbClr val="FFFF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2241C-814F-E412-7AB8-28A691FF5C57}"/>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01C8EE62-646A-6BE8-E11A-8724312F4C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995296-9512-2DC1-C36C-78C074F409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extLst>
      <p:ext uri="{BB962C8B-B14F-4D97-AF65-F5344CB8AC3E}">
        <p14:creationId xmlns:p14="http://schemas.microsoft.com/office/powerpoint/2010/main" val="226906878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ơn sốt AI Agent">
  <a:themeElements>
    <a:clrScheme name="Cơn sốt AI Agent">
      <a:dk1>
        <a:srgbClr val="121620"/>
      </a:dk1>
      <a:lt1>
        <a:srgbClr val="F3EFE6"/>
      </a:lt1>
      <a:dk2>
        <a:srgbClr val="292C34"/>
      </a:dk2>
      <a:lt2>
        <a:srgbClr val="BBB9B5"/>
      </a:lt2>
      <a:accent1>
        <a:srgbClr val="F2A541"/>
      </a:accent1>
      <a:accent2>
        <a:srgbClr val="A3561A"/>
      </a:accent2>
      <a:accent3>
        <a:srgbClr val="8C96A8"/>
      </a:accent3>
      <a:accent4>
        <a:srgbClr val="A9B2C3"/>
      </a:accent4>
      <a:accent5>
        <a:srgbClr val="9AA0A6"/>
      </a:accent5>
      <a:accent6>
        <a:srgbClr val="999897"/>
      </a:accent6>
      <a:hlink>
        <a:srgbClr val="0563C1"/>
      </a:hlink>
      <a:folHlink>
        <a:srgbClr val="954F72"/>
      </a:folHlink>
    </a:clrScheme>
    <a:fontScheme name="Cơn sốt AI Agen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Cơn sốt AI Agent">
  <a:themeElements>
    <a:clrScheme name="Cơn sốt AI Agent">
      <a:dk1>
        <a:srgbClr val="121620"/>
      </a:dk1>
      <a:lt1>
        <a:srgbClr val="F3EFE6"/>
      </a:lt1>
      <a:dk2>
        <a:srgbClr val="292C34"/>
      </a:dk2>
      <a:lt2>
        <a:srgbClr val="BBB9B5"/>
      </a:lt2>
      <a:accent1>
        <a:srgbClr val="F2A541"/>
      </a:accent1>
      <a:accent2>
        <a:srgbClr val="A3561A"/>
      </a:accent2>
      <a:accent3>
        <a:srgbClr val="B9803A"/>
      </a:accent3>
      <a:accent4>
        <a:srgbClr val="A9B2C3"/>
      </a:accent4>
      <a:accent5>
        <a:srgbClr val="8C96A8"/>
      </a:accent5>
      <a:accent6>
        <a:srgbClr val="4A5568"/>
      </a:accent6>
      <a:hlink>
        <a:srgbClr val="0563C1"/>
      </a:hlink>
      <a:folHlink>
        <a:srgbClr val="954F72"/>
      </a:folHlink>
    </a:clrScheme>
    <a:fontScheme name="Cơn sốt AI Agen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2_Cơn sốt AI Agent">
  <a:themeElements>
    <a:clrScheme name="Cơn sốt AI Agent">
      <a:dk1>
        <a:srgbClr val="161B26"/>
      </a:dk1>
      <a:lt1>
        <a:srgbClr val="F6F3EC"/>
      </a:lt1>
      <a:dk2>
        <a:srgbClr val="4E5158"/>
      </a:dk2>
      <a:lt2>
        <a:srgbClr val="E0DDD8"/>
      </a:lt2>
      <a:accent1>
        <a:srgbClr val="F2A541"/>
      </a:accent1>
      <a:accent2>
        <a:srgbClr val="A3561A"/>
      </a:accent2>
      <a:accent3>
        <a:srgbClr val="7A3F12"/>
      </a:accent3>
      <a:accent4>
        <a:srgbClr val="B9803A"/>
      </a:accent4>
      <a:accent5>
        <a:srgbClr val="A9B2C3"/>
      </a:accent5>
      <a:accent6>
        <a:srgbClr val="4A5263"/>
      </a:accent6>
      <a:hlink>
        <a:srgbClr val="0563C1"/>
      </a:hlink>
      <a:folHlink>
        <a:srgbClr val="954F72"/>
      </a:folHlink>
    </a:clrScheme>
    <a:fontScheme name="Cơn sốt AI Ag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6411</TotalTime>
  <Words>3613</Words>
  <Application>Microsoft Macintosh PowerPoint</Application>
  <PresentationFormat>Widescreen</PresentationFormat>
  <Paragraphs>224</Paragraphs>
  <Slides>34</Slides>
  <Notes>10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34</vt:i4>
      </vt:variant>
    </vt:vector>
  </HeadingPairs>
  <TitlesOfParts>
    <vt:vector size="43" baseType="lpstr">
      <vt:lpstr>Century</vt:lpstr>
      <vt:lpstr>Arial</vt:lpstr>
      <vt:lpstr>Times New Roman</vt:lpstr>
      <vt:lpstr>Georgia</vt:lpstr>
      <vt:lpstr>Calibri</vt:lpstr>
      <vt:lpstr>Office Theme</vt:lpstr>
      <vt:lpstr>Cơn sốt AI Agent</vt:lpstr>
      <vt:lpstr>1_Cơn sốt AI Agent</vt:lpstr>
      <vt:lpstr>2_Cơn sốt AI Agent</vt:lpstr>
      <vt:lpstr>PowerPoint Presentation</vt:lpstr>
      <vt:lpstr>Agentic Bioinformatics in Practice: From Raw Data to Biological Insight with AI Agents </vt:lpstr>
      <vt:lpstr>Nội dung</vt:lpstr>
      <vt:lpstr>Cơn sốt AI phủ sóng mọi kênh truyền thông</vt:lpstr>
      <vt:lpstr>AI Agent bùng nổ trên PubMed</vt:lpstr>
      <vt:lpstr>Từ trợ lý đến “nhà khoa học AI”</vt:lpstr>
      <vt:lpstr>Kỳ vọng gì?</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Những hạn chế do chính nhóm tác giả nêu</vt:lpstr>
      <vt:lpstr>LLM, Chatbot, Agent</vt:lpstr>
      <vt:lpstr>LLM → Chatbot → Agent</vt:lpstr>
      <vt:lpstr>PowerPoint Presentation</vt:lpstr>
      <vt:lpstr>Gõ một câu hỏi vào ChatGPT</vt:lpstr>
      <vt:lpstr>Gửi ảnh sâu hại: sâu gì, diệt thế nào?</vt:lpstr>
      <vt:lpstr>Agent “canh đồng” sâu hại mỗi ngày</vt:lpstr>
      <vt:lpstr>Đặc tính của AI (chatbot, Agent)</vt:lpstr>
      <vt:lpstr>Đặc tính của AI (chatbot, Agent)</vt:lpstr>
      <vt:lpstr>Kỹ thuật viết lệnh cho AI (Prompt Engineering)</vt:lpstr>
      <vt:lpstr>Kỹ thuật viết Prompt (Prompt Engineering)</vt:lpstr>
      <vt:lpstr>Một số kỹ thuật viết prompt</vt:lpstr>
      <vt:lpstr>PowerPoint Presentation</vt:lpstr>
      <vt:lpstr>Prompt Engineering: Best Practice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61</cp:revision>
  <dcterms:created xsi:type="dcterms:W3CDTF">2022-11-17T08:17:27Z</dcterms:created>
  <dcterms:modified xsi:type="dcterms:W3CDTF">2026-10-28T02:40:53Z</dcterms:modified>
</cp:coreProperties>
</file>