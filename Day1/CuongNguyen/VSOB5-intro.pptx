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5"/>
  </p:notesMasterIdLst>
  <p:sldIdLst>
    <p:sldId id="256" r:id="rId2"/>
    <p:sldId id="259" r:id="rId3"/>
    <p:sldId id="310" r:id="rId4"/>
    <p:sldId id="260" r:id="rId5"/>
    <p:sldId id="258" r:id="rId6"/>
    <p:sldId id="262" r:id="rId7"/>
    <p:sldId id="311" r:id="rId8"/>
    <p:sldId id="307" r:id="rId9"/>
    <p:sldId id="263" r:id="rId10"/>
    <p:sldId id="265" r:id="rId11"/>
    <p:sldId id="305" r:id="rId12"/>
    <p:sldId id="306" r:id="rId13"/>
    <p:sldId id="308"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Candara" panose="020E0502030303020204" pitchFamily="34" charset="0"/>
      <p:regular r:id="rId20"/>
      <p:bold r:id="rId21"/>
      <p:italic r:id="rId22"/>
      <p:boldItalic r:id="rId23"/>
    </p:embeddedFont>
    <p:embeddedFont>
      <p:font typeface="Century" panose="02040604050505020304" pitchFamily="18" charset="0"/>
      <p:regular r:id="rId24"/>
    </p:embeddedFont>
    <p:embeddedFont>
      <p:font typeface="Montserrat" pitchFamily="2" charset="77"/>
      <p:regular r:id="rId25"/>
      <p:bold r:id="rId26"/>
      <p:italic r:id="rId27"/>
      <p:boldItalic r:id="rId28"/>
    </p:embeddedFont>
    <p:embeddedFont>
      <p:font typeface="Roboto Slab" pitchFamily="2"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hJwTnE1cZhnELbjJOj2/ErQ80f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CDA87E-2D77-43CC-8CB8-2C0223D60E04}">
  <a:tblStyle styleId="{8ACDA87E-2D77-43CC-8CB8-2C0223D60E0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4">
              <a:alpha val="20000"/>
            </a:schemeClr>
          </a:solidFill>
        </a:fill>
      </a:tcStyle>
    </a:band1H>
    <a:band2H>
      <a:tcTxStyle/>
      <a:tcStyle>
        <a:tcBdr/>
      </a:tcStyle>
    </a:band2H>
    <a:band1V>
      <a:tcTxStyle/>
      <a:tcStyle>
        <a:tcBdr/>
        <a:fill>
          <a:solidFill>
            <a:schemeClr val="accent4">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4"/>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4"/>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60"/>
  </p:normalViewPr>
  <p:slideViewPr>
    <p:cSldViewPr snapToGrid="0">
      <p:cViewPr varScale="1">
        <p:scale>
          <a:sx n="114" d="100"/>
          <a:sy n="114" d="100"/>
        </p:scale>
        <p:origin x="2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1" name="Google Shape;651;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7" name="Google Shape;657;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jp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jp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jp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jp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3"/>
        <p:cNvGrpSpPr/>
        <p:nvPr/>
      </p:nvGrpSpPr>
      <p:grpSpPr>
        <a:xfrm>
          <a:off x="0" y="0"/>
          <a:ext cx="0" cy="0"/>
          <a:chOff x="0" y="0"/>
          <a:chExt cx="0" cy="0"/>
        </a:xfrm>
      </p:grpSpPr>
      <p:sp>
        <p:nvSpPr>
          <p:cNvPr id="14" name="Google Shape;14;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 name="Google Shape;15;p29"/>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7"/>
        <p:cNvGrpSpPr/>
        <p:nvPr/>
      </p:nvGrpSpPr>
      <p:grpSpPr>
        <a:xfrm>
          <a:off x="0" y="0"/>
          <a:ext cx="0" cy="0"/>
          <a:chOff x="0" y="0"/>
          <a:chExt cx="0" cy="0"/>
        </a:xfrm>
      </p:grpSpPr>
      <p:sp>
        <p:nvSpPr>
          <p:cNvPr id="58" name="Google Shape;58;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34"/>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 name="Google Shape;20;p30">
            <a:extLst>
              <a:ext uri="{FF2B5EF4-FFF2-40B4-BE49-F238E27FC236}">
                <a16:creationId xmlns:a16="http://schemas.microsoft.com/office/drawing/2014/main" id="{37329A5B-45E6-89D4-DF3A-9DA6C3325F24}"/>
              </a:ext>
            </a:extLst>
          </p:cNvPr>
          <p:cNvGrpSpPr/>
          <p:nvPr userDrawn="1"/>
        </p:nvGrpSpPr>
        <p:grpSpPr>
          <a:xfrm>
            <a:off x="0" y="6280737"/>
            <a:ext cx="12192000" cy="565333"/>
            <a:chOff x="76200" y="-2349220"/>
            <a:chExt cx="12192000" cy="565333"/>
          </a:xfrm>
        </p:grpSpPr>
        <p:cxnSp>
          <p:nvCxnSpPr>
            <p:cNvPr id="3" name="Google Shape;21;p30">
              <a:extLst>
                <a:ext uri="{FF2B5EF4-FFF2-40B4-BE49-F238E27FC236}">
                  <a16:creationId xmlns:a16="http://schemas.microsoft.com/office/drawing/2014/main" id="{F81AC94F-3D22-352E-5130-6B3D3C6E81F2}"/>
                </a:ext>
              </a:extLst>
            </p:cNvPr>
            <p:cNvCxnSpPr/>
            <p:nvPr/>
          </p:nvCxnSpPr>
          <p:spPr>
            <a:xfrm>
              <a:off x="76200" y="-2349220"/>
              <a:ext cx="12192000" cy="0"/>
            </a:xfrm>
            <a:prstGeom prst="straightConnector1">
              <a:avLst/>
            </a:prstGeom>
            <a:noFill/>
            <a:ln w="28575" cap="flat" cmpd="sng">
              <a:solidFill>
                <a:schemeClr val="accent1"/>
              </a:solidFill>
              <a:prstDash val="solid"/>
              <a:miter lim="800000"/>
              <a:headEnd type="none" w="sm" len="sm"/>
              <a:tailEnd type="none" w="sm" len="sm"/>
            </a:ln>
          </p:spPr>
        </p:cxnSp>
        <p:pic>
          <p:nvPicPr>
            <p:cNvPr id="4" name="Google Shape;22;p30" descr="Rencontres du Vietnam – International Year of Basic Sciences for Development">
              <a:extLst>
                <a:ext uri="{FF2B5EF4-FFF2-40B4-BE49-F238E27FC236}">
                  <a16:creationId xmlns:a16="http://schemas.microsoft.com/office/drawing/2014/main" id="{2524C096-964B-A37F-E02B-DEAA739C2F1D}"/>
                </a:ext>
              </a:extLst>
            </p:cNvPr>
            <p:cNvPicPr preferRelativeResize="0"/>
            <p:nvPr/>
          </p:nvPicPr>
          <p:blipFill rotWithShape="1">
            <a:blip r:embed="rId2">
              <a:alphaModFix/>
            </a:blip>
            <a:srcRect t="21347" b="22196"/>
            <a:stretch/>
          </p:blipFill>
          <p:spPr>
            <a:xfrm>
              <a:off x="669674" y="-2320492"/>
              <a:ext cx="950464" cy="536605"/>
            </a:xfrm>
            <a:prstGeom prst="rect">
              <a:avLst/>
            </a:prstGeom>
            <a:noFill/>
            <a:ln>
              <a:noFill/>
            </a:ln>
          </p:spPr>
        </p:pic>
        <p:pic>
          <p:nvPicPr>
            <p:cNvPr id="5" name="Google Shape;23;p30" descr="Internship at ICISE">
              <a:extLst>
                <a:ext uri="{FF2B5EF4-FFF2-40B4-BE49-F238E27FC236}">
                  <a16:creationId xmlns:a16="http://schemas.microsoft.com/office/drawing/2014/main" id="{7E2F49C5-CD2D-5CE4-1BF2-8BBF1CE0E52D}"/>
                </a:ext>
              </a:extLst>
            </p:cNvPr>
            <p:cNvPicPr preferRelativeResize="0"/>
            <p:nvPr/>
          </p:nvPicPr>
          <p:blipFill rotWithShape="1">
            <a:blip r:embed="rId3">
              <a:alphaModFix/>
            </a:blip>
            <a:srcRect t="18642" b="10927"/>
            <a:stretch/>
          </p:blipFill>
          <p:spPr>
            <a:xfrm>
              <a:off x="1686813" y="-2322534"/>
              <a:ext cx="1423915" cy="534317"/>
            </a:xfrm>
            <a:prstGeom prst="rect">
              <a:avLst/>
            </a:prstGeom>
            <a:noFill/>
            <a:ln>
              <a:noFill/>
            </a:ln>
          </p:spPr>
        </p:pic>
        <p:pic>
          <p:nvPicPr>
            <p:cNvPr id="7" name="Google Shape;25;p30" descr="A logo for a company&#10;&#10;Description automatically generated">
              <a:extLst>
                <a:ext uri="{FF2B5EF4-FFF2-40B4-BE49-F238E27FC236}">
                  <a16:creationId xmlns:a16="http://schemas.microsoft.com/office/drawing/2014/main" id="{5AC42360-5D42-936B-B309-77FCB72ABEDE}"/>
                </a:ext>
              </a:extLst>
            </p:cNvPr>
            <p:cNvPicPr preferRelativeResize="0"/>
            <p:nvPr/>
          </p:nvPicPr>
          <p:blipFill rotWithShape="1">
            <a:blip r:embed="rId4">
              <a:alphaModFix/>
            </a:blip>
            <a:srcRect/>
            <a:stretch/>
          </p:blipFill>
          <p:spPr>
            <a:xfrm>
              <a:off x="10773192" y="-2326448"/>
              <a:ext cx="950464" cy="534636"/>
            </a:xfrm>
            <a:prstGeom prst="rect">
              <a:avLst/>
            </a:prstGeom>
            <a:noFill/>
            <a:ln>
              <a:noFill/>
            </a:ln>
          </p:spPr>
        </p:pic>
        <p:sp>
          <p:nvSpPr>
            <p:cNvPr id="8" name="Google Shape;26;p30">
              <a:extLst>
                <a:ext uri="{FF2B5EF4-FFF2-40B4-BE49-F238E27FC236}">
                  <a16:creationId xmlns:a16="http://schemas.microsoft.com/office/drawing/2014/main" id="{07ED2A69-0EDE-11C9-A263-6C4581DA75D8}"/>
                </a:ext>
              </a:extLst>
            </p:cNvPr>
            <p:cNvSpPr txBox="1"/>
            <p:nvPr/>
          </p:nvSpPr>
          <p:spPr>
            <a:xfrm>
              <a:off x="3177403" y="-2246381"/>
              <a:ext cx="642462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rgbClr val="1E4E79"/>
                  </a:solidFill>
                  <a:latin typeface="Times New Roman"/>
                  <a:ea typeface="Times New Roman"/>
                  <a:cs typeface="Times New Roman"/>
                  <a:sym typeface="Times New Roman"/>
                </a:rPr>
                <a:t>THE 5</a:t>
              </a:r>
              <a:r>
                <a:rPr lang="en-US" sz="1800" b="0" i="0" u="none" strike="noStrike" cap="none" baseline="30000" dirty="0">
                  <a:solidFill>
                    <a:srgbClr val="1E4E79"/>
                  </a:solidFill>
                  <a:latin typeface="Times New Roman"/>
                  <a:ea typeface="Times New Roman"/>
                  <a:cs typeface="Times New Roman"/>
                  <a:sym typeface="Times New Roman"/>
                </a:rPr>
                <a:t>th</a:t>
              </a:r>
              <a:r>
                <a:rPr lang="en-US" sz="1800" b="0" i="0" u="none" strike="noStrike" cap="none" dirty="0">
                  <a:solidFill>
                    <a:srgbClr val="1E4E79"/>
                  </a:solidFill>
                  <a:latin typeface="Times New Roman"/>
                  <a:ea typeface="Times New Roman"/>
                  <a:cs typeface="Times New Roman"/>
                  <a:sym typeface="Times New Roman"/>
                </a:rPr>
                <a:t> VIETNAM SCHOOL OF BIOLOGY (VSOB-5)</a:t>
              </a:r>
              <a:endParaRPr dirty="0"/>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8"/>
        <p:cNvGrpSpPr/>
        <p:nvPr/>
      </p:nvGrpSpPr>
      <p:grpSpPr>
        <a:xfrm>
          <a:off x="0" y="0"/>
          <a:ext cx="0" cy="0"/>
          <a:chOff x="0" y="0"/>
          <a:chExt cx="0" cy="0"/>
        </a:xfrm>
      </p:grpSpPr>
      <p:sp>
        <p:nvSpPr>
          <p:cNvPr id="69" name="Google Shape;69;p3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1" name="Google Shape;71;p3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3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3" name="Google Shape;73;p3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35"/>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 name="Google Shape;20;p30">
            <a:extLst>
              <a:ext uri="{FF2B5EF4-FFF2-40B4-BE49-F238E27FC236}">
                <a16:creationId xmlns:a16="http://schemas.microsoft.com/office/drawing/2014/main" id="{77831BC5-F31E-BC31-DFFE-70E798AB04B2}"/>
              </a:ext>
            </a:extLst>
          </p:cNvPr>
          <p:cNvGrpSpPr/>
          <p:nvPr userDrawn="1"/>
        </p:nvGrpSpPr>
        <p:grpSpPr>
          <a:xfrm>
            <a:off x="0" y="6280737"/>
            <a:ext cx="12192000" cy="565333"/>
            <a:chOff x="76200" y="-2349220"/>
            <a:chExt cx="12192000" cy="565333"/>
          </a:xfrm>
        </p:grpSpPr>
        <p:cxnSp>
          <p:nvCxnSpPr>
            <p:cNvPr id="3" name="Google Shape;21;p30">
              <a:extLst>
                <a:ext uri="{FF2B5EF4-FFF2-40B4-BE49-F238E27FC236}">
                  <a16:creationId xmlns:a16="http://schemas.microsoft.com/office/drawing/2014/main" id="{64342C68-8C55-A34A-04A2-129E7E5F65A4}"/>
                </a:ext>
              </a:extLst>
            </p:cNvPr>
            <p:cNvCxnSpPr/>
            <p:nvPr/>
          </p:nvCxnSpPr>
          <p:spPr>
            <a:xfrm>
              <a:off x="76200" y="-2349220"/>
              <a:ext cx="12192000" cy="0"/>
            </a:xfrm>
            <a:prstGeom prst="straightConnector1">
              <a:avLst/>
            </a:prstGeom>
            <a:noFill/>
            <a:ln w="28575" cap="flat" cmpd="sng">
              <a:solidFill>
                <a:schemeClr val="accent1"/>
              </a:solidFill>
              <a:prstDash val="solid"/>
              <a:miter lim="800000"/>
              <a:headEnd type="none" w="sm" len="sm"/>
              <a:tailEnd type="none" w="sm" len="sm"/>
            </a:ln>
          </p:spPr>
        </p:cxnSp>
        <p:pic>
          <p:nvPicPr>
            <p:cNvPr id="4" name="Google Shape;22;p30" descr="Rencontres du Vietnam – International Year of Basic Sciences for Development">
              <a:extLst>
                <a:ext uri="{FF2B5EF4-FFF2-40B4-BE49-F238E27FC236}">
                  <a16:creationId xmlns:a16="http://schemas.microsoft.com/office/drawing/2014/main" id="{516DAC5C-32E0-AACC-0DDA-31FBAF30F6DF}"/>
                </a:ext>
              </a:extLst>
            </p:cNvPr>
            <p:cNvPicPr preferRelativeResize="0"/>
            <p:nvPr/>
          </p:nvPicPr>
          <p:blipFill rotWithShape="1">
            <a:blip r:embed="rId2">
              <a:alphaModFix/>
            </a:blip>
            <a:srcRect t="21347" b="22196"/>
            <a:stretch/>
          </p:blipFill>
          <p:spPr>
            <a:xfrm>
              <a:off x="669674" y="-2320492"/>
              <a:ext cx="950464" cy="536605"/>
            </a:xfrm>
            <a:prstGeom prst="rect">
              <a:avLst/>
            </a:prstGeom>
            <a:noFill/>
            <a:ln>
              <a:noFill/>
            </a:ln>
          </p:spPr>
        </p:pic>
        <p:pic>
          <p:nvPicPr>
            <p:cNvPr id="5" name="Google Shape;23;p30" descr="Internship at ICISE">
              <a:extLst>
                <a:ext uri="{FF2B5EF4-FFF2-40B4-BE49-F238E27FC236}">
                  <a16:creationId xmlns:a16="http://schemas.microsoft.com/office/drawing/2014/main" id="{733382BC-296D-B581-2DE2-3173CC9A4F46}"/>
                </a:ext>
              </a:extLst>
            </p:cNvPr>
            <p:cNvPicPr preferRelativeResize="0"/>
            <p:nvPr/>
          </p:nvPicPr>
          <p:blipFill rotWithShape="1">
            <a:blip r:embed="rId3">
              <a:alphaModFix/>
            </a:blip>
            <a:srcRect t="18642" b="10927"/>
            <a:stretch/>
          </p:blipFill>
          <p:spPr>
            <a:xfrm>
              <a:off x="1686813" y="-2322534"/>
              <a:ext cx="1423915" cy="534317"/>
            </a:xfrm>
            <a:prstGeom prst="rect">
              <a:avLst/>
            </a:prstGeom>
            <a:noFill/>
            <a:ln>
              <a:noFill/>
            </a:ln>
          </p:spPr>
        </p:pic>
        <p:pic>
          <p:nvPicPr>
            <p:cNvPr id="6" name="Google Shape;24;p30" descr="Vector Logo] Học Viện Nông Nghiệp Việt Nam - VNUA | Việt nam, Nông nghiệp,  Viết">
              <a:extLst>
                <a:ext uri="{FF2B5EF4-FFF2-40B4-BE49-F238E27FC236}">
                  <a16:creationId xmlns:a16="http://schemas.microsoft.com/office/drawing/2014/main" id="{7E4A3964-75F6-E7B6-F471-BBD35A6D12F7}"/>
                </a:ext>
              </a:extLst>
            </p:cNvPr>
            <p:cNvPicPr preferRelativeResize="0"/>
            <p:nvPr/>
          </p:nvPicPr>
          <p:blipFill rotWithShape="1">
            <a:blip r:embed="rId4">
              <a:alphaModFix/>
            </a:blip>
            <a:srcRect/>
            <a:stretch/>
          </p:blipFill>
          <p:spPr>
            <a:xfrm>
              <a:off x="9995672" y="-2326448"/>
              <a:ext cx="529453" cy="529453"/>
            </a:xfrm>
            <a:prstGeom prst="rect">
              <a:avLst/>
            </a:prstGeom>
            <a:noFill/>
            <a:ln>
              <a:noFill/>
            </a:ln>
          </p:spPr>
        </p:pic>
        <p:pic>
          <p:nvPicPr>
            <p:cNvPr id="7" name="Google Shape;25;p30" descr="A logo for a company&#10;&#10;Description automatically generated">
              <a:extLst>
                <a:ext uri="{FF2B5EF4-FFF2-40B4-BE49-F238E27FC236}">
                  <a16:creationId xmlns:a16="http://schemas.microsoft.com/office/drawing/2014/main" id="{DA862C90-0D87-67F7-639F-4FE452EBF3C7}"/>
                </a:ext>
              </a:extLst>
            </p:cNvPr>
            <p:cNvPicPr preferRelativeResize="0"/>
            <p:nvPr/>
          </p:nvPicPr>
          <p:blipFill rotWithShape="1">
            <a:blip r:embed="rId5">
              <a:alphaModFix/>
            </a:blip>
            <a:srcRect/>
            <a:stretch/>
          </p:blipFill>
          <p:spPr>
            <a:xfrm>
              <a:off x="10773192" y="-2326448"/>
              <a:ext cx="950464" cy="534636"/>
            </a:xfrm>
            <a:prstGeom prst="rect">
              <a:avLst/>
            </a:prstGeom>
            <a:noFill/>
            <a:ln>
              <a:noFill/>
            </a:ln>
          </p:spPr>
        </p:pic>
        <p:sp>
          <p:nvSpPr>
            <p:cNvPr id="8" name="Google Shape;26;p30">
              <a:extLst>
                <a:ext uri="{FF2B5EF4-FFF2-40B4-BE49-F238E27FC236}">
                  <a16:creationId xmlns:a16="http://schemas.microsoft.com/office/drawing/2014/main" id="{265A1281-09A6-3AAE-B157-1B9546356D9A}"/>
                </a:ext>
              </a:extLst>
            </p:cNvPr>
            <p:cNvSpPr txBox="1"/>
            <p:nvPr/>
          </p:nvSpPr>
          <p:spPr>
            <a:xfrm>
              <a:off x="3177403" y="-2246381"/>
              <a:ext cx="642462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rgbClr val="1E4E79"/>
                  </a:solidFill>
                  <a:latin typeface="Times New Roman"/>
                  <a:ea typeface="Times New Roman"/>
                  <a:cs typeface="Times New Roman"/>
                  <a:sym typeface="Times New Roman"/>
                </a:rPr>
                <a:t>THE 4</a:t>
              </a:r>
              <a:r>
                <a:rPr lang="en-US" sz="1800" b="0" i="0" u="none" strike="noStrike" cap="none" baseline="30000" dirty="0">
                  <a:solidFill>
                    <a:srgbClr val="1E4E79"/>
                  </a:solidFill>
                  <a:latin typeface="Times New Roman"/>
                  <a:ea typeface="Times New Roman"/>
                  <a:cs typeface="Times New Roman"/>
                  <a:sym typeface="Times New Roman"/>
                </a:rPr>
                <a:t>th</a:t>
              </a:r>
              <a:r>
                <a:rPr lang="en-US" sz="1800" b="0" i="0" u="none" strike="noStrike" cap="none" dirty="0">
                  <a:solidFill>
                    <a:srgbClr val="1E4E79"/>
                  </a:solidFill>
                  <a:latin typeface="Times New Roman"/>
                  <a:ea typeface="Times New Roman"/>
                  <a:cs typeface="Times New Roman"/>
                  <a:sym typeface="Times New Roman"/>
                </a:rPr>
                <a:t> VIETNAM SCHOOL OF BIOLOGY (VSOB-4)</a:t>
              </a:r>
              <a:endParaRPr lang="en-US" sz="1800" dirty="0"/>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2"/>
        <p:cNvGrpSpPr/>
        <p:nvPr/>
      </p:nvGrpSpPr>
      <p:grpSpPr>
        <a:xfrm>
          <a:off x="0" y="0"/>
          <a:ext cx="0" cy="0"/>
          <a:chOff x="0" y="0"/>
          <a:chExt cx="0" cy="0"/>
        </a:xfrm>
      </p:grpSpPr>
      <p:sp>
        <p:nvSpPr>
          <p:cNvPr id="83" name="Google Shape;83;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5" name="Google Shape;85;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6" name="Google Shape;86;p36"/>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 name="Google Shape;20;p30">
            <a:extLst>
              <a:ext uri="{FF2B5EF4-FFF2-40B4-BE49-F238E27FC236}">
                <a16:creationId xmlns:a16="http://schemas.microsoft.com/office/drawing/2014/main" id="{D531D42F-F2F8-39F0-CA12-1AE4C5512AA3}"/>
              </a:ext>
            </a:extLst>
          </p:cNvPr>
          <p:cNvGrpSpPr/>
          <p:nvPr userDrawn="1"/>
        </p:nvGrpSpPr>
        <p:grpSpPr>
          <a:xfrm>
            <a:off x="0" y="6280737"/>
            <a:ext cx="12192000" cy="565333"/>
            <a:chOff x="76200" y="-2349220"/>
            <a:chExt cx="12192000" cy="565333"/>
          </a:xfrm>
        </p:grpSpPr>
        <p:cxnSp>
          <p:nvCxnSpPr>
            <p:cNvPr id="3" name="Google Shape;21;p30">
              <a:extLst>
                <a:ext uri="{FF2B5EF4-FFF2-40B4-BE49-F238E27FC236}">
                  <a16:creationId xmlns:a16="http://schemas.microsoft.com/office/drawing/2014/main" id="{9BC9CCD3-293E-7B74-A7F6-6A682A854DAD}"/>
                </a:ext>
              </a:extLst>
            </p:cNvPr>
            <p:cNvCxnSpPr/>
            <p:nvPr/>
          </p:nvCxnSpPr>
          <p:spPr>
            <a:xfrm>
              <a:off x="76200" y="-2349220"/>
              <a:ext cx="12192000" cy="0"/>
            </a:xfrm>
            <a:prstGeom prst="straightConnector1">
              <a:avLst/>
            </a:prstGeom>
            <a:noFill/>
            <a:ln w="28575" cap="flat" cmpd="sng">
              <a:solidFill>
                <a:schemeClr val="accent1"/>
              </a:solidFill>
              <a:prstDash val="solid"/>
              <a:miter lim="800000"/>
              <a:headEnd type="none" w="sm" len="sm"/>
              <a:tailEnd type="none" w="sm" len="sm"/>
            </a:ln>
          </p:spPr>
        </p:cxnSp>
        <p:pic>
          <p:nvPicPr>
            <p:cNvPr id="4" name="Google Shape;22;p30" descr="Rencontres du Vietnam – International Year of Basic Sciences for Development">
              <a:extLst>
                <a:ext uri="{FF2B5EF4-FFF2-40B4-BE49-F238E27FC236}">
                  <a16:creationId xmlns:a16="http://schemas.microsoft.com/office/drawing/2014/main" id="{EF306335-3BEE-1F5B-D164-74A4D11C3AB0}"/>
                </a:ext>
              </a:extLst>
            </p:cNvPr>
            <p:cNvPicPr preferRelativeResize="0"/>
            <p:nvPr/>
          </p:nvPicPr>
          <p:blipFill rotWithShape="1">
            <a:blip r:embed="rId2">
              <a:alphaModFix/>
            </a:blip>
            <a:srcRect t="21347" b="22196"/>
            <a:stretch/>
          </p:blipFill>
          <p:spPr>
            <a:xfrm>
              <a:off x="669674" y="-2320492"/>
              <a:ext cx="950464" cy="536605"/>
            </a:xfrm>
            <a:prstGeom prst="rect">
              <a:avLst/>
            </a:prstGeom>
            <a:noFill/>
            <a:ln>
              <a:noFill/>
            </a:ln>
          </p:spPr>
        </p:pic>
        <p:pic>
          <p:nvPicPr>
            <p:cNvPr id="5" name="Google Shape;23;p30" descr="Internship at ICISE">
              <a:extLst>
                <a:ext uri="{FF2B5EF4-FFF2-40B4-BE49-F238E27FC236}">
                  <a16:creationId xmlns:a16="http://schemas.microsoft.com/office/drawing/2014/main" id="{8CE3F278-8C63-EB61-1931-D5710C520713}"/>
                </a:ext>
              </a:extLst>
            </p:cNvPr>
            <p:cNvPicPr preferRelativeResize="0"/>
            <p:nvPr/>
          </p:nvPicPr>
          <p:blipFill rotWithShape="1">
            <a:blip r:embed="rId3">
              <a:alphaModFix/>
            </a:blip>
            <a:srcRect t="18642" b="10927"/>
            <a:stretch/>
          </p:blipFill>
          <p:spPr>
            <a:xfrm>
              <a:off x="1686813" y="-2322534"/>
              <a:ext cx="1423915" cy="534317"/>
            </a:xfrm>
            <a:prstGeom prst="rect">
              <a:avLst/>
            </a:prstGeom>
            <a:noFill/>
            <a:ln>
              <a:noFill/>
            </a:ln>
          </p:spPr>
        </p:pic>
        <p:pic>
          <p:nvPicPr>
            <p:cNvPr id="6" name="Google Shape;24;p30" descr="Vector Logo] Học Viện Nông Nghiệp Việt Nam - VNUA | Việt nam, Nông nghiệp,  Viết">
              <a:extLst>
                <a:ext uri="{FF2B5EF4-FFF2-40B4-BE49-F238E27FC236}">
                  <a16:creationId xmlns:a16="http://schemas.microsoft.com/office/drawing/2014/main" id="{5F2F676D-A27F-616D-36A7-E69866EFFE0F}"/>
                </a:ext>
              </a:extLst>
            </p:cNvPr>
            <p:cNvPicPr preferRelativeResize="0"/>
            <p:nvPr/>
          </p:nvPicPr>
          <p:blipFill rotWithShape="1">
            <a:blip r:embed="rId4">
              <a:alphaModFix/>
            </a:blip>
            <a:srcRect/>
            <a:stretch/>
          </p:blipFill>
          <p:spPr>
            <a:xfrm>
              <a:off x="9995672" y="-2326448"/>
              <a:ext cx="529453" cy="529453"/>
            </a:xfrm>
            <a:prstGeom prst="rect">
              <a:avLst/>
            </a:prstGeom>
            <a:noFill/>
            <a:ln>
              <a:noFill/>
            </a:ln>
          </p:spPr>
        </p:pic>
        <p:pic>
          <p:nvPicPr>
            <p:cNvPr id="7" name="Google Shape;25;p30" descr="A logo for a company&#10;&#10;Description automatically generated">
              <a:extLst>
                <a:ext uri="{FF2B5EF4-FFF2-40B4-BE49-F238E27FC236}">
                  <a16:creationId xmlns:a16="http://schemas.microsoft.com/office/drawing/2014/main" id="{9AF25068-B6FE-CEC7-CB70-853DD8A1625E}"/>
                </a:ext>
              </a:extLst>
            </p:cNvPr>
            <p:cNvPicPr preferRelativeResize="0"/>
            <p:nvPr/>
          </p:nvPicPr>
          <p:blipFill rotWithShape="1">
            <a:blip r:embed="rId5">
              <a:alphaModFix/>
            </a:blip>
            <a:srcRect/>
            <a:stretch/>
          </p:blipFill>
          <p:spPr>
            <a:xfrm>
              <a:off x="10773192" y="-2326448"/>
              <a:ext cx="950464" cy="534636"/>
            </a:xfrm>
            <a:prstGeom prst="rect">
              <a:avLst/>
            </a:prstGeom>
            <a:noFill/>
            <a:ln>
              <a:noFill/>
            </a:ln>
          </p:spPr>
        </p:pic>
        <p:sp>
          <p:nvSpPr>
            <p:cNvPr id="8" name="Google Shape;26;p30">
              <a:extLst>
                <a:ext uri="{FF2B5EF4-FFF2-40B4-BE49-F238E27FC236}">
                  <a16:creationId xmlns:a16="http://schemas.microsoft.com/office/drawing/2014/main" id="{B5F4A565-FA0D-3A5C-C291-78213001A73B}"/>
                </a:ext>
              </a:extLst>
            </p:cNvPr>
            <p:cNvSpPr txBox="1"/>
            <p:nvPr/>
          </p:nvSpPr>
          <p:spPr>
            <a:xfrm>
              <a:off x="3177403" y="-2246381"/>
              <a:ext cx="642462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rgbClr val="1E4E79"/>
                  </a:solidFill>
                  <a:latin typeface="Times New Roman"/>
                  <a:ea typeface="Times New Roman"/>
                  <a:cs typeface="Times New Roman"/>
                  <a:sym typeface="Times New Roman"/>
                </a:rPr>
                <a:t>THE 4</a:t>
              </a:r>
              <a:r>
                <a:rPr lang="en-US" sz="1800" b="0" i="0" u="none" strike="noStrike" cap="none" baseline="30000" dirty="0">
                  <a:solidFill>
                    <a:srgbClr val="1E4E79"/>
                  </a:solidFill>
                  <a:latin typeface="Times New Roman"/>
                  <a:ea typeface="Times New Roman"/>
                  <a:cs typeface="Times New Roman"/>
                  <a:sym typeface="Times New Roman"/>
                </a:rPr>
                <a:t>th</a:t>
              </a:r>
              <a:r>
                <a:rPr lang="en-US" sz="1800" b="0" i="0" u="none" strike="noStrike" cap="none" dirty="0">
                  <a:solidFill>
                    <a:srgbClr val="1E4E79"/>
                  </a:solidFill>
                  <a:latin typeface="Times New Roman"/>
                  <a:ea typeface="Times New Roman"/>
                  <a:cs typeface="Times New Roman"/>
                  <a:sym typeface="Times New Roman"/>
                </a:rPr>
                <a:t> VIETNAM SCHOOL OF BIOLOGY (VSOB-4)</a:t>
              </a:r>
              <a:endParaRPr lang="en-US" sz="1800" dirty="0"/>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4"/>
        <p:cNvGrpSpPr/>
        <p:nvPr/>
      </p:nvGrpSpPr>
      <p:grpSpPr>
        <a:xfrm>
          <a:off x="0" y="0"/>
          <a:ext cx="0" cy="0"/>
          <a:chOff x="0" y="0"/>
          <a:chExt cx="0" cy="0"/>
        </a:xfrm>
      </p:grpSpPr>
      <p:sp>
        <p:nvSpPr>
          <p:cNvPr id="95" name="Google Shape;95;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37"/>
          <p:cNvSpPr>
            <a:spLocks noGrp="1"/>
          </p:cNvSpPr>
          <p:nvPr>
            <p:ph type="pic" idx="2"/>
          </p:nvPr>
        </p:nvSpPr>
        <p:spPr>
          <a:xfrm>
            <a:off x="5183188" y="987425"/>
            <a:ext cx="6172200" cy="4873625"/>
          </a:xfrm>
          <a:prstGeom prst="rect">
            <a:avLst/>
          </a:prstGeom>
          <a:noFill/>
          <a:ln>
            <a:noFill/>
          </a:ln>
        </p:spPr>
      </p:sp>
      <p:sp>
        <p:nvSpPr>
          <p:cNvPr id="97" name="Google Shape;97;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8" name="Google Shape;98;p37"/>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 name="Google Shape;20;p30">
            <a:extLst>
              <a:ext uri="{FF2B5EF4-FFF2-40B4-BE49-F238E27FC236}">
                <a16:creationId xmlns:a16="http://schemas.microsoft.com/office/drawing/2014/main" id="{D6499319-8798-2440-EEFD-EC42DC7DD9B0}"/>
              </a:ext>
            </a:extLst>
          </p:cNvPr>
          <p:cNvGrpSpPr/>
          <p:nvPr userDrawn="1"/>
        </p:nvGrpSpPr>
        <p:grpSpPr>
          <a:xfrm>
            <a:off x="0" y="6280737"/>
            <a:ext cx="12192000" cy="565333"/>
            <a:chOff x="76200" y="-2349220"/>
            <a:chExt cx="12192000" cy="565333"/>
          </a:xfrm>
        </p:grpSpPr>
        <p:cxnSp>
          <p:nvCxnSpPr>
            <p:cNvPr id="3" name="Google Shape;21;p30">
              <a:extLst>
                <a:ext uri="{FF2B5EF4-FFF2-40B4-BE49-F238E27FC236}">
                  <a16:creationId xmlns:a16="http://schemas.microsoft.com/office/drawing/2014/main" id="{EA273080-3BC6-3C66-6900-B5462E028950}"/>
                </a:ext>
              </a:extLst>
            </p:cNvPr>
            <p:cNvCxnSpPr/>
            <p:nvPr/>
          </p:nvCxnSpPr>
          <p:spPr>
            <a:xfrm>
              <a:off x="76200" y="-2349220"/>
              <a:ext cx="12192000" cy="0"/>
            </a:xfrm>
            <a:prstGeom prst="straightConnector1">
              <a:avLst/>
            </a:prstGeom>
            <a:noFill/>
            <a:ln w="28575" cap="flat" cmpd="sng">
              <a:solidFill>
                <a:schemeClr val="accent1"/>
              </a:solidFill>
              <a:prstDash val="solid"/>
              <a:miter lim="800000"/>
              <a:headEnd type="none" w="sm" len="sm"/>
              <a:tailEnd type="none" w="sm" len="sm"/>
            </a:ln>
          </p:spPr>
        </p:cxnSp>
        <p:pic>
          <p:nvPicPr>
            <p:cNvPr id="4" name="Google Shape;22;p30" descr="Rencontres du Vietnam – International Year of Basic Sciences for Development">
              <a:extLst>
                <a:ext uri="{FF2B5EF4-FFF2-40B4-BE49-F238E27FC236}">
                  <a16:creationId xmlns:a16="http://schemas.microsoft.com/office/drawing/2014/main" id="{FF3E851D-C0E6-3096-6C77-F1CF4B18BE32}"/>
                </a:ext>
              </a:extLst>
            </p:cNvPr>
            <p:cNvPicPr preferRelativeResize="0"/>
            <p:nvPr/>
          </p:nvPicPr>
          <p:blipFill rotWithShape="1">
            <a:blip r:embed="rId2">
              <a:alphaModFix/>
            </a:blip>
            <a:srcRect t="21347" b="22196"/>
            <a:stretch/>
          </p:blipFill>
          <p:spPr>
            <a:xfrm>
              <a:off x="669674" y="-2320492"/>
              <a:ext cx="950464" cy="536605"/>
            </a:xfrm>
            <a:prstGeom prst="rect">
              <a:avLst/>
            </a:prstGeom>
            <a:noFill/>
            <a:ln>
              <a:noFill/>
            </a:ln>
          </p:spPr>
        </p:pic>
        <p:pic>
          <p:nvPicPr>
            <p:cNvPr id="5" name="Google Shape;23;p30" descr="Internship at ICISE">
              <a:extLst>
                <a:ext uri="{FF2B5EF4-FFF2-40B4-BE49-F238E27FC236}">
                  <a16:creationId xmlns:a16="http://schemas.microsoft.com/office/drawing/2014/main" id="{81247EFD-67C5-3916-5F1B-14A8DE8A54C9}"/>
                </a:ext>
              </a:extLst>
            </p:cNvPr>
            <p:cNvPicPr preferRelativeResize="0"/>
            <p:nvPr/>
          </p:nvPicPr>
          <p:blipFill rotWithShape="1">
            <a:blip r:embed="rId3">
              <a:alphaModFix/>
            </a:blip>
            <a:srcRect t="18642" b="10927"/>
            <a:stretch/>
          </p:blipFill>
          <p:spPr>
            <a:xfrm>
              <a:off x="1686813" y="-2322534"/>
              <a:ext cx="1423915" cy="534317"/>
            </a:xfrm>
            <a:prstGeom prst="rect">
              <a:avLst/>
            </a:prstGeom>
            <a:noFill/>
            <a:ln>
              <a:noFill/>
            </a:ln>
          </p:spPr>
        </p:pic>
        <p:pic>
          <p:nvPicPr>
            <p:cNvPr id="6" name="Google Shape;24;p30" descr="Vector Logo] Học Viện Nông Nghiệp Việt Nam - VNUA | Việt nam, Nông nghiệp,  Viết">
              <a:extLst>
                <a:ext uri="{FF2B5EF4-FFF2-40B4-BE49-F238E27FC236}">
                  <a16:creationId xmlns:a16="http://schemas.microsoft.com/office/drawing/2014/main" id="{0EA3587D-B6B5-9BC1-DE0E-1991C899D9A1}"/>
                </a:ext>
              </a:extLst>
            </p:cNvPr>
            <p:cNvPicPr preferRelativeResize="0"/>
            <p:nvPr/>
          </p:nvPicPr>
          <p:blipFill rotWithShape="1">
            <a:blip r:embed="rId4">
              <a:alphaModFix/>
            </a:blip>
            <a:srcRect/>
            <a:stretch/>
          </p:blipFill>
          <p:spPr>
            <a:xfrm>
              <a:off x="9995672" y="-2326448"/>
              <a:ext cx="529453" cy="529453"/>
            </a:xfrm>
            <a:prstGeom prst="rect">
              <a:avLst/>
            </a:prstGeom>
            <a:noFill/>
            <a:ln>
              <a:noFill/>
            </a:ln>
          </p:spPr>
        </p:pic>
        <p:pic>
          <p:nvPicPr>
            <p:cNvPr id="7" name="Google Shape;25;p30" descr="A logo for a company&#10;&#10;Description automatically generated">
              <a:extLst>
                <a:ext uri="{FF2B5EF4-FFF2-40B4-BE49-F238E27FC236}">
                  <a16:creationId xmlns:a16="http://schemas.microsoft.com/office/drawing/2014/main" id="{C6CAA62F-0229-6969-92B7-04ADFAF895E6}"/>
                </a:ext>
              </a:extLst>
            </p:cNvPr>
            <p:cNvPicPr preferRelativeResize="0"/>
            <p:nvPr/>
          </p:nvPicPr>
          <p:blipFill rotWithShape="1">
            <a:blip r:embed="rId5">
              <a:alphaModFix/>
            </a:blip>
            <a:srcRect/>
            <a:stretch/>
          </p:blipFill>
          <p:spPr>
            <a:xfrm>
              <a:off x="10773192" y="-2326448"/>
              <a:ext cx="950464" cy="534636"/>
            </a:xfrm>
            <a:prstGeom prst="rect">
              <a:avLst/>
            </a:prstGeom>
            <a:noFill/>
            <a:ln>
              <a:noFill/>
            </a:ln>
          </p:spPr>
        </p:pic>
        <p:sp>
          <p:nvSpPr>
            <p:cNvPr id="8" name="Google Shape;26;p30">
              <a:extLst>
                <a:ext uri="{FF2B5EF4-FFF2-40B4-BE49-F238E27FC236}">
                  <a16:creationId xmlns:a16="http://schemas.microsoft.com/office/drawing/2014/main" id="{5A097470-B443-6E9C-1423-A45A53D070E3}"/>
                </a:ext>
              </a:extLst>
            </p:cNvPr>
            <p:cNvSpPr txBox="1"/>
            <p:nvPr/>
          </p:nvSpPr>
          <p:spPr>
            <a:xfrm>
              <a:off x="3177403" y="-2246381"/>
              <a:ext cx="642462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rgbClr val="1E4E79"/>
                  </a:solidFill>
                  <a:latin typeface="Times New Roman"/>
                  <a:ea typeface="Times New Roman"/>
                  <a:cs typeface="Times New Roman"/>
                  <a:sym typeface="Times New Roman"/>
                </a:rPr>
                <a:t>THE 4</a:t>
              </a:r>
              <a:r>
                <a:rPr lang="en-US" sz="1800" b="0" i="0" u="none" strike="noStrike" cap="none" baseline="30000" dirty="0">
                  <a:solidFill>
                    <a:srgbClr val="1E4E79"/>
                  </a:solidFill>
                  <a:latin typeface="Times New Roman"/>
                  <a:ea typeface="Times New Roman"/>
                  <a:cs typeface="Times New Roman"/>
                  <a:sym typeface="Times New Roman"/>
                </a:rPr>
                <a:t>th</a:t>
              </a:r>
              <a:r>
                <a:rPr lang="en-US" sz="1800" b="0" i="0" u="none" strike="noStrike" cap="none" dirty="0">
                  <a:solidFill>
                    <a:srgbClr val="1E4E79"/>
                  </a:solidFill>
                  <a:latin typeface="Times New Roman"/>
                  <a:ea typeface="Times New Roman"/>
                  <a:cs typeface="Times New Roman"/>
                  <a:sym typeface="Times New Roman"/>
                </a:rPr>
                <a:t> VIETNAM SCHOOL OF BIOLOGY (VSOB-4)</a:t>
              </a:r>
              <a:endParaRPr lang="en-US" sz="1800" dirty="0"/>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6"/>
        <p:cNvGrpSpPr/>
        <p:nvPr/>
      </p:nvGrpSpPr>
      <p:grpSpPr>
        <a:xfrm>
          <a:off x="0" y="0"/>
          <a:ext cx="0" cy="0"/>
          <a:chOff x="0" y="0"/>
          <a:chExt cx="0" cy="0"/>
        </a:xfrm>
      </p:grpSpPr>
      <p:sp>
        <p:nvSpPr>
          <p:cNvPr id="107" name="Google Shape;107;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8"/>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 name="Google Shape;20;p30">
            <a:extLst>
              <a:ext uri="{FF2B5EF4-FFF2-40B4-BE49-F238E27FC236}">
                <a16:creationId xmlns:a16="http://schemas.microsoft.com/office/drawing/2014/main" id="{A9E67171-3B76-8AF6-9A00-982CDE805FF0}"/>
              </a:ext>
            </a:extLst>
          </p:cNvPr>
          <p:cNvGrpSpPr/>
          <p:nvPr userDrawn="1"/>
        </p:nvGrpSpPr>
        <p:grpSpPr>
          <a:xfrm>
            <a:off x="0" y="6280737"/>
            <a:ext cx="12192000" cy="565333"/>
            <a:chOff x="76200" y="-2349220"/>
            <a:chExt cx="12192000" cy="565333"/>
          </a:xfrm>
        </p:grpSpPr>
        <p:cxnSp>
          <p:nvCxnSpPr>
            <p:cNvPr id="3" name="Google Shape;21;p30">
              <a:extLst>
                <a:ext uri="{FF2B5EF4-FFF2-40B4-BE49-F238E27FC236}">
                  <a16:creationId xmlns:a16="http://schemas.microsoft.com/office/drawing/2014/main" id="{5E5FC042-9AAC-C0E8-0195-0FD33C97B599}"/>
                </a:ext>
              </a:extLst>
            </p:cNvPr>
            <p:cNvCxnSpPr/>
            <p:nvPr/>
          </p:nvCxnSpPr>
          <p:spPr>
            <a:xfrm>
              <a:off x="76200" y="-2349220"/>
              <a:ext cx="12192000" cy="0"/>
            </a:xfrm>
            <a:prstGeom prst="straightConnector1">
              <a:avLst/>
            </a:prstGeom>
            <a:noFill/>
            <a:ln w="28575" cap="flat" cmpd="sng">
              <a:solidFill>
                <a:schemeClr val="accent1"/>
              </a:solidFill>
              <a:prstDash val="solid"/>
              <a:miter lim="800000"/>
              <a:headEnd type="none" w="sm" len="sm"/>
              <a:tailEnd type="none" w="sm" len="sm"/>
            </a:ln>
          </p:spPr>
        </p:cxnSp>
        <p:pic>
          <p:nvPicPr>
            <p:cNvPr id="4" name="Google Shape;22;p30" descr="Rencontres du Vietnam – International Year of Basic Sciences for Development">
              <a:extLst>
                <a:ext uri="{FF2B5EF4-FFF2-40B4-BE49-F238E27FC236}">
                  <a16:creationId xmlns:a16="http://schemas.microsoft.com/office/drawing/2014/main" id="{2C550ECD-E44E-0890-C8A2-229F2AE89764}"/>
                </a:ext>
              </a:extLst>
            </p:cNvPr>
            <p:cNvPicPr preferRelativeResize="0"/>
            <p:nvPr/>
          </p:nvPicPr>
          <p:blipFill rotWithShape="1">
            <a:blip r:embed="rId2">
              <a:alphaModFix/>
            </a:blip>
            <a:srcRect t="21347" b="22196"/>
            <a:stretch/>
          </p:blipFill>
          <p:spPr>
            <a:xfrm>
              <a:off x="669674" y="-2320492"/>
              <a:ext cx="950464" cy="536605"/>
            </a:xfrm>
            <a:prstGeom prst="rect">
              <a:avLst/>
            </a:prstGeom>
            <a:noFill/>
            <a:ln>
              <a:noFill/>
            </a:ln>
          </p:spPr>
        </p:pic>
        <p:pic>
          <p:nvPicPr>
            <p:cNvPr id="5" name="Google Shape;23;p30" descr="Internship at ICISE">
              <a:extLst>
                <a:ext uri="{FF2B5EF4-FFF2-40B4-BE49-F238E27FC236}">
                  <a16:creationId xmlns:a16="http://schemas.microsoft.com/office/drawing/2014/main" id="{2E005B0F-388C-474B-B6FF-21A629CABDA1}"/>
                </a:ext>
              </a:extLst>
            </p:cNvPr>
            <p:cNvPicPr preferRelativeResize="0"/>
            <p:nvPr/>
          </p:nvPicPr>
          <p:blipFill rotWithShape="1">
            <a:blip r:embed="rId3">
              <a:alphaModFix/>
            </a:blip>
            <a:srcRect t="18642" b="10927"/>
            <a:stretch/>
          </p:blipFill>
          <p:spPr>
            <a:xfrm>
              <a:off x="1686813" y="-2322534"/>
              <a:ext cx="1423915" cy="534317"/>
            </a:xfrm>
            <a:prstGeom prst="rect">
              <a:avLst/>
            </a:prstGeom>
            <a:noFill/>
            <a:ln>
              <a:noFill/>
            </a:ln>
          </p:spPr>
        </p:pic>
        <p:pic>
          <p:nvPicPr>
            <p:cNvPr id="6" name="Google Shape;24;p30" descr="Vector Logo] Học Viện Nông Nghiệp Việt Nam - VNUA | Việt nam, Nông nghiệp,  Viết">
              <a:extLst>
                <a:ext uri="{FF2B5EF4-FFF2-40B4-BE49-F238E27FC236}">
                  <a16:creationId xmlns:a16="http://schemas.microsoft.com/office/drawing/2014/main" id="{4652CD1D-6FC4-490F-1D99-323DD9DE1FD7}"/>
                </a:ext>
              </a:extLst>
            </p:cNvPr>
            <p:cNvPicPr preferRelativeResize="0"/>
            <p:nvPr/>
          </p:nvPicPr>
          <p:blipFill rotWithShape="1">
            <a:blip r:embed="rId4">
              <a:alphaModFix/>
            </a:blip>
            <a:srcRect/>
            <a:stretch/>
          </p:blipFill>
          <p:spPr>
            <a:xfrm>
              <a:off x="9995672" y="-2326448"/>
              <a:ext cx="529453" cy="529453"/>
            </a:xfrm>
            <a:prstGeom prst="rect">
              <a:avLst/>
            </a:prstGeom>
            <a:noFill/>
            <a:ln>
              <a:noFill/>
            </a:ln>
          </p:spPr>
        </p:pic>
        <p:pic>
          <p:nvPicPr>
            <p:cNvPr id="7" name="Google Shape;25;p30" descr="A logo for a company&#10;&#10;Description automatically generated">
              <a:extLst>
                <a:ext uri="{FF2B5EF4-FFF2-40B4-BE49-F238E27FC236}">
                  <a16:creationId xmlns:a16="http://schemas.microsoft.com/office/drawing/2014/main" id="{77825B6D-06AA-241D-BA94-135E49777D79}"/>
                </a:ext>
              </a:extLst>
            </p:cNvPr>
            <p:cNvPicPr preferRelativeResize="0"/>
            <p:nvPr/>
          </p:nvPicPr>
          <p:blipFill rotWithShape="1">
            <a:blip r:embed="rId5">
              <a:alphaModFix/>
            </a:blip>
            <a:srcRect/>
            <a:stretch/>
          </p:blipFill>
          <p:spPr>
            <a:xfrm>
              <a:off x="10773192" y="-2326448"/>
              <a:ext cx="950464" cy="534636"/>
            </a:xfrm>
            <a:prstGeom prst="rect">
              <a:avLst/>
            </a:prstGeom>
            <a:noFill/>
            <a:ln>
              <a:noFill/>
            </a:ln>
          </p:spPr>
        </p:pic>
        <p:sp>
          <p:nvSpPr>
            <p:cNvPr id="8" name="Google Shape;26;p30">
              <a:extLst>
                <a:ext uri="{FF2B5EF4-FFF2-40B4-BE49-F238E27FC236}">
                  <a16:creationId xmlns:a16="http://schemas.microsoft.com/office/drawing/2014/main" id="{6F7638C6-2B0D-57BD-3E6E-41642D596443}"/>
                </a:ext>
              </a:extLst>
            </p:cNvPr>
            <p:cNvSpPr txBox="1"/>
            <p:nvPr/>
          </p:nvSpPr>
          <p:spPr>
            <a:xfrm>
              <a:off x="3177403" y="-2246381"/>
              <a:ext cx="6424628"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dirty="0">
                  <a:solidFill>
                    <a:srgbClr val="1E4E79"/>
                  </a:solidFill>
                  <a:latin typeface="Times New Roman"/>
                  <a:ea typeface="Times New Roman"/>
                  <a:cs typeface="Times New Roman"/>
                  <a:sym typeface="Times New Roman"/>
                </a:rPr>
                <a:t>THE 4</a:t>
              </a:r>
              <a:r>
                <a:rPr lang="en-US" sz="1800" b="0" i="0" u="none" strike="noStrike" cap="none" baseline="30000" dirty="0">
                  <a:solidFill>
                    <a:srgbClr val="1E4E79"/>
                  </a:solidFill>
                  <a:latin typeface="Times New Roman"/>
                  <a:ea typeface="Times New Roman"/>
                  <a:cs typeface="Times New Roman"/>
                  <a:sym typeface="Times New Roman"/>
                </a:rPr>
                <a:t>th</a:t>
              </a:r>
              <a:r>
                <a:rPr lang="en-US" sz="1800" b="0" i="0" u="none" strike="noStrike" cap="none" dirty="0">
                  <a:solidFill>
                    <a:srgbClr val="1E4E79"/>
                  </a:solidFill>
                  <a:latin typeface="Times New Roman"/>
                  <a:ea typeface="Times New Roman"/>
                  <a:cs typeface="Times New Roman"/>
                  <a:sym typeface="Times New Roman"/>
                </a:rPr>
                <a:t> VIETNAM SCHOOL OF BIOLOGY (VSOB-4)</a:t>
              </a:r>
              <a:endParaRPr lang="en-US" sz="1800" dirty="0"/>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117"/>
        <p:cNvGrpSpPr/>
        <p:nvPr/>
      </p:nvGrpSpPr>
      <p:grpSpPr>
        <a:xfrm>
          <a:off x="0" y="0"/>
          <a:ext cx="0" cy="0"/>
          <a:chOff x="0" y="0"/>
          <a:chExt cx="0" cy="0"/>
        </a:xfrm>
      </p:grpSpPr>
      <p:sp>
        <p:nvSpPr>
          <p:cNvPr id="118" name="Google Shape;118;p39"/>
          <p:cNvSpPr txBox="1">
            <a:spLocks noGrp="1"/>
          </p:cNvSpPr>
          <p:nvPr>
            <p:ph type="title"/>
          </p:nvPr>
        </p:nvSpPr>
        <p:spPr>
          <a:xfrm>
            <a:off x="1219200" y="457201"/>
            <a:ext cx="10058400" cy="70788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39"/>
          <p:cNvSpPr txBox="1">
            <a:spLocks noGrp="1"/>
          </p:cNvSpPr>
          <p:nvPr>
            <p:ph type="dt" idx="10"/>
          </p:nvPr>
        </p:nvSpPr>
        <p:spPr>
          <a:xfrm>
            <a:off x="1016000" y="6553200"/>
            <a:ext cx="2438400" cy="27699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0" name="Google Shape;120;p39"/>
          <p:cNvSpPr txBox="1">
            <a:spLocks noGrp="1"/>
          </p:cNvSpPr>
          <p:nvPr>
            <p:ph type="sldNum" idx="12"/>
          </p:nvPr>
        </p:nvSpPr>
        <p:spPr>
          <a:xfrm>
            <a:off x="4775200" y="6629400"/>
            <a:ext cx="2844800" cy="15786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Arial"/>
                <a:ea typeface="Arial"/>
                <a:cs typeface="Arial"/>
                <a:sym typeface="Arial"/>
              </a:defRPr>
            </a:lvl1pPr>
            <a:lvl2pPr marL="0" lvl="1" indent="0" algn="r">
              <a:spcBef>
                <a:spcPts val="0"/>
              </a:spcBef>
              <a:buNone/>
              <a:defRPr sz="1200">
                <a:solidFill>
                  <a:srgbClr val="888888"/>
                </a:solidFill>
                <a:latin typeface="Arial"/>
                <a:ea typeface="Arial"/>
                <a:cs typeface="Arial"/>
                <a:sym typeface="Arial"/>
              </a:defRPr>
            </a:lvl2pPr>
            <a:lvl3pPr marL="0" lvl="2" indent="0" algn="r">
              <a:spcBef>
                <a:spcPts val="0"/>
              </a:spcBef>
              <a:buNone/>
              <a:defRPr sz="1200">
                <a:solidFill>
                  <a:srgbClr val="888888"/>
                </a:solidFill>
                <a:latin typeface="Arial"/>
                <a:ea typeface="Arial"/>
                <a:cs typeface="Arial"/>
                <a:sym typeface="Arial"/>
              </a:defRPr>
            </a:lvl3pPr>
            <a:lvl4pPr marL="0" lvl="3" indent="0" algn="r">
              <a:spcBef>
                <a:spcPts val="0"/>
              </a:spcBef>
              <a:buNone/>
              <a:defRPr sz="1200">
                <a:solidFill>
                  <a:srgbClr val="888888"/>
                </a:solidFill>
                <a:latin typeface="Arial"/>
                <a:ea typeface="Arial"/>
                <a:cs typeface="Arial"/>
                <a:sym typeface="Arial"/>
              </a:defRPr>
            </a:lvl4pPr>
            <a:lvl5pPr marL="0" lvl="4" indent="0" algn="r">
              <a:spcBef>
                <a:spcPts val="0"/>
              </a:spcBef>
              <a:buNone/>
              <a:defRPr sz="1200">
                <a:solidFill>
                  <a:srgbClr val="888888"/>
                </a:solidFill>
                <a:latin typeface="Arial"/>
                <a:ea typeface="Arial"/>
                <a:cs typeface="Arial"/>
                <a:sym typeface="Arial"/>
              </a:defRPr>
            </a:lvl5pPr>
            <a:lvl6pPr marL="0" lvl="5" indent="0" algn="r">
              <a:spcBef>
                <a:spcPts val="0"/>
              </a:spcBef>
              <a:buNone/>
              <a:defRPr sz="1200">
                <a:solidFill>
                  <a:srgbClr val="888888"/>
                </a:solidFill>
                <a:latin typeface="Arial"/>
                <a:ea typeface="Arial"/>
                <a:cs typeface="Arial"/>
                <a:sym typeface="Arial"/>
              </a:defRPr>
            </a:lvl6pPr>
            <a:lvl7pPr marL="0" lvl="6" indent="0" algn="r">
              <a:spcBef>
                <a:spcPts val="0"/>
              </a:spcBef>
              <a:buNone/>
              <a:defRPr sz="1200">
                <a:solidFill>
                  <a:srgbClr val="888888"/>
                </a:solidFill>
                <a:latin typeface="Arial"/>
                <a:ea typeface="Arial"/>
                <a:cs typeface="Arial"/>
                <a:sym typeface="Arial"/>
              </a:defRPr>
            </a:lvl7pPr>
            <a:lvl8pPr marL="0" lvl="7" indent="0" algn="r">
              <a:spcBef>
                <a:spcPts val="0"/>
              </a:spcBef>
              <a:buNone/>
              <a:defRPr sz="1200">
                <a:solidFill>
                  <a:srgbClr val="888888"/>
                </a:solidFill>
                <a:latin typeface="Arial"/>
                <a:ea typeface="Arial"/>
                <a:cs typeface="Arial"/>
                <a:sym typeface="Arial"/>
              </a:defRPr>
            </a:lvl8pPr>
            <a:lvl9pPr marL="0" lvl="8" indent="0" algn="r">
              <a:spcBef>
                <a:spcPts val="0"/>
              </a:spcBef>
              <a:buNone/>
              <a:defRPr sz="120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Tree>
    <p:extLst>
      <p:ext uri="{BB962C8B-B14F-4D97-AF65-F5344CB8AC3E}">
        <p14:creationId xmlns:p14="http://schemas.microsoft.com/office/powerpoint/2010/main" val="2048012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8"/>
          <p:cNvSpPr txBox="1">
            <a:spLocks noGrp="1"/>
          </p:cNvSpPr>
          <p:nvPr>
            <p:ph type="sldNum" idx="12"/>
          </p:nvPr>
        </p:nvSpPr>
        <p:spPr>
          <a:xfrm>
            <a:off x="9244914" y="647168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 id="2147483658" r:id="rId6"/>
    <p:sldLayoutId id="2147483659" r:id="rId7"/>
    <p:sldLayoutId id="2147483660"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image" Target="../media/image25.png"/><Relationship Id="rId7" Type="http://schemas.openxmlformats.org/officeDocument/2006/relationships/image" Target="../media/image29.jpe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42.JPG"/><Relationship Id="rId3" Type="http://schemas.openxmlformats.org/officeDocument/2006/relationships/image" Target="../media/image37.JPG"/><Relationship Id="rId7" Type="http://schemas.openxmlformats.org/officeDocument/2006/relationships/image" Target="../media/image41.JPG"/><Relationship Id="rId2" Type="http://schemas.openxmlformats.org/officeDocument/2006/relationships/image" Target="../media/image36.jpg"/><Relationship Id="rId1" Type="http://schemas.openxmlformats.org/officeDocument/2006/relationships/slideLayout" Target="../slideLayouts/slideLayout2.xml"/><Relationship Id="rId6" Type="http://schemas.openxmlformats.org/officeDocument/2006/relationships/image" Target="../media/image40.JPG"/><Relationship Id="rId5" Type="http://schemas.openxmlformats.org/officeDocument/2006/relationships/image" Target="../media/image39.JPG"/><Relationship Id="rId4" Type="http://schemas.openxmlformats.org/officeDocument/2006/relationships/image" Target="../media/image38.JP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2" name="Rectangle 1">
            <a:extLst>
              <a:ext uri="{FF2B5EF4-FFF2-40B4-BE49-F238E27FC236}">
                <a16:creationId xmlns:a16="http://schemas.microsoft.com/office/drawing/2014/main" id="{97F7D4F3-BDCE-D085-1DF6-BA60EB596372}"/>
              </a:ext>
            </a:extLst>
          </p:cNvPr>
          <p:cNvSpPr/>
          <p:nvPr/>
        </p:nvSpPr>
        <p:spPr>
          <a:xfrm>
            <a:off x="501467" y="5513547"/>
            <a:ext cx="10479942" cy="80288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Google Shape;125;p1"/>
          <p:cNvSpPr txBox="1"/>
          <p:nvPr/>
        </p:nvSpPr>
        <p:spPr>
          <a:xfrm>
            <a:off x="887059" y="2298575"/>
            <a:ext cx="10479942" cy="23876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1E4E79"/>
              </a:buClr>
              <a:buSzPts val="3200"/>
              <a:buFont typeface="Century"/>
              <a:buNone/>
            </a:pPr>
            <a:r>
              <a:rPr lang="en-US" sz="2000" b="1" i="0" u="none" strike="noStrike" cap="none" dirty="0">
                <a:solidFill>
                  <a:srgbClr val="1E4E79"/>
                </a:solidFill>
                <a:latin typeface="Century"/>
                <a:ea typeface="Century"/>
                <a:cs typeface="Century"/>
                <a:sym typeface="Century"/>
              </a:rPr>
              <a:t>THE 5</a:t>
            </a:r>
            <a:r>
              <a:rPr lang="en-US" sz="2000" b="1" i="0" u="none" strike="noStrike" cap="none" baseline="30000" dirty="0">
                <a:solidFill>
                  <a:srgbClr val="1E4E79"/>
                </a:solidFill>
                <a:latin typeface="Century"/>
                <a:ea typeface="Century"/>
                <a:cs typeface="Century"/>
                <a:sym typeface="Century"/>
              </a:rPr>
              <a:t>th</a:t>
            </a:r>
            <a:r>
              <a:rPr lang="en-US" sz="2000" b="1" i="0" u="none" strike="noStrike" cap="none" dirty="0">
                <a:solidFill>
                  <a:srgbClr val="1E4E79"/>
                </a:solidFill>
                <a:latin typeface="Century"/>
                <a:ea typeface="Century"/>
                <a:cs typeface="Century"/>
                <a:sym typeface="Century"/>
              </a:rPr>
              <a:t> VIETNAM SCHOOL OF BIOLOGY (VSOB5)</a:t>
            </a:r>
          </a:p>
          <a:p>
            <a:pPr marL="0" marR="0" lvl="0" indent="0" algn="ctr" rtl="0">
              <a:lnSpc>
                <a:spcPct val="90000"/>
              </a:lnSpc>
              <a:spcBef>
                <a:spcPts val="0"/>
              </a:spcBef>
              <a:spcAft>
                <a:spcPts val="0"/>
              </a:spcAft>
              <a:buClr>
                <a:srgbClr val="1E4E79"/>
              </a:buClr>
              <a:buSzPts val="3200"/>
              <a:buFont typeface="Century"/>
              <a:buNone/>
            </a:pPr>
            <a:endParaRPr lang="en-US" sz="2000" b="1" i="0" u="none" strike="noStrike" cap="none" dirty="0">
              <a:solidFill>
                <a:srgbClr val="1E4E79"/>
              </a:solidFill>
              <a:latin typeface="Century"/>
              <a:ea typeface="Century"/>
              <a:cs typeface="Century"/>
              <a:sym typeface="Century"/>
            </a:endParaRPr>
          </a:p>
          <a:p>
            <a:pPr marL="0" marR="0" lvl="0" indent="0" algn="ctr" rtl="0">
              <a:lnSpc>
                <a:spcPct val="90000"/>
              </a:lnSpc>
              <a:spcBef>
                <a:spcPts val="0"/>
              </a:spcBef>
              <a:spcAft>
                <a:spcPts val="0"/>
              </a:spcAft>
              <a:buClr>
                <a:srgbClr val="1E4E79"/>
              </a:buClr>
              <a:buSzPts val="3200"/>
              <a:buFont typeface="Century"/>
              <a:buNone/>
            </a:pPr>
            <a:r>
              <a:rPr lang="vi-VN" sz="3600" b="1" dirty="0">
                <a:solidFill>
                  <a:srgbClr val="1E4E79"/>
                </a:solidFill>
                <a:sym typeface="Century"/>
              </a:rPr>
              <a:t>Mastering Agentic AI in Bioinformatics: </a:t>
            </a:r>
            <a:br>
              <a:rPr lang="vi-VN" sz="3600" b="1" dirty="0">
                <a:solidFill>
                  <a:srgbClr val="1E4E79"/>
                </a:solidFill>
                <a:sym typeface="Century"/>
              </a:rPr>
            </a:br>
            <a:r>
              <a:rPr lang="vi-VN" sz="3600" b="1" dirty="0">
                <a:solidFill>
                  <a:srgbClr val="1E4E79"/>
                </a:solidFill>
                <a:sym typeface="Century"/>
              </a:rPr>
              <a:t>From Insight to Impact</a:t>
            </a:r>
          </a:p>
          <a:p>
            <a:pPr marL="0" marR="0" lvl="0" indent="0" algn="ctr" rtl="0">
              <a:lnSpc>
                <a:spcPct val="90000"/>
              </a:lnSpc>
              <a:spcBef>
                <a:spcPts val="0"/>
              </a:spcBef>
              <a:spcAft>
                <a:spcPts val="0"/>
              </a:spcAft>
              <a:buClr>
                <a:srgbClr val="1E4E79"/>
              </a:buClr>
              <a:buSzPts val="3200"/>
              <a:buFont typeface="Century"/>
              <a:buNone/>
            </a:pPr>
            <a:endParaRPr sz="3600" b="1" dirty="0">
              <a:solidFill>
                <a:srgbClr val="1E4E79"/>
              </a:solidFill>
              <a:latin typeface="Century"/>
              <a:sym typeface="Century"/>
            </a:endParaRPr>
          </a:p>
        </p:txBody>
      </p:sp>
      <p:sp>
        <p:nvSpPr>
          <p:cNvPr id="126" name="Google Shape;126;p1"/>
          <p:cNvSpPr txBox="1"/>
          <p:nvPr/>
        </p:nvSpPr>
        <p:spPr>
          <a:xfrm>
            <a:off x="1222896" y="4171534"/>
            <a:ext cx="9808267" cy="123106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br>
              <a:rPr lang="vi-VN" sz="2000" b="1" i="0" u="none" strike="noStrike" cap="none" dirty="0">
                <a:solidFill>
                  <a:srgbClr val="04761A"/>
                </a:solidFill>
                <a:latin typeface="Century"/>
                <a:ea typeface="Century"/>
                <a:cs typeface="Century"/>
                <a:sym typeface="Century"/>
              </a:rPr>
            </a:br>
            <a:r>
              <a:rPr lang="vi-VN" sz="2000" b="1" i="1" u="none" strike="noStrike" cap="none" dirty="0">
                <a:solidFill>
                  <a:srgbClr val="04761A"/>
                </a:solidFill>
                <a:latin typeface="Century"/>
                <a:ea typeface="Century"/>
                <a:cs typeface="Century"/>
                <a:sym typeface="Century"/>
              </a:rPr>
              <a:t>October 29</a:t>
            </a:r>
            <a:r>
              <a:rPr lang="vi-VN" sz="2000" b="1" i="1" u="none" strike="noStrike" cap="none" baseline="30000" dirty="0">
                <a:solidFill>
                  <a:srgbClr val="04761A"/>
                </a:solidFill>
                <a:latin typeface="Century"/>
                <a:ea typeface="Century"/>
                <a:cs typeface="Century"/>
                <a:sym typeface="Century"/>
              </a:rPr>
              <a:t>th</a:t>
            </a:r>
            <a:r>
              <a:rPr lang="vi-VN" sz="2000" b="1" i="1" u="none" strike="noStrike" cap="none" dirty="0">
                <a:solidFill>
                  <a:srgbClr val="04761A"/>
                </a:solidFill>
                <a:latin typeface="Century"/>
                <a:ea typeface="Century"/>
                <a:cs typeface="Century"/>
                <a:sym typeface="Century"/>
              </a:rPr>
              <a:t>-31</a:t>
            </a:r>
            <a:r>
              <a:rPr lang="vi-VN" sz="2000" b="1" i="1" u="none" strike="noStrike" cap="none" baseline="30000" dirty="0">
                <a:solidFill>
                  <a:srgbClr val="04761A"/>
                </a:solidFill>
                <a:latin typeface="Century"/>
                <a:ea typeface="Century"/>
                <a:cs typeface="Century"/>
                <a:sym typeface="Century"/>
              </a:rPr>
              <a:t>st</a:t>
            </a:r>
            <a:r>
              <a:rPr lang="vi-VN" sz="2000" b="1" i="1" u="none" strike="noStrike" cap="none" dirty="0">
                <a:solidFill>
                  <a:srgbClr val="04761A"/>
                </a:solidFill>
                <a:latin typeface="Century"/>
                <a:ea typeface="Century"/>
                <a:cs typeface="Century"/>
                <a:sym typeface="Century"/>
              </a:rPr>
              <a:t>, 2026, </a:t>
            </a:r>
            <a:br>
              <a:rPr lang="vi-VN" sz="2000" b="1" i="1" u="none" strike="noStrike" cap="none" dirty="0">
                <a:solidFill>
                  <a:srgbClr val="04761A"/>
                </a:solidFill>
                <a:latin typeface="Century"/>
                <a:ea typeface="Century"/>
                <a:cs typeface="Century"/>
                <a:sym typeface="Century"/>
              </a:rPr>
            </a:br>
            <a:r>
              <a:rPr lang="vi-VN" sz="2000" b="1" i="1" u="none" strike="noStrike" cap="none" dirty="0">
                <a:solidFill>
                  <a:srgbClr val="04761A"/>
                </a:solidFill>
                <a:latin typeface="Century"/>
                <a:ea typeface="Century"/>
                <a:cs typeface="Century"/>
                <a:sym typeface="Century"/>
              </a:rPr>
              <a:t>ICISE, Gia Lai, Vietnam</a:t>
            </a:r>
          </a:p>
          <a:p>
            <a:pPr marL="0" marR="0" lvl="0" indent="0" algn="ctr" rtl="0">
              <a:spcBef>
                <a:spcPts val="0"/>
              </a:spcBef>
              <a:spcAft>
                <a:spcPts val="0"/>
              </a:spcAft>
              <a:buNone/>
            </a:pPr>
            <a:endParaRPr dirty="0"/>
          </a:p>
        </p:txBody>
      </p:sp>
      <p:pic>
        <p:nvPicPr>
          <p:cNvPr id="127" name="Google Shape;127;p1"/>
          <p:cNvPicPr preferRelativeResize="0"/>
          <p:nvPr/>
        </p:nvPicPr>
        <p:blipFill rotWithShape="1">
          <a:blip r:embed="rId3">
            <a:alphaModFix/>
          </a:blip>
          <a:srcRect/>
          <a:stretch/>
        </p:blipFill>
        <p:spPr>
          <a:xfrm>
            <a:off x="2099451" y="503267"/>
            <a:ext cx="4696289" cy="1025178"/>
          </a:xfrm>
          <a:prstGeom prst="rect">
            <a:avLst/>
          </a:prstGeom>
          <a:noFill/>
          <a:ln>
            <a:noFill/>
          </a:ln>
        </p:spPr>
      </p:pic>
      <p:pic>
        <p:nvPicPr>
          <p:cNvPr id="129" name="Google Shape;129;p1"/>
          <p:cNvPicPr preferRelativeResize="0"/>
          <p:nvPr/>
        </p:nvPicPr>
        <p:blipFill rotWithShape="1">
          <a:blip r:embed="rId4">
            <a:alphaModFix/>
          </a:blip>
          <a:srcRect/>
          <a:stretch/>
        </p:blipFill>
        <p:spPr>
          <a:xfrm>
            <a:off x="7599971" y="503267"/>
            <a:ext cx="2218005" cy="1025178"/>
          </a:xfrm>
          <a:prstGeom prst="rect">
            <a:avLst/>
          </a:prstGeom>
          <a:noFill/>
          <a:ln>
            <a:noFill/>
          </a:ln>
        </p:spPr>
      </p:pic>
      <p:pic>
        <p:nvPicPr>
          <p:cNvPr id="1026" name="Picture 2" descr="tiaas logo">
            <a:extLst>
              <a:ext uri="{FF2B5EF4-FFF2-40B4-BE49-F238E27FC236}">
                <a16:creationId xmlns:a16="http://schemas.microsoft.com/office/drawing/2014/main" id="{3B3FC40E-028F-685F-70DE-76F55781EB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8027" y="5730266"/>
            <a:ext cx="1543733" cy="3694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alaxy Australia Logo">
            <a:extLst>
              <a:ext uri="{FF2B5EF4-FFF2-40B4-BE49-F238E27FC236}">
                <a16:creationId xmlns:a16="http://schemas.microsoft.com/office/drawing/2014/main" id="{AF2F77D0-0FB7-BAF9-1C79-4E44B40B9B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0228" y="5524758"/>
            <a:ext cx="2103780" cy="802888"/>
          </a:xfrm>
          <a:prstGeom prst="rect">
            <a:avLst/>
          </a:prstGeom>
          <a:noFill/>
          <a:extLst>
            <a:ext uri="{909E8E84-426E-40DD-AFC4-6F175D3DCCD1}">
              <a14:hiddenFill xmlns:a14="http://schemas.microsoft.com/office/drawing/2010/main">
                <a:solidFill>
                  <a:srgbClr val="FFFFFF"/>
                </a:solidFill>
              </a14:hiddenFill>
            </a:ext>
          </a:extLst>
        </p:spPr>
      </p:pic>
      <p:pic>
        <p:nvPicPr>
          <p:cNvPr id="5" name="Google Shape;129;p1">
            <a:extLst>
              <a:ext uri="{FF2B5EF4-FFF2-40B4-BE49-F238E27FC236}">
                <a16:creationId xmlns:a16="http://schemas.microsoft.com/office/drawing/2014/main" id="{970A21EB-D3AF-15C5-549A-1F975786ECA0}"/>
              </a:ext>
            </a:extLst>
          </p:cNvPr>
          <p:cNvPicPr preferRelativeResize="0"/>
          <p:nvPr/>
        </p:nvPicPr>
        <p:blipFill rotWithShape="1">
          <a:blip r:embed="rId4">
            <a:clrChange>
              <a:clrFrom>
                <a:srgbClr val="FFFFFF"/>
              </a:clrFrom>
              <a:clrTo>
                <a:srgbClr val="FFFFFF">
                  <a:alpha val="0"/>
                </a:srgbClr>
              </a:clrTo>
            </a:clrChange>
            <a:alphaModFix/>
          </a:blip>
          <a:srcRect/>
          <a:stretch/>
        </p:blipFill>
        <p:spPr>
          <a:xfrm>
            <a:off x="6096000" y="5558228"/>
            <a:ext cx="1543733" cy="713524"/>
          </a:xfrm>
          <a:prstGeom prst="rect">
            <a:avLst/>
          </a:prstGeom>
          <a:noFill/>
          <a:ln>
            <a:noFill/>
          </a:ln>
        </p:spPr>
      </p:pic>
      <p:sp>
        <p:nvSpPr>
          <p:cNvPr id="6" name="TextBox 5">
            <a:extLst>
              <a:ext uri="{FF2B5EF4-FFF2-40B4-BE49-F238E27FC236}">
                <a16:creationId xmlns:a16="http://schemas.microsoft.com/office/drawing/2014/main" id="{74F25AC6-9CC9-CB64-22B6-479CAA5D30C9}"/>
              </a:ext>
            </a:extLst>
          </p:cNvPr>
          <p:cNvSpPr txBox="1"/>
          <p:nvPr/>
        </p:nvSpPr>
        <p:spPr>
          <a:xfrm>
            <a:off x="7702322" y="5684158"/>
            <a:ext cx="2015295" cy="461665"/>
          </a:xfrm>
          <a:prstGeom prst="rect">
            <a:avLst/>
          </a:prstGeom>
          <a:noFill/>
        </p:spPr>
        <p:txBody>
          <a:bodyPr wrap="none" rtlCol="0">
            <a:spAutoFit/>
          </a:bodyPr>
          <a:lstStyle/>
          <a:p>
            <a:r>
              <a:rPr lang="en-US" sz="2400" dirty="0"/>
              <a:t>CBAS Server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nip Diagonal Corner Rectangle 5">
            <a:extLst>
              <a:ext uri="{FF2B5EF4-FFF2-40B4-BE49-F238E27FC236}">
                <a16:creationId xmlns:a16="http://schemas.microsoft.com/office/drawing/2014/main" id="{4D471778-2DB9-0925-87C9-7BB96D343004}"/>
              </a:ext>
            </a:extLst>
          </p:cNvPr>
          <p:cNvSpPr/>
          <p:nvPr/>
        </p:nvSpPr>
        <p:spPr>
          <a:xfrm>
            <a:off x="136405" y="3429000"/>
            <a:ext cx="5760000" cy="2375209"/>
          </a:xfrm>
          <a:prstGeom prst="snip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nip Diagonal Corner Rectangle 1">
            <a:extLst>
              <a:ext uri="{FF2B5EF4-FFF2-40B4-BE49-F238E27FC236}">
                <a16:creationId xmlns:a16="http://schemas.microsoft.com/office/drawing/2014/main" id="{990EB12D-6A0F-19DA-C15F-6AA8CAD9B24B}"/>
              </a:ext>
            </a:extLst>
          </p:cNvPr>
          <p:cNvSpPr/>
          <p:nvPr/>
        </p:nvSpPr>
        <p:spPr>
          <a:xfrm>
            <a:off x="200722" y="289932"/>
            <a:ext cx="5760000" cy="2375209"/>
          </a:xfrm>
          <a:prstGeom prst="snip2Diag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B0E2914A-957C-9CA1-AD2A-742E3AAEA3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5" name="TextBox 4">
            <a:extLst>
              <a:ext uri="{FF2B5EF4-FFF2-40B4-BE49-F238E27FC236}">
                <a16:creationId xmlns:a16="http://schemas.microsoft.com/office/drawing/2014/main" id="{4BD840C5-6505-D6EA-BFF4-9A152B4982D3}"/>
              </a:ext>
            </a:extLst>
          </p:cNvPr>
          <p:cNvSpPr txBox="1"/>
          <p:nvPr/>
        </p:nvSpPr>
        <p:spPr>
          <a:xfrm>
            <a:off x="415858" y="785039"/>
            <a:ext cx="5329728" cy="1384995"/>
          </a:xfrm>
          <a:prstGeom prst="rect">
            <a:avLst/>
          </a:prstGeom>
          <a:noFill/>
        </p:spPr>
        <p:txBody>
          <a:bodyPr wrap="square">
            <a:spAutoFit/>
          </a:bodyPr>
          <a:lstStyle/>
          <a:p>
            <a:pPr algn="ctr"/>
            <a:r>
              <a:rPr lang="en-US" b="1" i="0" dirty="0">
                <a:solidFill>
                  <a:srgbClr val="055AAB"/>
                </a:solidFill>
                <a:effectLst/>
                <a:latin typeface="Montserrat" panose="020F0502020204030204" pitchFamily="34" charset="0"/>
              </a:rPr>
              <a:t>The 1</a:t>
            </a:r>
            <a:r>
              <a:rPr lang="en-US" b="1" i="0" baseline="30000" dirty="0">
                <a:solidFill>
                  <a:srgbClr val="055AAB"/>
                </a:solidFill>
                <a:effectLst/>
                <a:latin typeface="Montserrat" panose="020F0502020204030204" pitchFamily="34" charset="0"/>
              </a:rPr>
              <a:t>st</a:t>
            </a:r>
            <a:r>
              <a:rPr lang="en-US" b="1" i="0" dirty="0">
                <a:solidFill>
                  <a:srgbClr val="055AAB"/>
                </a:solidFill>
                <a:effectLst/>
                <a:latin typeface="Montserrat" panose="020F0502020204030204" pitchFamily="34" charset="0"/>
              </a:rPr>
              <a:t> VIETNAM SCHOOL OF BIOLOGY</a:t>
            </a:r>
            <a:br>
              <a:rPr lang="en-US" b="1" i="0" dirty="0">
                <a:solidFill>
                  <a:srgbClr val="055AAB"/>
                </a:solidFill>
                <a:effectLst/>
                <a:latin typeface="Montserrat" panose="020F0502020204030204" pitchFamily="34" charset="0"/>
              </a:rPr>
            </a:br>
            <a:endParaRPr lang="en-US" b="1" i="0" dirty="0">
              <a:solidFill>
                <a:srgbClr val="055AAB"/>
              </a:solidFill>
              <a:effectLst/>
              <a:latin typeface="Montserrat" panose="020F0502020204030204" pitchFamily="34" charset="0"/>
            </a:endParaRPr>
          </a:p>
          <a:p>
            <a:pPr algn="ctr"/>
            <a:r>
              <a:rPr lang="en-US" b="1" i="0" dirty="0">
                <a:solidFill>
                  <a:srgbClr val="006400"/>
                </a:solidFill>
                <a:effectLst/>
                <a:latin typeface="Montserrat" pitchFamily="2" charset="77"/>
              </a:rPr>
              <a:t>Bioinformatic course: </a:t>
            </a:r>
            <a:br>
              <a:rPr lang="en-US" b="1" i="0" dirty="0">
                <a:solidFill>
                  <a:srgbClr val="006400"/>
                </a:solidFill>
                <a:effectLst/>
                <a:latin typeface="Montserrat" pitchFamily="2" charset="77"/>
              </a:rPr>
            </a:br>
            <a:r>
              <a:rPr lang="en-US" b="1" i="0" dirty="0">
                <a:solidFill>
                  <a:srgbClr val="006400"/>
                </a:solidFill>
                <a:effectLst/>
                <a:latin typeface="Montserrat" pitchFamily="2" charset="77"/>
              </a:rPr>
              <a:t>Microbiome analysis in agricultural work and research</a:t>
            </a:r>
            <a:br>
              <a:rPr lang="en-US" b="1" i="0" dirty="0">
                <a:solidFill>
                  <a:srgbClr val="006400"/>
                </a:solidFill>
                <a:effectLst/>
                <a:latin typeface="Montserrat" pitchFamily="2" charset="77"/>
              </a:rPr>
            </a:br>
            <a:endParaRPr lang="en-US" b="1" i="0" dirty="0">
              <a:solidFill>
                <a:srgbClr val="006400"/>
              </a:solidFill>
              <a:effectLst/>
              <a:latin typeface="Montserrat" pitchFamily="2" charset="77"/>
            </a:endParaRPr>
          </a:p>
          <a:p>
            <a:pPr algn="ctr"/>
            <a:r>
              <a:rPr lang="en-US" b="0" i="0" dirty="0">
                <a:solidFill>
                  <a:srgbClr val="006400"/>
                </a:solidFill>
                <a:effectLst/>
                <a:latin typeface="Roboto Slab" panose="020F0502020204030204" pitchFamily="34" charset="0"/>
              </a:rPr>
              <a:t>December 13-14, 2022, ICISE, </a:t>
            </a:r>
            <a:r>
              <a:rPr lang="en-US" b="0" i="0" dirty="0" err="1">
                <a:solidFill>
                  <a:srgbClr val="006400"/>
                </a:solidFill>
                <a:effectLst/>
                <a:latin typeface="Roboto Slab" panose="020F0502020204030204" pitchFamily="34" charset="0"/>
              </a:rPr>
              <a:t>Quy</a:t>
            </a:r>
            <a:r>
              <a:rPr lang="en-US" b="0" i="0" dirty="0">
                <a:solidFill>
                  <a:srgbClr val="006400"/>
                </a:solidFill>
                <a:effectLst/>
                <a:latin typeface="Roboto Slab" panose="020F0502020204030204" pitchFamily="34" charset="0"/>
              </a:rPr>
              <a:t> Nhon, Vietnam</a:t>
            </a:r>
          </a:p>
        </p:txBody>
      </p:sp>
      <p:sp>
        <p:nvSpPr>
          <p:cNvPr id="7" name="TextBox 6">
            <a:extLst>
              <a:ext uri="{FF2B5EF4-FFF2-40B4-BE49-F238E27FC236}">
                <a16:creationId xmlns:a16="http://schemas.microsoft.com/office/drawing/2014/main" id="{99401ADD-845E-BA56-56B2-4487403592B2}"/>
              </a:ext>
            </a:extLst>
          </p:cNvPr>
          <p:cNvSpPr txBox="1"/>
          <p:nvPr/>
        </p:nvSpPr>
        <p:spPr>
          <a:xfrm>
            <a:off x="6760249" y="785038"/>
            <a:ext cx="4431502" cy="1384995"/>
          </a:xfrm>
          <a:prstGeom prst="rect">
            <a:avLst/>
          </a:prstGeom>
          <a:noFill/>
        </p:spPr>
        <p:txBody>
          <a:bodyPr wrap="square">
            <a:spAutoFit/>
          </a:bodyPr>
          <a:lstStyle/>
          <a:p>
            <a:pPr algn="ctr"/>
            <a:r>
              <a:rPr lang="en-US" b="1" i="0" dirty="0">
                <a:solidFill>
                  <a:srgbClr val="055AAB"/>
                </a:solidFill>
                <a:effectLst/>
                <a:latin typeface="Montserrat" pitchFamily="2" charset="77"/>
              </a:rPr>
              <a:t>The 2</a:t>
            </a:r>
            <a:r>
              <a:rPr lang="en-US" b="1" i="0" baseline="30000" dirty="0">
                <a:solidFill>
                  <a:srgbClr val="055AAB"/>
                </a:solidFill>
                <a:effectLst/>
                <a:latin typeface="Montserrat" pitchFamily="2" charset="77"/>
              </a:rPr>
              <a:t>nd</a:t>
            </a:r>
            <a:r>
              <a:rPr lang="en-US" b="1" i="0" dirty="0">
                <a:solidFill>
                  <a:srgbClr val="055AAB"/>
                </a:solidFill>
                <a:effectLst/>
                <a:latin typeface="Montserrat" pitchFamily="2" charset="77"/>
              </a:rPr>
              <a:t> VIETNAM SCHOOL OF BIOLOGY</a:t>
            </a:r>
            <a:br>
              <a:rPr lang="en-US" b="1" i="0" dirty="0">
                <a:solidFill>
                  <a:srgbClr val="055AAB"/>
                </a:solidFill>
                <a:effectLst/>
                <a:latin typeface="Montserrat" pitchFamily="2" charset="77"/>
              </a:rPr>
            </a:br>
            <a:endParaRPr lang="en-US" b="1" i="0" dirty="0">
              <a:solidFill>
                <a:srgbClr val="055AAB"/>
              </a:solidFill>
              <a:effectLst/>
              <a:latin typeface="Montserrat" pitchFamily="2" charset="77"/>
            </a:endParaRPr>
          </a:p>
          <a:p>
            <a:pPr algn="ctr"/>
            <a:r>
              <a:rPr lang="en-US" b="1" i="0" dirty="0">
                <a:solidFill>
                  <a:srgbClr val="006400"/>
                </a:solidFill>
                <a:effectLst/>
                <a:latin typeface="Montserrat" pitchFamily="2" charset="77"/>
              </a:rPr>
              <a:t>Genomic analysis of microbial pathogens </a:t>
            </a:r>
            <a:br>
              <a:rPr lang="en-US" b="1" i="0" dirty="0">
                <a:solidFill>
                  <a:srgbClr val="006400"/>
                </a:solidFill>
                <a:effectLst/>
                <a:latin typeface="Montserrat" pitchFamily="2" charset="77"/>
              </a:rPr>
            </a:br>
            <a:r>
              <a:rPr lang="en-US" b="1" i="0" dirty="0">
                <a:solidFill>
                  <a:srgbClr val="006400"/>
                </a:solidFill>
                <a:effectLst/>
                <a:latin typeface="Montserrat" pitchFamily="2" charset="77"/>
              </a:rPr>
              <a:t>using Illumina and Nanopore sequencing</a:t>
            </a:r>
            <a:br>
              <a:rPr lang="en-US" b="1" i="0" dirty="0">
                <a:solidFill>
                  <a:srgbClr val="006400"/>
                </a:solidFill>
                <a:effectLst/>
                <a:latin typeface="Montserrat" pitchFamily="2" charset="77"/>
              </a:rPr>
            </a:br>
            <a:endParaRPr lang="en-US" b="1" i="0" dirty="0">
              <a:solidFill>
                <a:srgbClr val="006400"/>
              </a:solidFill>
              <a:effectLst/>
              <a:latin typeface="Montserrat" pitchFamily="2" charset="77"/>
            </a:endParaRPr>
          </a:p>
          <a:p>
            <a:pPr algn="ctr"/>
            <a:r>
              <a:rPr lang="en-US" b="0" i="0" dirty="0">
                <a:solidFill>
                  <a:srgbClr val="006400"/>
                </a:solidFill>
                <a:effectLst/>
                <a:latin typeface="Roboto Slab" pitchFamily="2" charset="0"/>
              </a:rPr>
              <a:t>December 9-11, 2023, ICISE, </a:t>
            </a:r>
            <a:r>
              <a:rPr lang="en-US" b="0" i="0" dirty="0" err="1">
                <a:solidFill>
                  <a:srgbClr val="006400"/>
                </a:solidFill>
                <a:effectLst/>
                <a:latin typeface="Roboto Slab" pitchFamily="2" charset="0"/>
              </a:rPr>
              <a:t>Quy</a:t>
            </a:r>
            <a:r>
              <a:rPr lang="en-US" b="0" i="0" dirty="0">
                <a:solidFill>
                  <a:srgbClr val="006400"/>
                </a:solidFill>
                <a:effectLst/>
                <a:latin typeface="Roboto Slab" pitchFamily="2" charset="0"/>
              </a:rPr>
              <a:t> Nhon, Vietnam</a:t>
            </a:r>
          </a:p>
        </p:txBody>
      </p:sp>
      <p:sp>
        <p:nvSpPr>
          <p:cNvPr id="9" name="TextBox 8">
            <a:extLst>
              <a:ext uri="{FF2B5EF4-FFF2-40B4-BE49-F238E27FC236}">
                <a16:creationId xmlns:a16="http://schemas.microsoft.com/office/drawing/2014/main" id="{CB3BFCCC-DC82-463C-F7ED-BDB19BF4C42A}"/>
              </a:ext>
            </a:extLst>
          </p:cNvPr>
          <p:cNvSpPr txBox="1"/>
          <p:nvPr/>
        </p:nvSpPr>
        <p:spPr>
          <a:xfrm>
            <a:off x="-44604" y="4016440"/>
            <a:ext cx="6122018" cy="1200329"/>
          </a:xfrm>
          <a:prstGeom prst="rect">
            <a:avLst/>
          </a:prstGeom>
          <a:noFill/>
        </p:spPr>
        <p:txBody>
          <a:bodyPr wrap="square">
            <a:spAutoFit/>
          </a:bodyPr>
          <a:lstStyle/>
          <a:p>
            <a:pPr algn="ctr" fontAlgn="base"/>
            <a:r>
              <a:rPr lang="en-US" b="1" i="0" u="none" strike="noStrike" dirty="0">
                <a:solidFill>
                  <a:srgbClr val="005AAB"/>
                </a:solidFill>
                <a:effectLst/>
                <a:latin typeface=""/>
              </a:rPr>
              <a:t>The 3</a:t>
            </a:r>
            <a:r>
              <a:rPr lang="en-US" b="1" i="0" u="none" strike="noStrike" baseline="30000" dirty="0">
                <a:solidFill>
                  <a:srgbClr val="005AAB"/>
                </a:solidFill>
                <a:effectLst/>
                <a:latin typeface=""/>
              </a:rPr>
              <a:t>rd</a:t>
            </a:r>
            <a:r>
              <a:rPr lang="en-US" b="1" i="0" u="none" strike="noStrike" dirty="0">
                <a:solidFill>
                  <a:srgbClr val="005AAB"/>
                </a:solidFill>
                <a:effectLst/>
                <a:latin typeface=""/>
              </a:rPr>
              <a:t> VIETNAM SCHOOL OF BIOLOGY</a:t>
            </a:r>
            <a:br>
              <a:rPr lang="en-US" b="1" i="0" u="none" strike="noStrike" dirty="0">
                <a:solidFill>
                  <a:srgbClr val="005AAB"/>
                </a:solidFill>
                <a:effectLst/>
                <a:latin typeface=""/>
              </a:rPr>
            </a:br>
            <a:br>
              <a:rPr lang="en-US" b="1" i="0" u="none" strike="noStrike" dirty="0">
                <a:solidFill>
                  <a:srgbClr val="005AAB"/>
                </a:solidFill>
                <a:effectLst/>
                <a:latin typeface=""/>
              </a:rPr>
            </a:br>
            <a:r>
              <a:rPr lang="en-US" sz="1600" b="1" dirty="0">
                <a:solidFill>
                  <a:srgbClr val="006400"/>
                </a:solidFill>
                <a:latin typeface="Montserrat" pitchFamily="2" charset="77"/>
              </a:rPr>
              <a:t>Bioinformatic analysis for bulk RNA-seq data</a:t>
            </a:r>
            <a:br>
              <a:rPr lang="en-US" sz="1600" b="1" i="0" u="none" strike="noStrike" dirty="0">
                <a:solidFill>
                  <a:srgbClr val="005AAB"/>
                </a:solidFill>
                <a:effectLst/>
                <a:latin typeface=""/>
              </a:rPr>
            </a:br>
            <a:br>
              <a:rPr lang="en-US" b="1" i="0" dirty="0">
                <a:solidFill>
                  <a:srgbClr val="005AAB"/>
                </a:solidFill>
                <a:effectLst/>
                <a:latin typeface=""/>
              </a:rPr>
            </a:br>
            <a:r>
              <a:rPr lang="en-US" i="0" dirty="0">
                <a:solidFill>
                  <a:schemeClr val="accent6">
                    <a:lumMod val="75000"/>
                  </a:schemeClr>
                </a:solidFill>
                <a:effectLst/>
                <a:latin typeface=""/>
              </a:rPr>
              <a:t>December 06-08, 2024, ICISE, </a:t>
            </a:r>
            <a:r>
              <a:rPr lang="en-US" i="0" dirty="0" err="1">
                <a:solidFill>
                  <a:schemeClr val="accent6">
                    <a:lumMod val="75000"/>
                  </a:schemeClr>
                </a:solidFill>
                <a:effectLst/>
                <a:latin typeface=""/>
              </a:rPr>
              <a:t>Quy</a:t>
            </a:r>
            <a:r>
              <a:rPr lang="en-US" i="0" dirty="0">
                <a:solidFill>
                  <a:schemeClr val="accent6">
                    <a:lumMod val="75000"/>
                  </a:schemeClr>
                </a:solidFill>
                <a:effectLst/>
                <a:latin typeface=""/>
              </a:rPr>
              <a:t> Nhon, Vietnam</a:t>
            </a:r>
          </a:p>
        </p:txBody>
      </p:sp>
      <p:sp>
        <p:nvSpPr>
          <p:cNvPr id="4" name="Snip Diagonal Corner Rectangle 3">
            <a:extLst>
              <a:ext uri="{FF2B5EF4-FFF2-40B4-BE49-F238E27FC236}">
                <a16:creationId xmlns:a16="http://schemas.microsoft.com/office/drawing/2014/main" id="{89B4DA52-E0A0-AE1C-C7F2-FE097A24D6DF}"/>
              </a:ext>
            </a:extLst>
          </p:cNvPr>
          <p:cNvSpPr/>
          <p:nvPr/>
        </p:nvSpPr>
        <p:spPr>
          <a:xfrm>
            <a:off x="6096000" y="289931"/>
            <a:ext cx="5760000" cy="2375209"/>
          </a:xfrm>
          <a:prstGeom prst="snip2Diag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95F6B24-066B-32C4-A68C-70AC388CE394}"/>
              </a:ext>
            </a:extLst>
          </p:cNvPr>
          <p:cNvGrpSpPr/>
          <p:nvPr/>
        </p:nvGrpSpPr>
        <p:grpSpPr>
          <a:xfrm>
            <a:off x="5866096" y="3429000"/>
            <a:ext cx="6122018" cy="2375209"/>
            <a:chOff x="5866096" y="3429000"/>
            <a:chExt cx="6122018" cy="2375209"/>
          </a:xfrm>
        </p:grpSpPr>
        <p:sp>
          <p:nvSpPr>
            <p:cNvPr id="8" name="Snip Diagonal Corner Rectangle 7">
              <a:extLst>
                <a:ext uri="{FF2B5EF4-FFF2-40B4-BE49-F238E27FC236}">
                  <a16:creationId xmlns:a16="http://schemas.microsoft.com/office/drawing/2014/main" id="{E13CF971-3A05-B6DF-DD64-D35CC9A63ACD}"/>
                </a:ext>
              </a:extLst>
            </p:cNvPr>
            <p:cNvSpPr/>
            <p:nvPr/>
          </p:nvSpPr>
          <p:spPr>
            <a:xfrm>
              <a:off x="6047105" y="3429000"/>
              <a:ext cx="5760000" cy="2375209"/>
            </a:xfrm>
            <a:prstGeom prst="snip2DiagRect">
              <a:avLst/>
            </a:prstGeom>
            <a:solidFill>
              <a:schemeClr val="accent6">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25D943B-4557-7D77-98FA-D689F330007A}"/>
                </a:ext>
              </a:extLst>
            </p:cNvPr>
            <p:cNvSpPr txBox="1"/>
            <p:nvPr/>
          </p:nvSpPr>
          <p:spPr>
            <a:xfrm>
              <a:off x="5866096" y="4016440"/>
              <a:ext cx="6122018" cy="1692771"/>
            </a:xfrm>
            <a:prstGeom prst="rect">
              <a:avLst/>
            </a:prstGeom>
            <a:noFill/>
            <a:ln>
              <a:noFill/>
              <a:prstDash val="solid"/>
            </a:ln>
          </p:spPr>
          <p:txBody>
            <a:bodyPr wrap="square">
              <a:spAutoFit/>
            </a:bodyPr>
            <a:lstStyle/>
            <a:p>
              <a:pPr algn="ctr" fontAlgn="base"/>
              <a:r>
                <a:rPr lang="en-US" b="1" i="0" u="none" strike="noStrike" dirty="0">
                  <a:solidFill>
                    <a:srgbClr val="005AAB"/>
                  </a:solidFill>
                  <a:effectLst/>
                  <a:latin typeface=""/>
                </a:rPr>
                <a:t>The 4</a:t>
              </a:r>
              <a:r>
                <a:rPr lang="en-US" b="1" i="0" u="none" strike="noStrike" baseline="30000" dirty="0">
                  <a:solidFill>
                    <a:srgbClr val="005AAB"/>
                  </a:solidFill>
                  <a:effectLst/>
                  <a:latin typeface=""/>
                </a:rPr>
                <a:t>th</a:t>
              </a:r>
              <a:r>
                <a:rPr lang="en-US" b="1" i="0" u="none" strike="noStrike" dirty="0">
                  <a:solidFill>
                    <a:srgbClr val="005AAB"/>
                  </a:solidFill>
                  <a:effectLst/>
                  <a:latin typeface=""/>
                </a:rPr>
                <a:t> VIETNAM SCHOOL OF BIOLOGY</a:t>
              </a:r>
              <a:br>
                <a:rPr lang="en-US" b="1" i="0" u="none" strike="noStrike" dirty="0">
                  <a:solidFill>
                    <a:srgbClr val="005AAB"/>
                  </a:solidFill>
                  <a:effectLst/>
                  <a:latin typeface=""/>
                </a:rPr>
              </a:br>
              <a:br>
                <a:rPr lang="en-US" b="1" i="0" u="none" strike="noStrike" dirty="0">
                  <a:solidFill>
                    <a:srgbClr val="005AAB"/>
                  </a:solidFill>
                  <a:effectLst/>
                  <a:latin typeface=""/>
                </a:rPr>
              </a:br>
              <a:r>
                <a:rPr lang="en-US" sz="1600" b="1" dirty="0">
                  <a:solidFill>
                    <a:srgbClr val="006400"/>
                  </a:solidFill>
                  <a:latin typeface="Montserrat" pitchFamily="2" charset="77"/>
                </a:rPr>
                <a:t>Bioinformatics Course: </a:t>
              </a:r>
              <a:br>
                <a:rPr lang="en-US" sz="1600" b="1" dirty="0">
                  <a:solidFill>
                    <a:srgbClr val="006400"/>
                  </a:solidFill>
                  <a:latin typeface="Montserrat" pitchFamily="2" charset="77"/>
                </a:rPr>
              </a:br>
              <a:r>
                <a:rPr lang="en-US" sz="1600" b="1" dirty="0">
                  <a:solidFill>
                    <a:srgbClr val="006400"/>
                  </a:solidFill>
                  <a:latin typeface="Montserrat" pitchFamily="2" charset="77"/>
                </a:rPr>
                <a:t>Metagenome Analysis in One Health Practice </a:t>
              </a:r>
              <a:br>
                <a:rPr lang="en-US" sz="1600" b="1" dirty="0">
                  <a:solidFill>
                    <a:srgbClr val="006400"/>
                  </a:solidFill>
                  <a:latin typeface="Montserrat" pitchFamily="2" charset="77"/>
                </a:rPr>
              </a:br>
              <a:r>
                <a:rPr lang="en-US" sz="1600" b="1" dirty="0">
                  <a:solidFill>
                    <a:srgbClr val="006400"/>
                  </a:solidFill>
                  <a:latin typeface="Montserrat" pitchFamily="2" charset="77"/>
                </a:rPr>
                <a:t>From 16S to Shotgun</a:t>
              </a:r>
            </a:p>
            <a:p>
              <a:pPr algn="ctr" fontAlgn="base"/>
              <a:br>
                <a:rPr lang="en-US" b="1" i="0" dirty="0">
                  <a:solidFill>
                    <a:srgbClr val="005AAB"/>
                  </a:solidFill>
                  <a:effectLst/>
                  <a:latin typeface=""/>
                </a:rPr>
              </a:br>
              <a:r>
                <a:rPr lang="en-US" i="0" dirty="0">
                  <a:solidFill>
                    <a:schemeClr val="accent6">
                      <a:lumMod val="50000"/>
                    </a:schemeClr>
                  </a:solidFill>
                  <a:effectLst/>
                  <a:latin typeface=""/>
                </a:rPr>
                <a:t>Sep 3</a:t>
              </a:r>
              <a:r>
                <a:rPr lang="en-US" i="0" baseline="30000" dirty="0">
                  <a:solidFill>
                    <a:schemeClr val="accent6">
                      <a:lumMod val="50000"/>
                    </a:schemeClr>
                  </a:solidFill>
                  <a:effectLst/>
                  <a:latin typeface=""/>
                </a:rPr>
                <a:t>rd</a:t>
              </a:r>
              <a:r>
                <a:rPr lang="en-US" i="0" dirty="0">
                  <a:solidFill>
                    <a:schemeClr val="accent6">
                      <a:lumMod val="50000"/>
                    </a:schemeClr>
                  </a:solidFill>
                  <a:effectLst/>
                  <a:latin typeface=""/>
                </a:rPr>
                <a:t> -6</a:t>
              </a:r>
              <a:r>
                <a:rPr lang="en-US" i="0" baseline="30000" dirty="0">
                  <a:solidFill>
                    <a:schemeClr val="accent6">
                      <a:lumMod val="50000"/>
                    </a:schemeClr>
                  </a:solidFill>
                  <a:effectLst/>
                  <a:latin typeface=""/>
                </a:rPr>
                <a:t>th</a:t>
              </a:r>
              <a:r>
                <a:rPr lang="en-US" i="0" dirty="0">
                  <a:solidFill>
                    <a:schemeClr val="accent6">
                      <a:lumMod val="50000"/>
                    </a:schemeClr>
                  </a:solidFill>
                  <a:effectLst/>
                  <a:latin typeface=""/>
                </a:rPr>
                <a:t>, 2025</a:t>
              </a:r>
              <a:r>
                <a:rPr lang="en-US" i="0" dirty="0">
                  <a:solidFill>
                    <a:schemeClr val="accent6">
                      <a:lumMod val="75000"/>
                    </a:schemeClr>
                  </a:solidFill>
                  <a:effectLst/>
                  <a:latin typeface=""/>
                </a:rPr>
                <a:t>, ICISE, Gia Lai, Vietnam</a:t>
              </a:r>
            </a:p>
          </p:txBody>
        </p:sp>
      </p:grpSp>
    </p:spTree>
    <p:extLst>
      <p:ext uri="{BB962C8B-B14F-4D97-AF65-F5344CB8AC3E}">
        <p14:creationId xmlns:p14="http://schemas.microsoft.com/office/powerpoint/2010/main" val="1381356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A46EABC-B282-A770-0FF1-FA1BCBDDFC1F}"/>
              </a:ext>
            </a:extLst>
          </p:cNvPr>
          <p:cNvSpPr>
            <a:spLocks noGrp="1"/>
          </p:cNvSpPr>
          <p:nvPr>
            <p:ph type="sldNum" idx="4294967295"/>
          </p:nvPr>
        </p:nvSpPr>
        <p:spPr>
          <a:xfrm>
            <a:off x="9448800" y="6472238"/>
            <a:ext cx="2743200" cy="365125"/>
          </a:xfrm>
        </p:spPr>
        <p:txBody>
          <a:bodyPr/>
          <a:lstStyle/>
          <a:p>
            <a:pPr marL="0" lvl="0" indent="0" algn="r" rtl="0">
              <a:spcBef>
                <a:spcPts val="0"/>
              </a:spcBef>
              <a:spcAft>
                <a:spcPts val="0"/>
              </a:spcAft>
              <a:buNone/>
            </a:pPr>
            <a:fld id="{00000000-1234-1234-1234-123412341234}" type="slidenum">
              <a:rPr lang="en-US" smtClean="0"/>
              <a:t>3</a:t>
            </a:fld>
            <a:endParaRPr lang="en-US"/>
          </a:p>
        </p:txBody>
      </p:sp>
      <p:grpSp>
        <p:nvGrpSpPr>
          <p:cNvPr id="4" name="Group 3">
            <a:extLst>
              <a:ext uri="{FF2B5EF4-FFF2-40B4-BE49-F238E27FC236}">
                <a16:creationId xmlns:a16="http://schemas.microsoft.com/office/drawing/2014/main" id="{54531FB4-1C1B-FDF3-7D2C-20E28F0B8ACA}"/>
              </a:ext>
            </a:extLst>
          </p:cNvPr>
          <p:cNvGrpSpPr/>
          <p:nvPr/>
        </p:nvGrpSpPr>
        <p:grpSpPr>
          <a:xfrm>
            <a:off x="3034991" y="2241395"/>
            <a:ext cx="6122018" cy="2375209"/>
            <a:chOff x="5866096" y="3429000"/>
            <a:chExt cx="6122018" cy="2375209"/>
          </a:xfrm>
        </p:grpSpPr>
        <p:sp>
          <p:nvSpPr>
            <p:cNvPr id="5" name="Snip Diagonal Corner Rectangle 4">
              <a:extLst>
                <a:ext uri="{FF2B5EF4-FFF2-40B4-BE49-F238E27FC236}">
                  <a16:creationId xmlns:a16="http://schemas.microsoft.com/office/drawing/2014/main" id="{8ED4F904-0FAD-5A22-5424-D61AA5095E7B}"/>
                </a:ext>
              </a:extLst>
            </p:cNvPr>
            <p:cNvSpPr/>
            <p:nvPr/>
          </p:nvSpPr>
          <p:spPr>
            <a:xfrm>
              <a:off x="6047105" y="3429000"/>
              <a:ext cx="5760000" cy="2375209"/>
            </a:xfrm>
            <a:prstGeom prst="snip2DiagRect">
              <a:avLst/>
            </a:prstGeom>
            <a:solidFill>
              <a:schemeClr val="accent6">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8B6D418-8BB0-CCBF-AE8C-129EFB99565E}"/>
                </a:ext>
              </a:extLst>
            </p:cNvPr>
            <p:cNvSpPr txBox="1"/>
            <p:nvPr/>
          </p:nvSpPr>
          <p:spPr>
            <a:xfrm>
              <a:off x="5866096" y="4016440"/>
              <a:ext cx="6122018" cy="1446550"/>
            </a:xfrm>
            <a:prstGeom prst="rect">
              <a:avLst/>
            </a:prstGeom>
            <a:noFill/>
            <a:ln>
              <a:noFill/>
              <a:prstDash val="solid"/>
            </a:ln>
          </p:spPr>
          <p:txBody>
            <a:bodyPr wrap="square">
              <a:spAutoFit/>
            </a:bodyPr>
            <a:lstStyle/>
            <a:p>
              <a:pPr algn="ctr" fontAlgn="base"/>
              <a:r>
                <a:rPr lang="en-US" b="1" i="0" u="none" strike="noStrike" dirty="0">
                  <a:solidFill>
                    <a:srgbClr val="005AAB"/>
                  </a:solidFill>
                  <a:effectLst/>
                  <a:latin typeface=""/>
                </a:rPr>
                <a:t>The 5</a:t>
              </a:r>
              <a:r>
                <a:rPr lang="en-US" b="1" i="0" u="none" strike="noStrike" baseline="30000" dirty="0">
                  <a:solidFill>
                    <a:srgbClr val="005AAB"/>
                  </a:solidFill>
                  <a:effectLst/>
                  <a:latin typeface=""/>
                </a:rPr>
                <a:t>th</a:t>
              </a:r>
              <a:r>
                <a:rPr lang="en-US" b="1" i="0" u="none" strike="noStrike" dirty="0">
                  <a:solidFill>
                    <a:srgbClr val="005AAB"/>
                  </a:solidFill>
                  <a:effectLst/>
                  <a:latin typeface=""/>
                </a:rPr>
                <a:t> VIETNAM SCHOOL OF BIOLOGY</a:t>
              </a:r>
              <a:br>
                <a:rPr lang="en-US" b="1" i="0" u="none" strike="noStrike" dirty="0">
                  <a:solidFill>
                    <a:srgbClr val="005AAB"/>
                  </a:solidFill>
                  <a:effectLst/>
                  <a:latin typeface=""/>
                </a:rPr>
              </a:br>
              <a:br>
                <a:rPr lang="en-US" b="1" i="0" u="none" strike="noStrike" dirty="0">
                  <a:solidFill>
                    <a:srgbClr val="005AAB"/>
                  </a:solidFill>
                  <a:effectLst/>
                  <a:latin typeface=""/>
                </a:rPr>
              </a:br>
              <a:r>
                <a:rPr lang="en-US" sz="1600" b="1" dirty="0">
                  <a:solidFill>
                    <a:srgbClr val="006400"/>
                  </a:solidFill>
                  <a:latin typeface="Montserrat" pitchFamily="2" charset="77"/>
                </a:rPr>
                <a:t>Mastering Agentic AI in Bioinformatics: </a:t>
              </a:r>
              <a:br>
                <a:rPr lang="en-US" sz="1600" b="1" dirty="0">
                  <a:solidFill>
                    <a:srgbClr val="006400"/>
                  </a:solidFill>
                  <a:latin typeface="Montserrat" pitchFamily="2" charset="77"/>
                </a:rPr>
              </a:br>
              <a:r>
                <a:rPr lang="en-US" sz="1600" b="1" dirty="0">
                  <a:solidFill>
                    <a:srgbClr val="006400"/>
                  </a:solidFill>
                  <a:latin typeface="Montserrat" pitchFamily="2" charset="77"/>
                </a:rPr>
                <a:t>From Insight to Impact</a:t>
              </a:r>
            </a:p>
            <a:p>
              <a:pPr algn="ctr" fontAlgn="base"/>
              <a:br>
                <a:rPr lang="en-US" b="1" i="0" dirty="0">
                  <a:solidFill>
                    <a:srgbClr val="005AAB"/>
                  </a:solidFill>
                  <a:effectLst/>
                  <a:latin typeface=""/>
                </a:rPr>
              </a:br>
              <a:r>
                <a:rPr lang="en-US" i="1" dirty="0">
                  <a:solidFill>
                    <a:schemeClr val="accent6">
                      <a:lumMod val="75000"/>
                    </a:schemeClr>
                  </a:solidFill>
                  <a:latin typeface=""/>
                </a:rPr>
                <a:t>Oct. 29th -31st, 2026, </a:t>
              </a:r>
              <a:r>
                <a:rPr lang="en-US" i="1" dirty="0">
                  <a:solidFill>
                    <a:schemeClr val="accent6">
                      <a:lumMod val="75000"/>
                    </a:schemeClr>
                  </a:solidFill>
                  <a:effectLst/>
                  <a:latin typeface=""/>
                </a:rPr>
                <a:t>ICISE, Gia Lai, Vietnam</a:t>
              </a:r>
            </a:p>
          </p:txBody>
        </p:sp>
      </p:grpSp>
    </p:spTree>
    <p:extLst>
      <p:ext uri="{BB962C8B-B14F-4D97-AF65-F5344CB8AC3E}">
        <p14:creationId xmlns:p14="http://schemas.microsoft.com/office/powerpoint/2010/main" val="346850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146A6-E976-8612-264B-AA63CDACEE8D}"/>
              </a:ext>
            </a:extLst>
          </p:cNvPr>
          <p:cNvSpPr>
            <a:spLocks noGrp="1"/>
          </p:cNvSpPr>
          <p:nvPr>
            <p:ph type="title"/>
          </p:nvPr>
        </p:nvSpPr>
        <p:spPr>
          <a:xfrm>
            <a:off x="838200" y="365126"/>
            <a:ext cx="10515600" cy="671938"/>
          </a:xfrm>
        </p:spPr>
        <p:txBody>
          <a:bodyPr>
            <a:normAutofit/>
          </a:bodyPr>
          <a:lstStyle/>
          <a:p>
            <a:pPr algn="ctr"/>
            <a:r>
              <a:rPr lang="en-US" sz="2800" dirty="0"/>
              <a:t>VSOB Organizing &amp; Program Committees</a:t>
            </a:r>
          </a:p>
        </p:txBody>
      </p:sp>
      <p:sp>
        <p:nvSpPr>
          <p:cNvPr id="3" name="Slide Number Placeholder 2">
            <a:extLst>
              <a:ext uri="{FF2B5EF4-FFF2-40B4-BE49-F238E27FC236}">
                <a16:creationId xmlns:a16="http://schemas.microsoft.com/office/drawing/2014/main" id="{EEB5A383-7C66-CC05-C5E7-7799296994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pic>
        <p:nvPicPr>
          <p:cNvPr id="7" name="Picture 16">
            <a:extLst>
              <a:ext uri="{FF2B5EF4-FFF2-40B4-BE49-F238E27FC236}">
                <a16:creationId xmlns:a16="http://schemas.microsoft.com/office/drawing/2014/main" id="{A362825A-3B1F-1B23-D4CE-761441D4C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9277" y="1641838"/>
            <a:ext cx="1209474" cy="14351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8" name="Picture 2" descr="Khoa Khoa học Sinh học">
            <a:extLst>
              <a:ext uri="{FF2B5EF4-FFF2-40B4-BE49-F238E27FC236}">
                <a16:creationId xmlns:a16="http://schemas.microsoft.com/office/drawing/2014/main" id="{776B1F44-13D3-C0AE-AD17-23A42C1F0B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8563" y="1630867"/>
            <a:ext cx="1080000" cy="144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9" name="Picture 14">
            <a:extLst>
              <a:ext uri="{FF2B5EF4-FFF2-40B4-BE49-F238E27FC236}">
                <a16:creationId xmlns:a16="http://schemas.microsoft.com/office/drawing/2014/main" id="{E2FB9108-F4EC-F509-7B7D-AFF1C165FC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00691" y="1641838"/>
            <a:ext cx="1546130" cy="142902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55B15261-1506-708D-D5B4-3CD96F8128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409" y="3989452"/>
            <a:ext cx="1285604" cy="131044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1" name="Picture 4" descr="Workshop Metagenomics 2023 | KTest">
            <a:extLst>
              <a:ext uri="{FF2B5EF4-FFF2-40B4-BE49-F238E27FC236}">
                <a16:creationId xmlns:a16="http://schemas.microsoft.com/office/drawing/2014/main" id="{CADACF7C-26CE-B4E9-E891-B66C0428A6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7188" y="3985358"/>
            <a:ext cx="1314542" cy="13145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2" name="Picture 12">
            <a:extLst>
              <a:ext uri="{FF2B5EF4-FFF2-40B4-BE49-F238E27FC236}">
                <a16:creationId xmlns:a16="http://schemas.microsoft.com/office/drawing/2014/main" id="{814947BF-310E-37BD-EA98-2DFC1337F2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2320" y="3985358"/>
            <a:ext cx="1147723" cy="13145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3" name="Picture 8">
            <a:extLst>
              <a:ext uri="{FF2B5EF4-FFF2-40B4-BE49-F238E27FC236}">
                <a16:creationId xmlns:a16="http://schemas.microsoft.com/office/drawing/2014/main" id="{82217CC4-22B6-059E-3C04-FAF8B65267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21317" y="3974582"/>
            <a:ext cx="1080000" cy="132531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BE6A01A-B055-7172-FE69-071AF80A1D17}"/>
              </a:ext>
            </a:extLst>
          </p:cNvPr>
          <p:cNvSpPr txBox="1"/>
          <p:nvPr/>
        </p:nvSpPr>
        <p:spPr>
          <a:xfrm>
            <a:off x="2150402" y="3078135"/>
            <a:ext cx="1656223" cy="523220"/>
          </a:xfrm>
          <a:prstGeom prst="rect">
            <a:avLst/>
          </a:prstGeom>
          <a:noFill/>
        </p:spPr>
        <p:txBody>
          <a:bodyPr wrap="none" rtlCol="0">
            <a:spAutoFit/>
          </a:bodyPr>
          <a:lstStyle/>
          <a:p>
            <a:pPr algn="ctr"/>
            <a:r>
              <a:rPr lang="en-US" b="1" dirty="0">
                <a:latin typeface="Candara" panose="020E0502030303020204" pitchFamily="34" charset="0"/>
              </a:rPr>
              <a:t>Dr. Tran Thanh Son</a:t>
            </a:r>
          </a:p>
          <a:p>
            <a:pPr algn="ctr"/>
            <a:r>
              <a:rPr lang="en-US" dirty="0">
                <a:latin typeface="Candara" panose="020E0502030303020204" pitchFamily="34" charset="0"/>
              </a:rPr>
              <a:t>ICISE, </a:t>
            </a:r>
            <a:r>
              <a:rPr lang="en-US" dirty="0" err="1">
                <a:latin typeface="Candara" panose="020E0502030303020204" pitchFamily="34" charset="0"/>
              </a:rPr>
              <a:t>Quy</a:t>
            </a:r>
            <a:r>
              <a:rPr lang="en-US" dirty="0">
                <a:latin typeface="Candara" panose="020E0502030303020204" pitchFamily="34" charset="0"/>
              </a:rPr>
              <a:t> Nhon</a:t>
            </a:r>
          </a:p>
        </p:txBody>
      </p:sp>
      <p:sp>
        <p:nvSpPr>
          <p:cNvPr id="16" name="TextBox 15">
            <a:extLst>
              <a:ext uri="{FF2B5EF4-FFF2-40B4-BE49-F238E27FC236}">
                <a16:creationId xmlns:a16="http://schemas.microsoft.com/office/drawing/2014/main" id="{A6B66881-6053-D281-BCE7-7C5AE1B0D81F}"/>
              </a:ext>
            </a:extLst>
          </p:cNvPr>
          <p:cNvSpPr txBox="1"/>
          <p:nvPr/>
        </p:nvSpPr>
        <p:spPr>
          <a:xfrm>
            <a:off x="4700120" y="3078135"/>
            <a:ext cx="3072345" cy="523220"/>
          </a:xfrm>
          <a:prstGeom prst="rect">
            <a:avLst/>
          </a:prstGeom>
          <a:noFill/>
        </p:spPr>
        <p:txBody>
          <a:bodyPr wrap="square">
            <a:spAutoFit/>
          </a:bodyPr>
          <a:lstStyle/>
          <a:p>
            <a:pPr algn="ctr"/>
            <a:r>
              <a:rPr lang="en-US" b="1" i="0" dirty="0">
                <a:solidFill>
                  <a:srgbClr val="212529"/>
                </a:solidFill>
                <a:effectLst/>
                <a:latin typeface="Candara" panose="020E0502030303020204" pitchFamily="34" charset="0"/>
              </a:rPr>
              <a:t>Assoc. Prof. Dr. Nguyen Bao Quoc</a:t>
            </a:r>
            <a:br>
              <a:rPr lang="en-US" dirty="0">
                <a:latin typeface="Candara" panose="020E0502030303020204" pitchFamily="34" charset="0"/>
              </a:rPr>
            </a:br>
            <a:r>
              <a:rPr lang="en-US" b="0" i="0" dirty="0">
                <a:solidFill>
                  <a:srgbClr val="212529"/>
                </a:solidFill>
                <a:effectLst/>
                <a:latin typeface="Candara" panose="020E0502030303020204" pitchFamily="34" charset="0"/>
              </a:rPr>
              <a:t>Nong Lam University, HCMC</a:t>
            </a:r>
            <a:endParaRPr lang="en-US" dirty="0">
              <a:latin typeface="Candara" panose="020E0502030303020204" pitchFamily="34" charset="0"/>
            </a:endParaRPr>
          </a:p>
        </p:txBody>
      </p:sp>
      <p:sp>
        <p:nvSpPr>
          <p:cNvPr id="18" name="TextBox 17">
            <a:extLst>
              <a:ext uri="{FF2B5EF4-FFF2-40B4-BE49-F238E27FC236}">
                <a16:creationId xmlns:a16="http://schemas.microsoft.com/office/drawing/2014/main" id="{0CA124F0-4988-35E0-B1BC-DCD366AD3353}"/>
              </a:ext>
            </a:extLst>
          </p:cNvPr>
          <p:cNvSpPr txBox="1"/>
          <p:nvPr/>
        </p:nvSpPr>
        <p:spPr>
          <a:xfrm>
            <a:off x="8396293" y="3078135"/>
            <a:ext cx="2204026" cy="738664"/>
          </a:xfrm>
          <a:prstGeom prst="rect">
            <a:avLst/>
          </a:prstGeom>
          <a:noFill/>
        </p:spPr>
        <p:txBody>
          <a:bodyPr wrap="square">
            <a:spAutoFit/>
          </a:bodyPr>
          <a:lstStyle/>
          <a:p>
            <a:pPr algn="ctr"/>
            <a:r>
              <a:rPr lang="en-US" b="1" i="0" dirty="0">
                <a:solidFill>
                  <a:srgbClr val="212529"/>
                </a:solidFill>
                <a:effectLst/>
                <a:latin typeface="Candara" panose="020E0502030303020204" pitchFamily="34" charset="0"/>
              </a:rPr>
              <a:t>Dr. Nguyen </a:t>
            </a:r>
            <a:r>
              <a:rPr lang="en-US" b="1" i="0" dirty="0" err="1">
                <a:solidFill>
                  <a:srgbClr val="212529"/>
                </a:solidFill>
                <a:effectLst/>
                <a:latin typeface="Candara" panose="020E0502030303020204" pitchFamily="34" charset="0"/>
              </a:rPr>
              <a:t>Cuong</a:t>
            </a:r>
            <a:br>
              <a:rPr lang="en-US" dirty="0">
                <a:latin typeface="Candara" panose="020E0502030303020204" pitchFamily="34" charset="0"/>
              </a:rPr>
            </a:br>
            <a:r>
              <a:rPr lang="en-US" dirty="0">
                <a:latin typeface="Candara" panose="020E0502030303020204" pitchFamily="34" charset="0"/>
              </a:rPr>
              <a:t>Chief Scientific Officer, </a:t>
            </a:r>
          </a:p>
          <a:p>
            <a:pPr algn="ctr"/>
            <a:r>
              <a:rPr lang="en-US" b="0" i="0" dirty="0">
                <a:solidFill>
                  <a:srgbClr val="212529"/>
                </a:solidFill>
                <a:effectLst/>
                <a:latin typeface="Candara" panose="020E0502030303020204" pitchFamily="34" charset="0"/>
              </a:rPr>
              <a:t>LOBI Vietnam</a:t>
            </a:r>
            <a:endParaRPr lang="en-US" dirty="0">
              <a:latin typeface="Candara" panose="020E0502030303020204" pitchFamily="34" charset="0"/>
            </a:endParaRPr>
          </a:p>
        </p:txBody>
      </p:sp>
      <p:sp>
        <p:nvSpPr>
          <p:cNvPr id="20" name="TextBox 19">
            <a:extLst>
              <a:ext uri="{FF2B5EF4-FFF2-40B4-BE49-F238E27FC236}">
                <a16:creationId xmlns:a16="http://schemas.microsoft.com/office/drawing/2014/main" id="{E3060C3A-2B2C-A395-8D49-4A9CFB2E15F9}"/>
              </a:ext>
            </a:extLst>
          </p:cNvPr>
          <p:cNvSpPr txBox="1"/>
          <p:nvPr/>
        </p:nvSpPr>
        <p:spPr>
          <a:xfrm>
            <a:off x="451865" y="5391215"/>
            <a:ext cx="2123506" cy="523220"/>
          </a:xfrm>
          <a:prstGeom prst="rect">
            <a:avLst/>
          </a:prstGeom>
          <a:noFill/>
        </p:spPr>
        <p:txBody>
          <a:bodyPr wrap="square">
            <a:spAutoFit/>
          </a:bodyPr>
          <a:lstStyle/>
          <a:p>
            <a:pPr algn="ctr"/>
            <a:r>
              <a:rPr lang="en-US" b="1" dirty="0">
                <a:latin typeface="Candara" panose="020E0502030303020204" pitchFamily="34" charset="0"/>
              </a:rPr>
              <a:t>Dr. Vu Minh </a:t>
            </a:r>
            <a:r>
              <a:rPr lang="en-US" b="1" dirty="0" err="1">
                <a:latin typeface="Candara" panose="020E0502030303020204" pitchFamily="34" charset="0"/>
              </a:rPr>
              <a:t>Thiet</a:t>
            </a:r>
            <a:br>
              <a:rPr lang="en-US" b="1" dirty="0">
                <a:latin typeface="Candara" panose="020E0502030303020204" pitchFamily="34" charset="0"/>
              </a:rPr>
            </a:br>
            <a:r>
              <a:rPr lang="en-US" dirty="0">
                <a:latin typeface="Candara" panose="020E0502030303020204" pitchFamily="34" charset="0"/>
              </a:rPr>
              <a:t>Nguyen Tat Thanh Uni.</a:t>
            </a:r>
          </a:p>
        </p:txBody>
      </p:sp>
      <p:sp>
        <p:nvSpPr>
          <p:cNvPr id="22" name="TextBox 21">
            <a:extLst>
              <a:ext uri="{FF2B5EF4-FFF2-40B4-BE49-F238E27FC236}">
                <a16:creationId xmlns:a16="http://schemas.microsoft.com/office/drawing/2014/main" id="{C00BA5F2-45C4-6824-435F-43B95C96740D}"/>
              </a:ext>
            </a:extLst>
          </p:cNvPr>
          <p:cNvSpPr txBox="1"/>
          <p:nvPr/>
        </p:nvSpPr>
        <p:spPr>
          <a:xfrm>
            <a:off x="9448801" y="5391215"/>
            <a:ext cx="2743199" cy="738664"/>
          </a:xfrm>
          <a:prstGeom prst="rect">
            <a:avLst/>
          </a:prstGeom>
          <a:noFill/>
        </p:spPr>
        <p:txBody>
          <a:bodyPr wrap="square">
            <a:spAutoFit/>
          </a:bodyPr>
          <a:lstStyle/>
          <a:p>
            <a:pPr algn="ctr"/>
            <a:r>
              <a:rPr lang="en-US" b="1" dirty="0">
                <a:latin typeface="Candara" panose="020E0502030303020204" pitchFamily="34" charset="0"/>
              </a:rPr>
              <a:t>Dr. Do Hoang Dang Khoa</a:t>
            </a:r>
            <a:br>
              <a:rPr lang="en-US" b="1" dirty="0">
                <a:latin typeface="Candara" panose="020E0502030303020204" pitchFamily="34" charset="0"/>
              </a:rPr>
            </a:br>
            <a:r>
              <a:rPr lang="en-US" dirty="0">
                <a:latin typeface="Candara" panose="020E0502030303020204" pitchFamily="34" charset="0"/>
              </a:rPr>
              <a:t>NTT Hi-Tech Institute, </a:t>
            </a:r>
            <a:br>
              <a:rPr lang="en-US" dirty="0">
                <a:latin typeface="Candara" panose="020E0502030303020204" pitchFamily="34" charset="0"/>
              </a:rPr>
            </a:br>
            <a:r>
              <a:rPr lang="en-US" dirty="0">
                <a:latin typeface="Candara" panose="020E0502030303020204" pitchFamily="34" charset="0"/>
              </a:rPr>
              <a:t>Nguyen Tat Thanh University</a:t>
            </a:r>
          </a:p>
        </p:txBody>
      </p:sp>
      <p:sp>
        <p:nvSpPr>
          <p:cNvPr id="24" name="TextBox 23">
            <a:extLst>
              <a:ext uri="{FF2B5EF4-FFF2-40B4-BE49-F238E27FC236}">
                <a16:creationId xmlns:a16="http://schemas.microsoft.com/office/drawing/2014/main" id="{292FCA5B-68F5-B8A8-E7FC-5F41F3C6D2FC}"/>
              </a:ext>
            </a:extLst>
          </p:cNvPr>
          <p:cNvSpPr txBox="1"/>
          <p:nvPr/>
        </p:nvSpPr>
        <p:spPr>
          <a:xfrm>
            <a:off x="2947086" y="5391215"/>
            <a:ext cx="3136439" cy="738664"/>
          </a:xfrm>
          <a:prstGeom prst="rect">
            <a:avLst/>
          </a:prstGeom>
          <a:noFill/>
        </p:spPr>
        <p:txBody>
          <a:bodyPr wrap="square">
            <a:spAutoFit/>
          </a:bodyPr>
          <a:lstStyle/>
          <a:p>
            <a:pPr algn="ctr"/>
            <a:r>
              <a:rPr lang="en-US" b="1" dirty="0">
                <a:latin typeface="Candara" panose="020E0502030303020204" pitchFamily="34" charset="0"/>
              </a:rPr>
              <a:t>Dr. Nguyen Thuy </a:t>
            </a:r>
            <a:r>
              <a:rPr lang="en-US" b="1" dirty="0" err="1">
                <a:latin typeface="Candara" panose="020E0502030303020204" pitchFamily="34" charset="0"/>
              </a:rPr>
              <a:t>Vy</a:t>
            </a:r>
            <a:br>
              <a:rPr lang="en-US" b="1" dirty="0">
                <a:latin typeface="Candara" panose="020E0502030303020204" pitchFamily="34" charset="0"/>
              </a:rPr>
            </a:br>
            <a:r>
              <a:rPr lang="en-US" dirty="0">
                <a:latin typeface="Candara" panose="020E0502030303020204" pitchFamily="34" charset="0"/>
              </a:rPr>
              <a:t>Uni. of Natural Sciences,</a:t>
            </a:r>
            <a:br>
              <a:rPr lang="en-US" dirty="0">
                <a:latin typeface="Candara" panose="020E0502030303020204" pitchFamily="34" charset="0"/>
              </a:rPr>
            </a:br>
            <a:r>
              <a:rPr lang="en-US" dirty="0">
                <a:latin typeface="Candara" panose="020E0502030303020204" pitchFamily="34" charset="0"/>
              </a:rPr>
              <a:t>Vietnam National University, HCMC</a:t>
            </a:r>
          </a:p>
        </p:txBody>
      </p:sp>
      <p:sp>
        <p:nvSpPr>
          <p:cNvPr id="26" name="TextBox 25">
            <a:extLst>
              <a:ext uri="{FF2B5EF4-FFF2-40B4-BE49-F238E27FC236}">
                <a16:creationId xmlns:a16="http://schemas.microsoft.com/office/drawing/2014/main" id="{2286D8BF-B907-85F2-3782-F70CAA2920DB}"/>
              </a:ext>
            </a:extLst>
          </p:cNvPr>
          <p:cNvSpPr txBox="1"/>
          <p:nvPr/>
        </p:nvSpPr>
        <p:spPr>
          <a:xfrm>
            <a:off x="6287413" y="5391215"/>
            <a:ext cx="2957501" cy="738664"/>
          </a:xfrm>
          <a:prstGeom prst="rect">
            <a:avLst/>
          </a:prstGeom>
          <a:noFill/>
        </p:spPr>
        <p:txBody>
          <a:bodyPr wrap="square">
            <a:spAutoFit/>
          </a:bodyPr>
          <a:lstStyle/>
          <a:p>
            <a:pPr algn="ctr"/>
            <a:r>
              <a:rPr lang="en-US" b="1" dirty="0">
                <a:latin typeface="Candara" panose="020E0502030303020204" pitchFamily="34" charset="0"/>
              </a:rPr>
              <a:t>Dr. Tran </a:t>
            </a:r>
            <a:r>
              <a:rPr lang="en-US" b="1" dirty="0" err="1">
                <a:latin typeface="Candara" panose="020E0502030303020204" pitchFamily="34" charset="0"/>
              </a:rPr>
              <a:t>Thi</a:t>
            </a:r>
            <a:r>
              <a:rPr lang="en-US" b="1" dirty="0">
                <a:latin typeface="Candara" panose="020E0502030303020204" pitchFamily="34" charset="0"/>
              </a:rPr>
              <a:t> Thanh Tam</a:t>
            </a:r>
            <a:br>
              <a:rPr lang="en-US" b="1" dirty="0">
                <a:latin typeface="Candara" panose="020E0502030303020204" pitchFamily="34" charset="0"/>
              </a:rPr>
            </a:br>
            <a:r>
              <a:rPr lang="en-US" dirty="0">
                <a:latin typeface="Candara" panose="020E0502030303020204" pitchFamily="34" charset="0"/>
              </a:rPr>
              <a:t>University of Science and Technology Hanoi (USTH), VAST</a:t>
            </a:r>
          </a:p>
        </p:txBody>
      </p:sp>
    </p:spTree>
    <p:extLst>
      <p:ext uri="{BB962C8B-B14F-4D97-AF65-F5344CB8AC3E}">
        <p14:creationId xmlns:p14="http://schemas.microsoft.com/office/powerpoint/2010/main" val="23728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F257A-EA38-758A-BE7E-02B023507373}"/>
              </a:ext>
            </a:extLst>
          </p:cNvPr>
          <p:cNvSpPr>
            <a:spLocks noGrp="1"/>
          </p:cNvSpPr>
          <p:nvPr>
            <p:ph type="title"/>
          </p:nvPr>
        </p:nvSpPr>
        <p:spPr>
          <a:xfrm>
            <a:off x="838200" y="365126"/>
            <a:ext cx="10515600" cy="738664"/>
          </a:xfrm>
        </p:spPr>
        <p:txBody>
          <a:bodyPr>
            <a:normAutofit/>
          </a:bodyPr>
          <a:lstStyle/>
          <a:p>
            <a:pPr algn="ctr"/>
            <a:r>
              <a:rPr lang="en-US" sz="2800" dirty="0"/>
              <a:t>VSOB: Invited Speakers and Lecturers</a:t>
            </a:r>
          </a:p>
        </p:txBody>
      </p:sp>
      <p:sp>
        <p:nvSpPr>
          <p:cNvPr id="3" name="Slide Number Placeholder 2">
            <a:extLst>
              <a:ext uri="{FF2B5EF4-FFF2-40B4-BE49-F238E27FC236}">
                <a16:creationId xmlns:a16="http://schemas.microsoft.com/office/drawing/2014/main" id="{C70BF1D8-D72D-FB68-06B9-3620B52515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pic>
        <p:nvPicPr>
          <p:cNvPr id="2050" name="Picture 2" descr="GS. TS. Trương Nam Hải">
            <a:extLst>
              <a:ext uri="{FF2B5EF4-FFF2-40B4-BE49-F238E27FC236}">
                <a16:creationId xmlns:a16="http://schemas.microsoft.com/office/drawing/2014/main" id="{0C2659CA-C195-7456-F355-EF2EAD76D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692" y="1466510"/>
            <a:ext cx="1080000" cy="12352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2" name="Picture 4" descr="Profile picture">
            <a:extLst>
              <a:ext uri="{FF2B5EF4-FFF2-40B4-BE49-F238E27FC236}">
                <a16:creationId xmlns:a16="http://schemas.microsoft.com/office/drawing/2014/main" id="{29D66E3B-DA73-7930-0597-3638B89E9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7046" y="1466510"/>
            <a:ext cx="1186452" cy="118645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60" name="Picture 12" descr="Dr Chung Thế Hào - OUCRU">
            <a:extLst>
              <a:ext uri="{FF2B5EF4-FFF2-40B4-BE49-F238E27FC236}">
                <a16:creationId xmlns:a16="http://schemas.microsoft.com/office/drawing/2014/main" id="{53AE9CA3-78AA-AB30-77FF-ECA3482608E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16" t="3214" r="18783" b="28285"/>
          <a:stretch/>
        </p:blipFill>
        <p:spPr bwMode="auto">
          <a:xfrm>
            <a:off x="9685613" y="3803047"/>
            <a:ext cx="1080000" cy="144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62" name="Picture 14" descr="Juliette HAYER | Researcher | PhD | Institut de Recherche pour le  Développement, Cotonou | Research profile">
            <a:extLst>
              <a:ext uri="{FF2B5EF4-FFF2-40B4-BE49-F238E27FC236}">
                <a16:creationId xmlns:a16="http://schemas.microsoft.com/office/drawing/2014/main" id="{366220F3-8B31-A2B1-93DB-FD1F33248F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9342" y="3821737"/>
            <a:ext cx="1421310" cy="142131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A03F2E6-244B-FFF6-B7B9-FD4DF8584894}"/>
              </a:ext>
            </a:extLst>
          </p:cNvPr>
          <p:cNvSpPr txBox="1"/>
          <p:nvPr/>
        </p:nvSpPr>
        <p:spPr>
          <a:xfrm>
            <a:off x="131629" y="2729980"/>
            <a:ext cx="2478126" cy="461665"/>
          </a:xfrm>
          <a:prstGeom prst="rect">
            <a:avLst/>
          </a:prstGeom>
          <a:noFill/>
        </p:spPr>
        <p:txBody>
          <a:bodyPr wrap="square">
            <a:spAutoFit/>
          </a:bodyPr>
          <a:lstStyle/>
          <a:p>
            <a:pPr algn="ctr"/>
            <a:r>
              <a:rPr lang="en-US" sz="1200" b="1" dirty="0">
                <a:latin typeface="Candara" panose="020E0502030303020204" pitchFamily="34" charset="0"/>
              </a:rPr>
              <a:t>Prof. Dr. Truong Nam Hai</a:t>
            </a:r>
            <a:br>
              <a:rPr lang="en-US" sz="1200" b="1" dirty="0">
                <a:latin typeface="Candara" panose="020E0502030303020204" pitchFamily="34" charset="0"/>
              </a:rPr>
            </a:br>
            <a:r>
              <a:rPr lang="en-US" sz="1200" dirty="0">
                <a:latin typeface="Candara" panose="020E0502030303020204" pitchFamily="34" charset="0"/>
              </a:rPr>
              <a:t>Institute of Biotechnology, VAST</a:t>
            </a:r>
          </a:p>
        </p:txBody>
      </p:sp>
      <p:sp>
        <p:nvSpPr>
          <p:cNvPr id="7" name="TextBox 6">
            <a:extLst>
              <a:ext uri="{FF2B5EF4-FFF2-40B4-BE49-F238E27FC236}">
                <a16:creationId xmlns:a16="http://schemas.microsoft.com/office/drawing/2014/main" id="{A734B106-6272-FD43-C3ED-D03FAE688D4A}"/>
              </a:ext>
            </a:extLst>
          </p:cNvPr>
          <p:cNvSpPr txBox="1"/>
          <p:nvPr/>
        </p:nvSpPr>
        <p:spPr>
          <a:xfrm>
            <a:off x="2369855" y="2729980"/>
            <a:ext cx="3520231" cy="954107"/>
          </a:xfrm>
          <a:prstGeom prst="rect">
            <a:avLst/>
          </a:prstGeom>
          <a:noFill/>
        </p:spPr>
        <p:txBody>
          <a:bodyPr wrap="square">
            <a:spAutoFit/>
          </a:bodyPr>
          <a:lstStyle/>
          <a:p>
            <a:pPr algn="ctr"/>
            <a:r>
              <a:rPr lang="en-US" b="1" dirty="0">
                <a:latin typeface="Candara" panose="020E0502030303020204" pitchFamily="34" charset="0"/>
              </a:rPr>
              <a:t>Prof. Dr. Rajesh Pandey</a:t>
            </a:r>
            <a:br>
              <a:rPr lang="en-US" b="1" dirty="0">
                <a:latin typeface="Candara" panose="020E0502030303020204" pitchFamily="34" charset="0"/>
              </a:rPr>
            </a:br>
            <a:r>
              <a:rPr lang="en-US" dirty="0">
                <a:latin typeface="Candara" panose="020E0502030303020204" pitchFamily="34" charset="0"/>
              </a:rPr>
              <a:t>Institute of Genomic and </a:t>
            </a:r>
            <a:br>
              <a:rPr lang="en-US" dirty="0">
                <a:latin typeface="Candara" panose="020E0502030303020204" pitchFamily="34" charset="0"/>
              </a:rPr>
            </a:br>
            <a:r>
              <a:rPr lang="en-US" dirty="0">
                <a:latin typeface="Candara" panose="020E0502030303020204" pitchFamily="34" charset="0"/>
              </a:rPr>
              <a:t>Integrative Biology</a:t>
            </a:r>
          </a:p>
          <a:p>
            <a:pPr algn="ctr"/>
            <a:r>
              <a:rPr lang="en-US" dirty="0">
                <a:latin typeface="Candara" panose="020E0502030303020204" pitchFamily="34" charset="0"/>
              </a:rPr>
              <a:t>New </a:t>
            </a:r>
            <a:r>
              <a:rPr lang="en-US" dirty="0" err="1">
                <a:latin typeface="Candara" panose="020E0502030303020204" pitchFamily="34" charset="0"/>
              </a:rPr>
              <a:t>Dehli</a:t>
            </a:r>
            <a:r>
              <a:rPr lang="en-US" dirty="0">
                <a:latin typeface="Candara" panose="020E0502030303020204" pitchFamily="34" charset="0"/>
              </a:rPr>
              <a:t>, India</a:t>
            </a:r>
          </a:p>
        </p:txBody>
      </p:sp>
      <p:sp>
        <p:nvSpPr>
          <p:cNvPr id="9" name="TextBox 8">
            <a:extLst>
              <a:ext uri="{FF2B5EF4-FFF2-40B4-BE49-F238E27FC236}">
                <a16:creationId xmlns:a16="http://schemas.microsoft.com/office/drawing/2014/main" id="{82A1D8B5-027D-7774-3EC0-A4B63347C6AA}"/>
              </a:ext>
            </a:extLst>
          </p:cNvPr>
          <p:cNvSpPr txBox="1"/>
          <p:nvPr/>
        </p:nvSpPr>
        <p:spPr>
          <a:xfrm>
            <a:off x="416627" y="5338273"/>
            <a:ext cx="1908130" cy="523220"/>
          </a:xfrm>
          <a:prstGeom prst="rect">
            <a:avLst/>
          </a:prstGeom>
          <a:noFill/>
        </p:spPr>
        <p:txBody>
          <a:bodyPr wrap="square">
            <a:spAutoFit/>
          </a:bodyPr>
          <a:lstStyle/>
          <a:p>
            <a:pPr algn="ctr"/>
            <a:r>
              <a:rPr lang="en-US" b="1" dirty="0">
                <a:latin typeface="Candara" panose="020E0502030303020204" pitchFamily="34" charset="0"/>
              </a:rPr>
              <a:t>Mrs. Pham T. T. Tam</a:t>
            </a:r>
            <a:br>
              <a:rPr lang="en-US" b="1" dirty="0">
                <a:latin typeface="Candara" panose="020E0502030303020204" pitchFamily="34" charset="0"/>
              </a:rPr>
            </a:br>
            <a:r>
              <a:rPr lang="en-US" dirty="0">
                <a:latin typeface="Candara" panose="020E0502030303020204" pitchFamily="34" charset="0"/>
              </a:rPr>
              <a:t>BCE Company Ltd.</a:t>
            </a:r>
          </a:p>
        </p:txBody>
      </p:sp>
      <p:sp>
        <p:nvSpPr>
          <p:cNvPr id="11" name="TextBox 10">
            <a:extLst>
              <a:ext uri="{FF2B5EF4-FFF2-40B4-BE49-F238E27FC236}">
                <a16:creationId xmlns:a16="http://schemas.microsoft.com/office/drawing/2014/main" id="{B47A8CA4-793E-B420-AD23-869CA63FA5E1}"/>
              </a:ext>
            </a:extLst>
          </p:cNvPr>
          <p:cNvSpPr txBox="1"/>
          <p:nvPr/>
        </p:nvSpPr>
        <p:spPr>
          <a:xfrm>
            <a:off x="5650186" y="2729980"/>
            <a:ext cx="3194605" cy="523220"/>
          </a:xfrm>
          <a:prstGeom prst="rect">
            <a:avLst/>
          </a:prstGeom>
          <a:noFill/>
        </p:spPr>
        <p:txBody>
          <a:bodyPr wrap="square">
            <a:spAutoFit/>
          </a:bodyPr>
          <a:lstStyle/>
          <a:p>
            <a:pPr algn="ctr"/>
            <a:r>
              <a:rPr lang="en-US" b="1" dirty="0">
                <a:latin typeface="Candara" panose="020E0502030303020204" pitchFamily="34" charset="0"/>
              </a:rPr>
              <a:t>Assoc. Prof. Ho H. T. Duong</a:t>
            </a:r>
          </a:p>
          <a:p>
            <a:pPr algn="ctr"/>
            <a:r>
              <a:rPr lang="en-US" dirty="0">
                <a:latin typeface="Candara" panose="020E0502030303020204" pitchFamily="34" charset="0"/>
              </a:rPr>
              <a:t>Uni. of Science, VNUHCM</a:t>
            </a:r>
          </a:p>
        </p:txBody>
      </p:sp>
      <p:sp>
        <p:nvSpPr>
          <p:cNvPr id="13" name="TextBox 12">
            <a:extLst>
              <a:ext uri="{FF2B5EF4-FFF2-40B4-BE49-F238E27FC236}">
                <a16:creationId xmlns:a16="http://schemas.microsoft.com/office/drawing/2014/main" id="{0817B052-2754-7536-3F47-3AB39C18AD15}"/>
              </a:ext>
            </a:extLst>
          </p:cNvPr>
          <p:cNvSpPr txBox="1"/>
          <p:nvPr/>
        </p:nvSpPr>
        <p:spPr>
          <a:xfrm>
            <a:off x="9331929" y="5338273"/>
            <a:ext cx="1863123" cy="523220"/>
          </a:xfrm>
          <a:prstGeom prst="rect">
            <a:avLst/>
          </a:prstGeom>
          <a:noFill/>
        </p:spPr>
        <p:txBody>
          <a:bodyPr wrap="square">
            <a:spAutoFit/>
          </a:bodyPr>
          <a:lstStyle/>
          <a:p>
            <a:pPr algn="ctr"/>
            <a:r>
              <a:rPr lang="en-US" b="1" dirty="0">
                <a:latin typeface="Candara" panose="020E0502030303020204" pitchFamily="34" charset="0"/>
              </a:rPr>
              <a:t>Dr. Chung The Hao</a:t>
            </a:r>
            <a:br>
              <a:rPr lang="en-US" dirty="0">
                <a:latin typeface="Candara" panose="020E0502030303020204" pitchFamily="34" charset="0"/>
              </a:rPr>
            </a:br>
            <a:r>
              <a:rPr lang="en-US" dirty="0">
                <a:latin typeface="Candara" panose="020E0502030303020204" pitchFamily="34" charset="0"/>
              </a:rPr>
              <a:t>OUCRU</a:t>
            </a:r>
          </a:p>
        </p:txBody>
      </p:sp>
      <p:sp>
        <p:nvSpPr>
          <p:cNvPr id="15" name="TextBox 14">
            <a:extLst>
              <a:ext uri="{FF2B5EF4-FFF2-40B4-BE49-F238E27FC236}">
                <a16:creationId xmlns:a16="http://schemas.microsoft.com/office/drawing/2014/main" id="{8AC8E751-F278-7F27-A4A7-575AA980AE1C}"/>
              </a:ext>
            </a:extLst>
          </p:cNvPr>
          <p:cNvSpPr txBox="1"/>
          <p:nvPr/>
        </p:nvSpPr>
        <p:spPr>
          <a:xfrm>
            <a:off x="3429249" y="5338273"/>
            <a:ext cx="1682913" cy="523220"/>
          </a:xfrm>
          <a:prstGeom prst="rect">
            <a:avLst/>
          </a:prstGeom>
          <a:noFill/>
        </p:spPr>
        <p:txBody>
          <a:bodyPr wrap="square">
            <a:spAutoFit/>
          </a:bodyPr>
          <a:lstStyle/>
          <a:p>
            <a:pPr algn="ctr"/>
            <a:r>
              <a:rPr lang="en-US" b="1" dirty="0">
                <a:latin typeface="Candara" panose="020E0502030303020204" pitchFamily="34" charset="0"/>
              </a:rPr>
              <a:t>Dr. Juliette </a:t>
            </a:r>
            <a:r>
              <a:rPr lang="en-US" b="1" dirty="0" err="1">
                <a:latin typeface="Candara" panose="020E0502030303020204" pitchFamily="34" charset="0"/>
              </a:rPr>
              <a:t>Hayer</a:t>
            </a:r>
            <a:endParaRPr lang="en-US" b="1" dirty="0">
              <a:latin typeface="Candara" panose="020E0502030303020204" pitchFamily="34" charset="0"/>
            </a:endParaRPr>
          </a:p>
          <a:p>
            <a:pPr algn="ctr"/>
            <a:r>
              <a:rPr lang="en-US" dirty="0">
                <a:latin typeface="Candara" panose="020E0502030303020204" pitchFamily="34" charset="0"/>
              </a:rPr>
              <a:t>IRD</a:t>
            </a:r>
          </a:p>
        </p:txBody>
      </p:sp>
      <p:sp>
        <p:nvSpPr>
          <p:cNvPr id="17" name="TextBox 16">
            <a:extLst>
              <a:ext uri="{FF2B5EF4-FFF2-40B4-BE49-F238E27FC236}">
                <a16:creationId xmlns:a16="http://schemas.microsoft.com/office/drawing/2014/main" id="{E47D4925-81BF-DA93-FD1B-3F6DEFAF9504}"/>
              </a:ext>
            </a:extLst>
          </p:cNvPr>
          <p:cNvSpPr txBox="1"/>
          <p:nvPr/>
        </p:nvSpPr>
        <p:spPr>
          <a:xfrm>
            <a:off x="6216654" y="5338273"/>
            <a:ext cx="2178048" cy="523220"/>
          </a:xfrm>
          <a:prstGeom prst="rect">
            <a:avLst/>
          </a:prstGeom>
          <a:noFill/>
        </p:spPr>
        <p:txBody>
          <a:bodyPr wrap="square">
            <a:spAutoFit/>
          </a:bodyPr>
          <a:lstStyle/>
          <a:p>
            <a:pPr algn="ctr"/>
            <a:r>
              <a:rPr lang="en-US" b="1" dirty="0">
                <a:latin typeface="Candara" panose="020E0502030303020204" pitchFamily="34" charset="0"/>
              </a:rPr>
              <a:t>Dr. Etienne Loire</a:t>
            </a:r>
          </a:p>
          <a:p>
            <a:pPr algn="ctr"/>
            <a:r>
              <a:rPr lang="en-US" dirty="0">
                <a:latin typeface="Candara" panose="020E0502030303020204" pitchFamily="34" charset="0"/>
              </a:rPr>
              <a:t>CIRAD</a:t>
            </a:r>
          </a:p>
        </p:txBody>
      </p:sp>
      <p:sp>
        <p:nvSpPr>
          <p:cNvPr id="19" name="TextBox 18">
            <a:extLst>
              <a:ext uri="{FF2B5EF4-FFF2-40B4-BE49-F238E27FC236}">
                <a16:creationId xmlns:a16="http://schemas.microsoft.com/office/drawing/2014/main" id="{28BC56E8-6C17-6BC6-952D-2287A08757AE}"/>
              </a:ext>
            </a:extLst>
          </p:cNvPr>
          <p:cNvSpPr txBox="1"/>
          <p:nvPr/>
        </p:nvSpPr>
        <p:spPr>
          <a:xfrm>
            <a:off x="8604891" y="2729980"/>
            <a:ext cx="3241444" cy="954107"/>
          </a:xfrm>
          <a:prstGeom prst="rect">
            <a:avLst/>
          </a:prstGeom>
          <a:noFill/>
        </p:spPr>
        <p:txBody>
          <a:bodyPr wrap="square">
            <a:spAutoFit/>
          </a:bodyPr>
          <a:lstStyle/>
          <a:p>
            <a:pPr algn="ctr"/>
            <a:r>
              <a:rPr lang="vi-VN" b="1" dirty="0">
                <a:latin typeface="Candara" panose="020E0502030303020204" pitchFamily="34" charset="0"/>
              </a:rPr>
              <a:t>Dr. Dương Vũ,</a:t>
            </a:r>
            <a:br>
              <a:rPr lang="vi-VN" b="1" dirty="0">
                <a:latin typeface="Candara" panose="020E0502030303020204" pitchFamily="34" charset="0"/>
              </a:rPr>
            </a:br>
            <a:r>
              <a:rPr lang="vi-VN" dirty="0">
                <a:latin typeface="Candara" panose="020E0502030303020204" pitchFamily="34" charset="0"/>
              </a:rPr>
              <a:t>Westerdijk Fungal </a:t>
            </a:r>
            <a:br>
              <a:rPr lang="vi-VN" dirty="0">
                <a:latin typeface="Candara" panose="020E0502030303020204" pitchFamily="34" charset="0"/>
              </a:rPr>
            </a:br>
            <a:r>
              <a:rPr lang="vi-VN" dirty="0">
                <a:latin typeface="Candara" panose="020E0502030303020204" pitchFamily="34" charset="0"/>
              </a:rPr>
              <a:t>Biodiversity Institute, </a:t>
            </a:r>
          </a:p>
          <a:p>
            <a:pPr algn="ctr"/>
            <a:r>
              <a:rPr lang="vi-VN" dirty="0">
                <a:latin typeface="Candara" panose="020E0502030303020204" pitchFamily="34" charset="0"/>
              </a:rPr>
              <a:t>The Netherlands</a:t>
            </a:r>
            <a:endParaRPr lang="en-US" dirty="0">
              <a:latin typeface="Candara" panose="020E0502030303020204" pitchFamily="34" charset="0"/>
            </a:endParaRPr>
          </a:p>
        </p:txBody>
      </p:sp>
      <p:pic>
        <p:nvPicPr>
          <p:cNvPr id="21" name="Picture 4" descr="Không có mô tả ảnh.">
            <a:extLst>
              <a:ext uri="{FF2B5EF4-FFF2-40B4-BE49-F238E27FC236}">
                <a16:creationId xmlns:a16="http://schemas.microsoft.com/office/drawing/2014/main" id="{05B9B5A7-893C-17D7-5635-93FE849E38C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6843" t="27465" r="40380" b="37326"/>
          <a:stretch/>
        </p:blipFill>
        <p:spPr bwMode="auto">
          <a:xfrm>
            <a:off x="9710170" y="1466510"/>
            <a:ext cx="974673" cy="1234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9CF8913F-97B1-86E5-78AD-4DD17FC24BB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9116" t="36361" r="26650" b="37267"/>
          <a:stretch/>
        </p:blipFill>
        <p:spPr bwMode="auto">
          <a:xfrm>
            <a:off x="755231" y="3803047"/>
            <a:ext cx="1230922" cy="142131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33A3FFA6-D0FA-A202-67E3-E8F533E56B82}"/>
              </a:ext>
            </a:extLst>
          </p:cNvPr>
          <p:cNvPicPr>
            <a:picLocks noChangeAspect="1"/>
          </p:cNvPicPr>
          <p:nvPr/>
        </p:nvPicPr>
        <p:blipFill rotWithShape="1">
          <a:blip r:embed="rId8"/>
          <a:srcRect l="24077" t="23207" r="45648" b="35023"/>
          <a:stretch/>
        </p:blipFill>
        <p:spPr>
          <a:xfrm>
            <a:off x="6469481" y="3803047"/>
            <a:ext cx="1545278" cy="1421311"/>
          </a:xfrm>
          <a:prstGeom prst="rect">
            <a:avLst/>
          </a:prstGeom>
          <a:ln>
            <a:noFill/>
          </a:ln>
          <a:effectLst>
            <a:outerShdw blurRad="292100" dist="139700" dir="2700000" algn="tl" rotWithShape="0">
              <a:srgbClr val="333333">
                <a:alpha val="65000"/>
              </a:srgbClr>
            </a:outerShdw>
          </a:effectLst>
        </p:spPr>
      </p:pic>
      <p:pic>
        <p:nvPicPr>
          <p:cNvPr id="29" name="Picture 28">
            <a:extLst>
              <a:ext uri="{FF2B5EF4-FFF2-40B4-BE49-F238E27FC236}">
                <a16:creationId xmlns:a16="http://schemas.microsoft.com/office/drawing/2014/main" id="{5C43843E-8441-2210-2CDE-E6A3C4403357}"/>
              </a:ext>
            </a:extLst>
          </p:cNvPr>
          <p:cNvPicPr>
            <a:picLocks noChangeAspect="1"/>
          </p:cNvPicPr>
          <p:nvPr/>
        </p:nvPicPr>
        <p:blipFill rotWithShape="1">
          <a:blip r:embed="rId9"/>
          <a:srcRect l="13842" r="10033" b="30352"/>
          <a:stretch/>
        </p:blipFill>
        <p:spPr>
          <a:xfrm>
            <a:off x="6670895" y="1363624"/>
            <a:ext cx="1269566" cy="13663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58633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F257A-EA38-758A-BE7E-02B023507373}"/>
              </a:ext>
            </a:extLst>
          </p:cNvPr>
          <p:cNvSpPr>
            <a:spLocks noGrp="1"/>
          </p:cNvSpPr>
          <p:nvPr>
            <p:ph type="title"/>
          </p:nvPr>
        </p:nvSpPr>
        <p:spPr>
          <a:xfrm>
            <a:off x="838200" y="365126"/>
            <a:ext cx="10515600" cy="738664"/>
          </a:xfrm>
        </p:spPr>
        <p:txBody>
          <a:bodyPr>
            <a:normAutofit/>
          </a:bodyPr>
          <a:lstStyle/>
          <a:p>
            <a:pPr algn="ctr"/>
            <a:r>
              <a:rPr lang="en-US" sz="2800" dirty="0"/>
              <a:t>VSOB: Invited Speakers and Lecturers</a:t>
            </a:r>
          </a:p>
        </p:txBody>
      </p:sp>
      <p:sp>
        <p:nvSpPr>
          <p:cNvPr id="3" name="Slide Number Placeholder 2">
            <a:extLst>
              <a:ext uri="{FF2B5EF4-FFF2-40B4-BE49-F238E27FC236}">
                <a16:creationId xmlns:a16="http://schemas.microsoft.com/office/drawing/2014/main" id="{C70BF1D8-D72D-FB68-06B9-3620B52515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2056" name="Picture 8" descr="Nam Sy Vo - Co-Founder, Chief Scientist &amp; CTO - GeneStory | LinkedIn">
            <a:extLst>
              <a:ext uri="{FF2B5EF4-FFF2-40B4-BE49-F238E27FC236}">
                <a16:creationId xmlns:a16="http://schemas.microsoft.com/office/drawing/2014/main" id="{8E0203DF-6F33-233C-D17E-6DE04EEB4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271" y="3673681"/>
            <a:ext cx="1260000" cy="126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3" name="Picture 10">
            <a:extLst>
              <a:ext uri="{FF2B5EF4-FFF2-40B4-BE49-F238E27FC236}">
                <a16:creationId xmlns:a16="http://schemas.microsoft.com/office/drawing/2014/main" id="{37885410-F7B7-F9C8-28B8-C24E78E767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17" t="26533" r="61039" b="47310"/>
          <a:stretch/>
        </p:blipFill>
        <p:spPr bwMode="auto">
          <a:xfrm>
            <a:off x="3901233" y="1256175"/>
            <a:ext cx="1266769" cy="126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4" name="Picture 12" descr="Lưu Phúc Lợi">
            <a:extLst>
              <a:ext uri="{FF2B5EF4-FFF2-40B4-BE49-F238E27FC236}">
                <a16:creationId xmlns:a16="http://schemas.microsoft.com/office/drawing/2014/main" id="{EBEC166C-F58F-C365-2517-9453E4F4F6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73678" y="1256175"/>
            <a:ext cx="1260000" cy="126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5" name="Picture 14" descr="Có thể là hình ảnh về 1 người và hoa">
            <a:extLst>
              <a:ext uri="{FF2B5EF4-FFF2-40B4-BE49-F238E27FC236}">
                <a16:creationId xmlns:a16="http://schemas.microsoft.com/office/drawing/2014/main" id="{D4333FA3-CFA2-81A5-FFC2-CEAED7C40CD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9732" t="14913" r="27006" b="42466"/>
          <a:stretch/>
        </p:blipFill>
        <p:spPr bwMode="auto">
          <a:xfrm>
            <a:off x="6815364" y="1256175"/>
            <a:ext cx="1475403" cy="126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6" name="Picture 16" descr="About Us – Genomiki Solutions Private Limited">
            <a:extLst>
              <a:ext uri="{FF2B5EF4-FFF2-40B4-BE49-F238E27FC236}">
                <a16:creationId xmlns:a16="http://schemas.microsoft.com/office/drawing/2014/main" id="{357D50C2-CC02-8C9F-03DA-B4C2FF37EF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271" y="1256175"/>
            <a:ext cx="1260000" cy="126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880145E-E170-CC1B-A2DA-E7DD9292C379}"/>
              </a:ext>
            </a:extLst>
          </p:cNvPr>
          <p:cNvSpPr txBox="1"/>
          <p:nvPr/>
        </p:nvSpPr>
        <p:spPr>
          <a:xfrm>
            <a:off x="478028" y="2606703"/>
            <a:ext cx="2266486" cy="738664"/>
          </a:xfrm>
          <a:prstGeom prst="rect">
            <a:avLst/>
          </a:prstGeom>
          <a:noFill/>
        </p:spPr>
        <p:txBody>
          <a:bodyPr wrap="square">
            <a:spAutoFit/>
          </a:bodyPr>
          <a:lstStyle/>
          <a:p>
            <a:pPr algn="ctr"/>
            <a:r>
              <a:rPr lang="en-US" b="1" dirty="0">
                <a:latin typeface="Candara" panose="020E0502030303020204" pitchFamily="34" charset="0"/>
              </a:rPr>
              <a:t>Dr. </a:t>
            </a:r>
            <a:r>
              <a:rPr lang="en-US" b="1" dirty="0" err="1">
                <a:latin typeface="Candara" panose="020E0502030303020204" pitchFamily="34" charset="0"/>
              </a:rPr>
              <a:t>Deeksha</a:t>
            </a:r>
            <a:r>
              <a:rPr lang="en-US" b="1" dirty="0">
                <a:latin typeface="Candara" panose="020E0502030303020204" pitchFamily="34" charset="0"/>
              </a:rPr>
              <a:t> Bhartiya</a:t>
            </a:r>
            <a:br>
              <a:rPr lang="en-US" b="1" dirty="0">
                <a:latin typeface="Candara" panose="020E0502030303020204" pitchFamily="34" charset="0"/>
              </a:rPr>
            </a:br>
            <a:r>
              <a:rPr lang="en-US" dirty="0">
                <a:latin typeface="Candara" panose="020E0502030303020204" pitchFamily="34" charset="0"/>
              </a:rPr>
              <a:t>Founder/CEO</a:t>
            </a:r>
            <a:br>
              <a:rPr lang="en-US" dirty="0">
                <a:latin typeface="Candara" panose="020E0502030303020204" pitchFamily="34" charset="0"/>
              </a:rPr>
            </a:br>
            <a:r>
              <a:rPr lang="en-US" dirty="0" err="1">
                <a:latin typeface="Candara" panose="020E0502030303020204" pitchFamily="34" charset="0"/>
              </a:rPr>
              <a:t>Genomiki</a:t>
            </a:r>
            <a:r>
              <a:rPr lang="en-US" dirty="0">
                <a:latin typeface="Candara" panose="020E0502030303020204" pitchFamily="34" charset="0"/>
              </a:rPr>
              <a:t> Solutions, India</a:t>
            </a:r>
          </a:p>
        </p:txBody>
      </p:sp>
      <p:sp>
        <p:nvSpPr>
          <p:cNvPr id="10" name="TextBox 9">
            <a:extLst>
              <a:ext uri="{FF2B5EF4-FFF2-40B4-BE49-F238E27FC236}">
                <a16:creationId xmlns:a16="http://schemas.microsoft.com/office/drawing/2014/main" id="{237133D6-7FC1-F677-6BF4-6AD1766D02E3}"/>
              </a:ext>
            </a:extLst>
          </p:cNvPr>
          <p:cNvSpPr txBox="1"/>
          <p:nvPr/>
        </p:nvSpPr>
        <p:spPr>
          <a:xfrm>
            <a:off x="-20567" y="5035400"/>
            <a:ext cx="3165211" cy="954107"/>
          </a:xfrm>
          <a:prstGeom prst="rect">
            <a:avLst/>
          </a:prstGeom>
          <a:noFill/>
        </p:spPr>
        <p:txBody>
          <a:bodyPr wrap="square">
            <a:spAutoFit/>
          </a:bodyPr>
          <a:lstStyle/>
          <a:p>
            <a:pPr algn="ctr"/>
            <a:r>
              <a:rPr lang="en-US" b="1" dirty="0">
                <a:latin typeface="Candara" panose="020E0502030303020204" pitchFamily="34" charset="0"/>
              </a:rPr>
              <a:t>Dr. Vo Sy Nam</a:t>
            </a:r>
          </a:p>
          <a:p>
            <a:pPr algn="ctr"/>
            <a:r>
              <a:rPr lang="en-US" dirty="0">
                <a:latin typeface="Candara" panose="020E0502030303020204" pitchFamily="34" charset="0"/>
              </a:rPr>
              <a:t>Chief Scientist, Co-Founder, </a:t>
            </a:r>
            <a:r>
              <a:rPr lang="en-US" dirty="0" err="1">
                <a:latin typeface="Candara" panose="020E0502030303020204" pitchFamily="34" charset="0"/>
              </a:rPr>
              <a:t>GeneStory</a:t>
            </a:r>
            <a:br>
              <a:rPr lang="en-US" dirty="0">
                <a:latin typeface="Candara" panose="020E0502030303020204" pitchFamily="34" charset="0"/>
              </a:rPr>
            </a:br>
            <a:r>
              <a:rPr lang="en-US" dirty="0">
                <a:latin typeface="Candara" panose="020E0502030303020204" pitchFamily="34" charset="0"/>
              </a:rPr>
              <a:t>Director, Center for Biomedical Informatics, </a:t>
            </a:r>
            <a:r>
              <a:rPr lang="en-US" dirty="0" err="1">
                <a:latin typeface="Candara" panose="020E0502030303020204" pitchFamily="34" charset="0"/>
              </a:rPr>
              <a:t>Vingroup</a:t>
            </a:r>
            <a:r>
              <a:rPr lang="en-US" dirty="0">
                <a:latin typeface="Candara" panose="020E0502030303020204" pitchFamily="34" charset="0"/>
              </a:rPr>
              <a:t> Big Data Institute</a:t>
            </a:r>
          </a:p>
        </p:txBody>
      </p:sp>
      <p:sp>
        <p:nvSpPr>
          <p:cNvPr id="14" name="TextBox 13">
            <a:extLst>
              <a:ext uri="{FF2B5EF4-FFF2-40B4-BE49-F238E27FC236}">
                <a16:creationId xmlns:a16="http://schemas.microsoft.com/office/drawing/2014/main" id="{33581638-E733-EF15-D3E3-91EEEAB835CB}"/>
              </a:ext>
            </a:extLst>
          </p:cNvPr>
          <p:cNvSpPr txBox="1"/>
          <p:nvPr/>
        </p:nvSpPr>
        <p:spPr>
          <a:xfrm>
            <a:off x="3401374" y="2606703"/>
            <a:ext cx="2266486" cy="738664"/>
          </a:xfrm>
          <a:prstGeom prst="rect">
            <a:avLst/>
          </a:prstGeom>
          <a:noFill/>
        </p:spPr>
        <p:txBody>
          <a:bodyPr wrap="square">
            <a:spAutoFit/>
          </a:bodyPr>
          <a:lstStyle/>
          <a:p>
            <a:pPr algn="ctr"/>
            <a:r>
              <a:rPr lang="en-US" b="1" dirty="0">
                <a:latin typeface="Candara" panose="020E0502030303020204" pitchFamily="34" charset="0"/>
              </a:rPr>
              <a:t>Dr. Cong Luan Nguyen</a:t>
            </a:r>
            <a:br>
              <a:rPr lang="en-US" b="1" dirty="0">
                <a:latin typeface="Candara" panose="020E0502030303020204" pitchFamily="34" charset="0"/>
              </a:rPr>
            </a:br>
            <a:r>
              <a:rPr lang="en-US" dirty="0">
                <a:latin typeface="Candara" panose="020E0502030303020204" pitchFamily="34" charset="0"/>
              </a:rPr>
              <a:t>Business Manager,</a:t>
            </a:r>
            <a:br>
              <a:rPr lang="en-US" dirty="0">
                <a:latin typeface="Candara" panose="020E0502030303020204" pitchFamily="34" charset="0"/>
              </a:rPr>
            </a:br>
            <a:r>
              <a:rPr lang="en-US" dirty="0">
                <a:latin typeface="Candara" panose="020E0502030303020204" pitchFamily="34" charset="0"/>
              </a:rPr>
              <a:t>APAC, </a:t>
            </a:r>
            <a:r>
              <a:rPr lang="en-US" dirty="0" err="1">
                <a:latin typeface="Candara" panose="020E0502030303020204" pitchFamily="34" charset="0"/>
              </a:rPr>
              <a:t>Vizgen</a:t>
            </a:r>
            <a:endParaRPr lang="en-US" dirty="0">
              <a:latin typeface="Candara" panose="020E0502030303020204" pitchFamily="34" charset="0"/>
            </a:endParaRPr>
          </a:p>
        </p:txBody>
      </p:sp>
      <p:sp>
        <p:nvSpPr>
          <p:cNvPr id="18" name="TextBox 17">
            <a:extLst>
              <a:ext uri="{FF2B5EF4-FFF2-40B4-BE49-F238E27FC236}">
                <a16:creationId xmlns:a16="http://schemas.microsoft.com/office/drawing/2014/main" id="{5552899A-4EEA-8FBC-71A7-552EF64993D5}"/>
              </a:ext>
            </a:extLst>
          </p:cNvPr>
          <p:cNvSpPr txBox="1"/>
          <p:nvPr/>
        </p:nvSpPr>
        <p:spPr>
          <a:xfrm>
            <a:off x="6325559" y="2606703"/>
            <a:ext cx="2445622" cy="954107"/>
          </a:xfrm>
          <a:prstGeom prst="rect">
            <a:avLst/>
          </a:prstGeom>
          <a:noFill/>
        </p:spPr>
        <p:txBody>
          <a:bodyPr wrap="square">
            <a:spAutoFit/>
          </a:bodyPr>
          <a:lstStyle/>
          <a:p>
            <a:pPr algn="ctr"/>
            <a:r>
              <a:rPr lang="en-US" b="1" dirty="0">
                <a:latin typeface="Candara" panose="020E0502030303020204" pitchFamily="34" charset="0"/>
              </a:rPr>
              <a:t>Dr. Nguyen </a:t>
            </a:r>
            <a:r>
              <a:rPr lang="en-US" b="1" dirty="0" err="1">
                <a:latin typeface="Candara" panose="020E0502030303020204" pitchFamily="34" charset="0"/>
              </a:rPr>
              <a:t>Thi</a:t>
            </a:r>
            <a:r>
              <a:rPr lang="en-US" b="1" dirty="0">
                <a:latin typeface="Candara" panose="020E0502030303020204" pitchFamily="34" charset="0"/>
              </a:rPr>
              <a:t> Lien Hanh</a:t>
            </a:r>
            <a:br>
              <a:rPr lang="en-US" b="1" dirty="0">
                <a:latin typeface="Candara" panose="020E0502030303020204" pitchFamily="34" charset="0"/>
              </a:rPr>
            </a:br>
            <a:r>
              <a:rPr lang="en-US" dirty="0">
                <a:latin typeface="Candara" panose="020E0502030303020204" pitchFamily="34" charset="0"/>
              </a:rPr>
              <a:t>Institute of Malariology, Parasitology and Entomology (IMPE) </a:t>
            </a:r>
            <a:r>
              <a:rPr lang="en-US" dirty="0" err="1">
                <a:latin typeface="Candara" panose="020E0502030303020204" pitchFamily="34" charset="0"/>
              </a:rPr>
              <a:t>Quy</a:t>
            </a:r>
            <a:r>
              <a:rPr lang="en-US" dirty="0">
                <a:latin typeface="Candara" panose="020E0502030303020204" pitchFamily="34" charset="0"/>
              </a:rPr>
              <a:t> Nhon</a:t>
            </a:r>
          </a:p>
        </p:txBody>
      </p:sp>
      <p:sp>
        <p:nvSpPr>
          <p:cNvPr id="22" name="TextBox 21">
            <a:extLst>
              <a:ext uri="{FF2B5EF4-FFF2-40B4-BE49-F238E27FC236}">
                <a16:creationId xmlns:a16="http://schemas.microsoft.com/office/drawing/2014/main" id="{092A4357-2F81-989B-FB50-EBA36BE00C07}"/>
              </a:ext>
            </a:extLst>
          </p:cNvPr>
          <p:cNvSpPr txBox="1"/>
          <p:nvPr/>
        </p:nvSpPr>
        <p:spPr>
          <a:xfrm>
            <a:off x="9419243" y="2606703"/>
            <a:ext cx="2568871" cy="738664"/>
          </a:xfrm>
          <a:prstGeom prst="rect">
            <a:avLst/>
          </a:prstGeom>
          <a:noFill/>
        </p:spPr>
        <p:txBody>
          <a:bodyPr wrap="square">
            <a:spAutoFit/>
          </a:bodyPr>
          <a:lstStyle/>
          <a:p>
            <a:pPr algn="ctr"/>
            <a:r>
              <a:rPr lang="en-US" b="1" dirty="0">
                <a:latin typeface="Candara" panose="020E0502030303020204" pitchFamily="34" charset="0"/>
              </a:rPr>
              <a:t>Dr. </a:t>
            </a:r>
            <a:r>
              <a:rPr lang="en-US" b="1" dirty="0" err="1">
                <a:latin typeface="Candara" panose="020E0502030303020204" pitchFamily="34" charset="0"/>
              </a:rPr>
              <a:t>Luu</a:t>
            </a:r>
            <a:r>
              <a:rPr lang="en-US" b="1" dirty="0">
                <a:latin typeface="Candara" panose="020E0502030303020204" pitchFamily="34" charset="0"/>
              </a:rPr>
              <a:t> </a:t>
            </a:r>
            <a:r>
              <a:rPr lang="en-US" b="1" dirty="0" err="1">
                <a:latin typeface="Candara" panose="020E0502030303020204" pitchFamily="34" charset="0"/>
              </a:rPr>
              <a:t>Phuc</a:t>
            </a:r>
            <a:r>
              <a:rPr lang="en-US" b="1" dirty="0">
                <a:latin typeface="Candara" panose="020E0502030303020204" pitchFamily="34" charset="0"/>
              </a:rPr>
              <a:t> </a:t>
            </a:r>
            <a:r>
              <a:rPr lang="en-US" b="1" dirty="0" err="1">
                <a:latin typeface="Candara" panose="020E0502030303020204" pitchFamily="34" charset="0"/>
              </a:rPr>
              <a:t>Loi</a:t>
            </a:r>
            <a:endParaRPr lang="en-US" b="1" dirty="0">
              <a:latin typeface="Candara" panose="020E0502030303020204" pitchFamily="34" charset="0"/>
            </a:endParaRPr>
          </a:p>
          <a:p>
            <a:pPr algn="ctr"/>
            <a:r>
              <a:rPr lang="en-US" dirty="0">
                <a:latin typeface="Candara" panose="020E0502030303020204" pitchFamily="34" charset="0"/>
              </a:rPr>
              <a:t>Tam Anh Research Institute (</a:t>
            </a:r>
            <a:r>
              <a:rPr lang="en-US" dirty="0" err="1">
                <a:latin typeface="Candara" panose="020E0502030303020204" pitchFamily="34" charset="0"/>
              </a:rPr>
              <a:t>TamRI</a:t>
            </a:r>
            <a:r>
              <a:rPr lang="en-US" dirty="0">
                <a:latin typeface="Candara" panose="020E0502030303020204" pitchFamily="34" charset="0"/>
              </a:rPr>
              <a:t>), HCMC</a:t>
            </a:r>
          </a:p>
        </p:txBody>
      </p:sp>
      <p:sp>
        <p:nvSpPr>
          <p:cNvPr id="27" name="TextBox 26">
            <a:extLst>
              <a:ext uri="{FF2B5EF4-FFF2-40B4-BE49-F238E27FC236}">
                <a16:creationId xmlns:a16="http://schemas.microsoft.com/office/drawing/2014/main" id="{A90AF9D1-1AD9-FB40-AE0F-6522B694D9EC}"/>
              </a:ext>
            </a:extLst>
          </p:cNvPr>
          <p:cNvSpPr txBox="1"/>
          <p:nvPr/>
        </p:nvSpPr>
        <p:spPr>
          <a:xfrm>
            <a:off x="7331239" y="5418967"/>
            <a:ext cx="2550698" cy="400110"/>
          </a:xfrm>
          <a:prstGeom prst="rect">
            <a:avLst/>
          </a:prstGeom>
          <a:noFill/>
        </p:spPr>
        <p:txBody>
          <a:bodyPr wrap="none" rtlCol="0">
            <a:spAutoFit/>
          </a:bodyPr>
          <a:lstStyle/>
          <a:p>
            <a:r>
              <a:rPr lang="en-US" sz="2000" dirty="0"/>
              <a:t>Teaching Assistants </a:t>
            </a:r>
          </a:p>
        </p:txBody>
      </p:sp>
      <p:pic>
        <p:nvPicPr>
          <p:cNvPr id="3074" name="Picture 2" descr="2,842 Teaching Assistant Icon Stock Vectors and Vector Art | Shutterstock">
            <a:extLst>
              <a:ext uri="{FF2B5EF4-FFF2-40B4-BE49-F238E27FC236}">
                <a16:creationId xmlns:a16="http://schemas.microsoft.com/office/drawing/2014/main" id="{3B81D9C1-7650-A839-168C-AE8C3B3CF1A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275" t="11276" r="8971" b="21658"/>
          <a:stretch/>
        </p:blipFill>
        <p:spPr bwMode="auto">
          <a:xfrm>
            <a:off x="7331239" y="3822388"/>
            <a:ext cx="1695072" cy="15350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ABC13AB-3572-FB48-39C6-CA26F8DF858D}"/>
              </a:ext>
            </a:extLst>
          </p:cNvPr>
          <p:cNvPicPr>
            <a:picLocks noChangeAspect="1"/>
          </p:cNvPicPr>
          <p:nvPr/>
        </p:nvPicPr>
        <p:blipFill>
          <a:blip r:embed="rId8"/>
          <a:stretch>
            <a:fillRect/>
          </a:stretch>
        </p:blipFill>
        <p:spPr>
          <a:xfrm>
            <a:off x="4105615" y="3688885"/>
            <a:ext cx="952401" cy="1255438"/>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40BE6337-2E81-ED4E-6E21-974ACE1FC48D}"/>
              </a:ext>
            </a:extLst>
          </p:cNvPr>
          <p:cNvSpPr txBox="1"/>
          <p:nvPr/>
        </p:nvSpPr>
        <p:spPr>
          <a:xfrm>
            <a:off x="3252694" y="5124771"/>
            <a:ext cx="3165211" cy="523220"/>
          </a:xfrm>
          <a:prstGeom prst="rect">
            <a:avLst/>
          </a:prstGeom>
          <a:noFill/>
        </p:spPr>
        <p:txBody>
          <a:bodyPr wrap="square">
            <a:spAutoFit/>
          </a:bodyPr>
          <a:lstStyle/>
          <a:p>
            <a:pPr algn="ctr"/>
            <a:r>
              <a:rPr lang="en-US" b="1" i="1" dirty="0" err="1">
                <a:latin typeface="Arial" panose="020B0604020202020204" pitchFamily="34" charset="0"/>
                <a:cs typeface="Arial" panose="020B0604020202020204" pitchFamily="34" charset="0"/>
              </a:rPr>
              <a:t>Phd</a:t>
            </a:r>
            <a:r>
              <a:rPr lang="en-US" b="1" i="1" dirty="0">
                <a:latin typeface="Arial" panose="020B0604020202020204" pitchFamily="34" charset="0"/>
                <a:cs typeface="Arial" panose="020B0604020202020204" pitchFamily="34" charset="0"/>
              </a:rPr>
              <a:t>. Candidate</a:t>
            </a:r>
            <a:r>
              <a:rPr lang="en-US" b="1" dirty="0">
                <a:latin typeface="Arial" panose="020B0604020202020204" pitchFamily="34" charset="0"/>
                <a:cs typeface="Arial" panose="020B0604020202020204" pitchFamily="34" charset="0"/>
              </a:rPr>
              <a:t> Pham Quang </a:t>
            </a:r>
            <a:r>
              <a:rPr lang="en-US" b="1" dirty="0" err="1">
                <a:latin typeface="Arial" panose="020B0604020202020204" pitchFamily="34" charset="0"/>
                <a:cs typeface="Arial" panose="020B0604020202020204" pitchFamily="34" charset="0"/>
              </a:rPr>
              <a:t>Huy</a:t>
            </a:r>
            <a:endParaRPr lang="en-US" b="1"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Kyungpook University, Korea</a:t>
            </a:r>
          </a:p>
        </p:txBody>
      </p:sp>
    </p:spTree>
    <p:extLst>
      <p:ext uri="{BB962C8B-B14F-4D97-AF65-F5344CB8AC3E}">
        <p14:creationId xmlns:p14="http://schemas.microsoft.com/office/powerpoint/2010/main" val="3112533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F257A-EA38-758A-BE7E-02B023507373}"/>
              </a:ext>
            </a:extLst>
          </p:cNvPr>
          <p:cNvSpPr>
            <a:spLocks noGrp="1"/>
          </p:cNvSpPr>
          <p:nvPr>
            <p:ph type="title"/>
          </p:nvPr>
        </p:nvSpPr>
        <p:spPr>
          <a:xfrm>
            <a:off x="838200" y="365126"/>
            <a:ext cx="10515600" cy="738664"/>
          </a:xfrm>
        </p:spPr>
        <p:txBody>
          <a:bodyPr>
            <a:normAutofit/>
          </a:bodyPr>
          <a:lstStyle/>
          <a:p>
            <a:pPr algn="ctr"/>
            <a:r>
              <a:rPr lang="en-US" sz="2800" dirty="0"/>
              <a:t>VSOB: Invited Speakers and Lecturers</a:t>
            </a:r>
          </a:p>
        </p:txBody>
      </p:sp>
      <p:sp>
        <p:nvSpPr>
          <p:cNvPr id="3" name="Slide Number Placeholder 2">
            <a:extLst>
              <a:ext uri="{FF2B5EF4-FFF2-40B4-BE49-F238E27FC236}">
                <a16:creationId xmlns:a16="http://schemas.microsoft.com/office/drawing/2014/main" id="{C70BF1D8-D72D-FB68-06B9-3620B52515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1026" name="Picture 2" descr="computationalbiology #bioinformatics #lifesciences | SIB Swiss Institute of  Bioinformatics | 15 comments">
            <a:extLst>
              <a:ext uri="{FF2B5EF4-FFF2-40B4-BE49-F238E27FC236}">
                <a16:creationId xmlns:a16="http://schemas.microsoft.com/office/drawing/2014/main" id="{B6F4DE0E-020B-E916-E2FC-747315481F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462" b="15645"/>
          <a:stretch/>
        </p:blipFill>
        <p:spPr bwMode="auto">
          <a:xfrm>
            <a:off x="1240510" y="2230546"/>
            <a:ext cx="1315082" cy="13287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D64C918-4775-6333-03E2-E52656E4A5FD}"/>
              </a:ext>
            </a:extLst>
          </p:cNvPr>
          <p:cNvSpPr txBox="1"/>
          <p:nvPr/>
        </p:nvSpPr>
        <p:spPr>
          <a:xfrm>
            <a:off x="1080189" y="3750350"/>
            <a:ext cx="1695072" cy="830997"/>
          </a:xfrm>
          <a:prstGeom prst="rect">
            <a:avLst/>
          </a:prstGeom>
          <a:noFill/>
        </p:spPr>
        <p:txBody>
          <a:bodyPr wrap="square">
            <a:spAutoFit/>
          </a:bodyPr>
          <a:lstStyle/>
          <a:p>
            <a:r>
              <a:rPr lang="vi-VN" sz="1200" b="1" i="0" dirty="0">
                <a:solidFill>
                  <a:srgbClr val="1F2328"/>
                </a:solidFill>
                <a:effectLst/>
                <a:latin typeface="Arial" panose="020B0604020202020204" pitchFamily="34" charset="0"/>
                <a:cs typeface="Arial" panose="020B0604020202020204" pitchFamily="34" charset="0"/>
              </a:rPr>
              <a:t>TS. Trần Thương Văn Du</a:t>
            </a:r>
            <a:br>
              <a:rPr lang="vi-VN" sz="1200" dirty="0">
                <a:latin typeface="Arial" panose="020B0604020202020204" pitchFamily="34" charset="0"/>
                <a:cs typeface="Arial" panose="020B0604020202020204" pitchFamily="34" charset="0"/>
              </a:rPr>
            </a:br>
            <a:r>
              <a:rPr lang="vi-VN" sz="1200" b="0" i="0" dirty="0">
                <a:solidFill>
                  <a:srgbClr val="1F2328"/>
                </a:solidFill>
                <a:effectLst/>
                <a:latin typeface="Arial" panose="020B0604020202020204" pitchFamily="34" charset="0"/>
                <a:cs typeface="Arial" panose="020B0604020202020204" pitchFamily="34" charset="0"/>
              </a:rPr>
              <a:t>Swiss Institute of Bioinformatics</a:t>
            </a:r>
            <a:endParaRPr lang="en-US" sz="12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4D21BB3-A8AE-E138-50E1-FF1323557586}"/>
              </a:ext>
            </a:extLst>
          </p:cNvPr>
          <p:cNvPicPr>
            <a:picLocks noChangeAspect="1"/>
          </p:cNvPicPr>
          <p:nvPr/>
        </p:nvPicPr>
        <p:blipFill>
          <a:blip r:embed="rId3"/>
          <a:stretch>
            <a:fillRect/>
          </a:stretch>
        </p:blipFill>
        <p:spPr>
          <a:xfrm>
            <a:off x="3236733" y="2182386"/>
            <a:ext cx="1321249" cy="1425033"/>
          </a:xfrm>
          <a:prstGeom prst="rect">
            <a:avLst/>
          </a:prstGeom>
        </p:spPr>
      </p:pic>
      <p:sp>
        <p:nvSpPr>
          <p:cNvPr id="12" name="TextBox 11">
            <a:extLst>
              <a:ext uri="{FF2B5EF4-FFF2-40B4-BE49-F238E27FC236}">
                <a16:creationId xmlns:a16="http://schemas.microsoft.com/office/drawing/2014/main" id="{6286FB68-5ECC-FC76-D0D5-393F4B741FFF}"/>
              </a:ext>
            </a:extLst>
          </p:cNvPr>
          <p:cNvSpPr txBox="1"/>
          <p:nvPr/>
        </p:nvSpPr>
        <p:spPr>
          <a:xfrm>
            <a:off x="3148298" y="3750350"/>
            <a:ext cx="1695072" cy="830997"/>
          </a:xfrm>
          <a:prstGeom prst="rect">
            <a:avLst/>
          </a:prstGeom>
          <a:noFill/>
        </p:spPr>
        <p:txBody>
          <a:bodyPr wrap="square">
            <a:spAutoFit/>
          </a:bodyPr>
          <a:lstStyle/>
          <a:p>
            <a:r>
              <a:rPr lang="vi-VN" sz="1200" b="1" i="0" dirty="0">
                <a:solidFill>
                  <a:srgbClr val="1F2328"/>
                </a:solidFill>
                <a:effectLst/>
                <a:latin typeface="Arial" panose="020B0604020202020204" pitchFamily="34" charset="0"/>
                <a:cs typeface="Arial" panose="020B0604020202020204" pitchFamily="34" charset="0"/>
              </a:rPr>
              <a:t>TS. Bùi Văn Thạch</a:t>
            </a:r>
            <a:br>
              <a:rPr lang="vi-VN" sz="1200" dirty="0">
                <a:latin typeface="Arial" panose="020B0604020202020204" pitchFamily="34" charset="0"/>
                <a:cs typeface="Arial" panose="020B0604020202020204" pitchFamily="34" charset="0"/>
              </a:rPr>
            </a:br>
            <a:r>
              <a:rPr lang="vi-VN" sz="1200" b="0" i="0" dirty="0">
                <a:solidFill>
                  <a:srgbClr val="1F2328"/>
                </a:solidFill>
                <a:effectLst/>
                <a:latin typeface="Arial" panose="020B0604020202020204" pitchFamily="34" charset="0"/>
                <a:cs typeface="Arial" panose="020B0604020202020204" pitchFamily="34" charset="0"/>
              </a:rPr>
              <a:t>Khoa CNTT, Trường ĐH Khoa học Tự nhiên, ĐHQG-HCM</a:t>
            </a:r>
            <a:endParaRPr lang="en-US" sz="1200"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B3B561A9-947F-69B1-F652-FD403AEB987E}"/>
              </a:ext>
            </a:extLst>
          </p:cNvPr>
          <p:cNvPicPr>
            <a:picLocks noChangeAspect="1"/>
          </p:cNvPicPr>
          <p:nvPr/>
        </p:nvPicPr>
        <p:blipFill>
          <a:blip r:embed="rId4"/>
          <a:stretch>
            <a:fillRect/>
          </a:stretch>
        </p:blipFill>
        <p:spPr>
          <a:xfrm>
            <a:off x="5239123" y="2168126"/>
            <a:ext cx="1185259" cy="1410773"/>
          </a:xfrm>
          <a:prstGeom prst="rect">
            <a:avLst/>
          </a:prstGeom>
        </p:spPr>
      </p:pic>
      <p:sp>
        <p:nvSpPr>
          <p:cNvPr id="16" name="TextBox 15">
            <a:extLst>
              <a:ext uri="{FF2B5EF4-FFF2-40B4-BE49-F238E27FC236}">
                <a16:creationId xmlns:a16="http://schemas.microsoft.com/office/drawing/2014/main" id="{BCFC94E8-73F3-4D97-B911-4A5008215E6A}"/>
              </a:ext>
            </a:extLst>
          </p:cNvPr>
          <p:cNvSpPr txBox="1"/>
          <p:nvPr/>
        </p:nvSpPr>
        <p:spPr>
          <a:xfrm>
            <a:off x="5212690" y="3768455"/>
            <a:ext cx="1545815" cy="830997"/>
          </a:xfrm>
          <a:prstGeom prst="rect">
            <a:avLst/>
          </a:prstGeom>
          <a:noFill/>
        </p:spPr>
        <p:txBody>
          <a:bodyPr wrap="square">
            <a:spAutoFit/>
          </a:bodyPr>
          <a:lstStyle/>
          <a:p>
            <a:r>
              <a:rPr lang="en-US" sz="1200" b="1" i="0" dirty="0">
                <a:solidFill>
                  <a:srgbClr val="1F2328"/>
                </a:solidFill>
                <a:effectLst/>
                <a:latin typeface="Arial" panose="020B0604020202020204" pitchFamily="34" charset="0"/>
                <a:cs typeface="Arial" panose="020B0604020202020204" pitchFamily="34" charset="0"/>
              </a:rPr>
              <a:t>PGS.TS. </a:t>
            </a:r>
            <a:r>
              <a:rPr lang="en-US" sz="1200" b="1" i="0" dirty="0" err="1">
                <a:solidFill>
                  <a:srgbClr val="1F2328"/>
                </a:solidFill>
                <a:effectLst/>
                <a:latin typeface="Arial" panose="020B0604020202020204" pitchFamily="34" charset="0"/>
                <a:cs typeface="Arial" panose="020B0604020202020204" pitchFamily="34" charset="0"/>
              </a:rPr>
              <a:t>Nguyễn</a:t>
            </a:r>
            <a:r>
              <a:rPr lang="en-US" sz="1200" b="1" i="0" dirty="0">
                <a:solidFill>
                  <a:srgbClr val="1F2328"/>
                </a:solidFill>
                <a:effectLst/>
                <a:latin typeface="Arial" panose="020B0604020202020204" pitchFamily="34" charset="0"/>
                <a:cs typeface="Arial" panose="020B0604020202020204" pitchFamily="34" charset="0"/>
              </a:rPr>
              <a:t> </a:t>
            </a:r>
            <a:r>
              <a:rPr lang="en-US" sz="1200" b="1" i="0" dirty="0" err="1">
                <a:solidFill>
                  <a:srgbClr val="1F2328"/>
                </a:solidFill>
                <a:effectLst/>
                <a:latin typeface="Arial" panose="020B0604020202020204" pitchFamily="34" charset="0"/>
                <a:cs typeface="Arial" panose="020B0604020202020204" pitchFamily="34" charset="0"/>
              </a:rPr>
              <a:t>Hoàng</a:t>
            </a:r>
            <a:r>
              <a:rPr lang="en-US" sz="1200" b="1" i="0" dirty="0">
                <a:solidFill>
                  <a:srgbClr val="1F2328"/>
                </a:solidFill>
                <a:effectLst/>
                <a:latin typeface="Arial" panose="020B0604020202020204" pitchFamily="34" charset="0"/>
                <a:cs typeface="Arial" panose="020B0604020202020204" pitchFamily="34" charset="0"/>
              </a:rPr>
              <a:t> </a:t>
            </a:r>
            <a:r>
              <a:rPr lang="en-US" sz="1200" b="1" i="0" dirty="0" err="1">
                <a:solidFill>
                  <a:srgbClr val="1F2328"/>
                </a:solidFill>
                <a:effectLst/>
                <a:latin typeface="Arial" panose="020B0604020202020204" pitchFamily="34" charset="0"/>
                <a:cs typeface="Arial" panose="020B0604020202020204" pitchFamily="34" charset="0"/>
              </a:rPr>
              <a:t>Hải</a:t>
            </a:r>
            <a:br>
              <a:rPr lang="en-US" sz="1200" dirty="0">
                <a:latin typeface="Arial" panose="020B0604020202020204" pitchFamily="34" charset="0"/>
                <a:cs typeface="Arial" panose="020B0604020202020204" pitchFamily="34" charset="0"/>
              </a:rPr>
            </a:br>
            <a:r>
              <a:rPr lang="en-US" sz="1200" b="0" i="0" dirty="0" err="1">
                <a:solidFill>
                  <a:srgbClr val="1F2328"/>
                </a:solidFill>
                <a:effectLst/>
                <a:latin typeface="Arial" panose="020B0604020202020204" pitchFamily="34" charset="0"/>
                <a:cs typeface="Arial" panose="020B0604020202020204" pitchFamily="34" charset="0"/>
              </a:rPr>
              <a:t>Đại</a:t>
            </a:r>
            <a:r>
              <a:rPr lang="en-US" sz="1200" b="0" i="0" dirty="0">
                <a:solidFill>
                  <a:srgbClr val="1F2328"/>
                </a:solidFill>
                <a:effectLst/>
                <a:latin typeface="Arial" panose="020B0604020202020204" pitchFamily="34" charset="0"/>
                <a:cs typeface="Arial" panose="020B0604020202020204" pitchFamily="34" charset="0"/>
              </a:rPr>
              <a:t> </a:t>
            </a:r>
            <a:r>
              <a:rPr lang="en-US" sz="1200" b="0" i="0" dirty="0" err="1">
                <a:solidFill>
                  <a:srgbClr val="1F2328"/>
                </a:solidFill>
                <a:effectLst/>
                <a:latin typeface="Arial" panose="020B0604020202020204" pitchFamily="34" charset="0"/>
                <a:cs typeface="Arial" panose="020B0604020202020204" pitchFamily="34" charset="0"/>
              </a:rPr>
              <a:t>học</a:t>
            </a:r>
            <a:r>
              <a:rPr lang="en-US" sz="1200" b="0" i="0" dirty="0">
                <a:solidFill>
                  <a:srgbClr val="1F2328"/>
                </a:solidFill>
                <a:effectLst/>
                <a:latin typeface="Arial" panose="020B0604020202020204" pitchFamily="34" charset="0"/>
                <a:cs typeface="Arial" panose="020B0604020202020204" pitchFamily="34" charset="0"/>
              </a:rPr>
              <a:t> </a:t>
            </a:r>
            <a:r>
              <a:rPr lang="en-US" sz="1200" b="0" i="0" dirty="0" err="1">
                <a:solidFill>
                  <a:srgbClr val="1F2328"/>
                </a:solidFill>
                <a:effectLst/>
                <a:latin typeface="Arial" panose="020B0604020202020204" pitchFamily="34" charset="0"/>
                <a:cs typeface="Arial" panose="020B0604020202020204" pitchFamily="34" charset="0"/>
              </a:rPr>
              <a:t>Quốc</a:t>
            </a:r>
            <a:r>
              <a:rPr lang="en-US" sz="1200" b="0" i="0" dirty="0">
                <a:solidFill>
                  <a:srgbClr val="1F2328"/>
                </a:solidFill>
                <a:effectLst/>
                <a:latin typeface="Arial" panose="020B0604020202020204" pitchFamily="34" charset="0"/>
                <a:cs typeface="Arial" panose="020B0604020202020204" pitchFamily="34" charset="0"/>
              </a:rPr>
              <a:t> </a:t>
            </a:r>
            <a:r>
              <a:rPr lang="en-US" sz="1200" b="0" i="0" dirty="0" err="1">
                <a:solidFill>
                  <a:srgbClr val="1F2328"/>
                </a:solidFill>
                <a:effectLst/>
                <a:latin typeface="Arial" panose="020B0604020202020204" pitchFamily="34" charset="0"/>
                <a:cs typeface="Arial" panose="020B0604020202020204" pitchFamily="34" charset="0"/>
              </a:rPr>
              <a:t>gia</a:t>
            </a:r>
            <a:r>
              <a:rPr lang="en-US" sz="1200" b="0" i="0" dirty="0">
                <a:solidFill>
                  <a:srgbClr val="1F2328"/>
                </a:solidFill>
                <a:effectLst/>
                <a:latin typeface="Arial" panose="020B0604020202020204" pitchFamily="34" charset="0"/>
                <a:cs typeface="Arial" panose="020B0604020202020204" pitchFamily="34" charset="0"/>
              </a:rPr>
              <a:t> </a:t>
            </a:r>
            <a:r>
              <a:rPr lang="en-US" sz="1200" b="0" i="0" dirty="0" err="1">
                <a:solidFill>
                  <a:srgbClr val="1F2328"/>
                </a:solidFill>
                <a:effectLst/>
                <a:latin typeface="Arial" panose="020B0604020202020204" pitchFamily="34" charset="0"/>
                <a:cs typeface="Arial" panose="020B0604020202020204" pitchFamily="34" charset="0"/>
              </a:rPr>
              <a:t>Hà</a:t>
            </a:r>
            <a:r>
              <a:rPr lang="en-US" sz="1200" b="0" i="0" dirty="0">
                <a:solidFill>
                  <a:srgbClr val="1F2328"/>
                </a:solidFill>
                <a:effectLst/>
                <a:latin typeface="Arial" panose="020B0604020202020204" pitchFamily="34" charset="0"/>
                <a:cs typeface="Arial" panose="020B0604020202020204" pitchFamily="34" charset="0"/>
              </a:rPr>
              <a:t> </a:t>
            </a:r>
            <a:r>
              <a:rPr lang="en-US" sz="1200" b="0" i="0" dirty="0" err="1">
                <a:solidFill>
                  <a:srgbClr val="1F2328"/>
                </a:solidFill>
                <a:effectLst/>
                <a:latin typeface="Arial" panose="020B0604020202020204" pitchFamily="34" charset="0"/>
                <a:cs typeface="Arial" panose="020B0604020202020204" pitchFamily="34" charset="0"/>
              </a:rPr>
              <a:t>Nội</a:t>
            </a:r>
            <a:endParaRPr lang="en-US" sz="1200" dirty="0">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A9696A74-1D7C-CD3E-5A5D-B0AB0A080482}"/>
              </a:ext>
            </a:extLst>
          </p:cNvPr>
          <p:cNvPicPr>
            <a:picLocks noChangeAspect="1"/>
          </p:cNvPicPr>
          <p:nvPr/>
        </p:nvPicPr>
        <p:blipFill>
          <a:blip r:embed="rId5"/>
          <a:stretch>
            <a:fillRect/>
          </a:stretch>
        </p:blipFill>
        <p:spPr>
          <a:xfrm>
            <a:off x="7105523" y="2168126"/>
            <a:ext cx="1394713" cy="1439293"/>
          </a:xfrm>
          <a:prstGeom prst="rect">
            <a:avLst/>
          </a:prstGeom>
        </p:spPr>
      </p:pic>
      <p:sp>
        <p:nvSpPr>
          <p:cNvPr id="20" name="TextBox 19">
            <a:extLst>
              <a:ext uri="{FF2B5EF4-FFF2-40B4-BE49-F238E27FC236}">
                <a16:creationId xmlns:a16="http://schemas.microsoft.com/office/drawing/2014/main" id="{A9A35030-47D6-E39D-2889-D836BB84FC02}"/>
              </a:ext>
            </a:extLst>
          </p:cNvPr>
          <p:cNvSpPr txBox="1"/>
          <p:nvPr/>
        </p:nvSpPr>
        <p:spPr>
          <a:xfrm>
            <a:off x="7068336" y="3750350"/>
            <a:ext cx="1909263" cy="830997"/>
          </a:xfrm>
          <a:prstGeom prst="rect">
            <a:avLst/>
          </a:prstGeom>
          <a:noFill/>
        </p:spPr>
        <p:txBody>
          <a:bodyPr wrap="square">
            <a:spAutoFit/>
          </a:bodyPr>
          <a:lstStyle/>
          <a:p>
            <a:r>
              <a:rPr lang="vi-VN" sz="1200" b="1" i="0" dirty="0">
                <a:solidFill>
                  <a:srgbClr val="1F2328"/>
                </a:solidFill>
                <a:effectLst/>
                <a:latin typeface="Arial" panose="020B0604020202020204" pitchFamily="34" charset="0"/>
                <a:cs typeface="Arial" panose="020B0604020202020204" pitchFamily="34" charset="0"/>
              </a:rPr>
              <a:t>PGS.TS. Chu Đình Tới</a:t>
            </a:r>
            <a:br>
              <a:rPr lang="vi-VN" sz="1200" dirty="0">
                <a:latin typeface="Arial" panose="020B0604020202020204" pitchFamily="34" charset="0"/>
                <a:cs typeface="Arial" panose="020B0604020202020204" pitchFamily="34" charset="0"/>
              </a:rPr>
            </a:br>
            <a:r>
              <a:rPr lang="vi-VN" sz="1200" b="0" i="0" dirty="0">
                <a:solidFill>
                  <a:srgbClr val="1F2328"/>
                </a:solidFill>
                <a:effectLst/>
                <a:latin typeface="Arial" panose="020B0604020202020204" pitchFamily="34" charset="0"/>
                <a:cs typeface="Arial" panose="020B0604020202020204" pitchFamily="34" charset="0"/>
              </a:rPr>
              <a:t>Trưởng khoa Khoa học Ứng dụng, Trường Quốc tế, ĐHQGHN</a:t>
            </a:r>
            <a:endParaRPr lang="en-US" sz="12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B2B907E6-A598-FFA4-C11E-3758D63F72D8}"/>
              </a:ext>
            </a:extLst>
          </p:cNvPr>
          <p:cNvSpPr txBox="1"/>
          <p:nvPr/>
        </p:nvSpPr>
        <p:spPr>
          <a:xfrm>
            <a:off x="9195934" y="3750350"/>
            <a:ext cx="1777203" cy="1200329"/>
          </a:xfrm>
          <a:prstGeom prst="rect">
            <a:avLst/>
          </a:prstGeom>
          <a:noFill/>
        </p:spPr>
        <p:txBody>
          <a:bodyPr wrap="square">
            <a:spAutoFit/>
          </a:bodyPr>
          <a:lstStyle/>
          <a:p>
            <a:r>
              <a:rPr lang="en-US" sz="1200" b="1" i="0" dirty="0">
                <a:solidFill>
                  <a:srgbClr val="1F2328"/>
                </a:solidFill>
                <a:effectLst/>
                <a:latin typeface="Arial" panose="020B0604020202020204" pitchFamily="34" charset="0"/>
                <a:cs typeface="Arial" panose="020B0604020202020204" pitchFamily="34" charset="0"/>
              </a:rPr>
              <a:t>Thao My Nguyen</a:t>
            </a:r>
            <a:br>
              <a:rPr lang="en-US" sz="1200" dirty="0">
                <a:latin typeface="Arial" panose="020B0604020202020204" pitchFamily="34" charset="0"/>
                <a:cs typeface="Arial" panose="020B0604020202020204" pitchFamily="34" charset="0"/>
              </a:rPr>
            </a:br>
            <a:r>
              <a:rPr lang="en-US" sz="1200" b="0" i="0" dirty="0">
                <a:solidFill>
                  <a:srgbClr val="1F2328"/>
                </a:solidFill>
                <a:effectLst/>
                <a:latin typeface="Arial" panose="020B0604020202020204" pitchFamily="34" charset="0"/>
                <a:cs typeface="Arial" panose="020B0604020202020204" pitchFamily="34" charset="0"/>
              </a:rPr>
              <a:t>Founding Member, Head of Product Design &amp; Business Development, </a:t>
            </a:r>
            <a:r>
              <a:rPr lang="en-US" sz="1200" b="0" i="0" dirty="0" err="1">
                <a:solidFill>
                  <a:srgbClr val="1F2328"/>
                </a:solidFill>
                <a:effectLst/>
                <a:latin typeface="Arial" panose="020B0604020202020204" pitchFamily="34" charset="0"/>
                <a:cs typeface="Arial" panose="020B0604020202020204" pitchFamily="34" charset="0"/>
              </a:rPr>
              <a:t>Drylab</a:t>
            </a:r>
            <a:r>
              <a:rPr lang="en-US" sz="1200" b="0" i="0" dirty="0">
                <a:solidFill>
                  <a:srgbClr val="1F2328"/>
                </a:solidFill>
                <a:effectLst/>
                <a:latin typeface="Arial" panose="020B0604020202020204" pitchFamily="34" charset="0"/>
                <a:cs typeface="Arial" panose="020B0604020202020204" pitchFamily="34" charset="0"/>
              </a:rPr>
              <a:t>, Inc.</a:t>
            </a:r>
            <a:endParaRPr lang="en-US" sz="1200" dirty="0">
              <a:latin typeface="Arial" panose="020B0604020202020204" pitchFamily="34" charset="0"/>
              <a:cs typeface="Arial" panose="020B0604020202020204" pitchFamily="34" charset="0"/>
            </a:endParaRPr>
          </a:p>
        </p:txBody>
      </p:sp>
      <p:pic>
        <p:nvPicPr>
          <p:cNvPr id="1028" name="Picture 4" descr="Female placeholder Vector Images &amp; Graphics for Commercial ...">
            <a:extLst>
              <a:ext uri="{FF2B5EF4-FFF2-40B4-BE49-F238E27FC236}">
                <a16:creationId xmlns:a16="http://schemas.microsoft.com/office/drawing/2014/main" id="{EDC6E3A1-F422-BB51-2774-13E7647931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83442" y="2022251"/>
            <a:ext cx="1633072" cy="1537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750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3D0B02-DD62-0DC9-22B8-49D70F2476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5" name="Picture 4">
            <a:extLst>
              <a:ext uri="{FF2B5EF4-FFF2-40B4-BE49-F238E27FC236}">
                <a16:creationId xmlns:a16="http://schemas.microsoft.com/office/drawing/2014/main" id="{D0539E8A-5F35-2D82-2E22-C51A760736E8}"/>
              </a:ext>
            </a:extLst>
          </p:cNvPr>
          <p:cNvPicPr>
            <a:picLocks noChangeAspect="1"/>
          </p:cNvPicPr>
          <p:nvPr/>
        </p:nvPicPr>
        <p:blipFill rotWithShape="1">
          <a:blip r:embed="rId2"/>
          <a:srcRect r="10655" b="8784"/>
          <a:stretch/>
        </p:blipFill>
        <p:spPr>
          <a:xfrm>
            <a:off x="534472" y="220159"/>
            <a:ext cx="3600000" cy="2520506"/>
          </a:xfrm>
          <a:prstGeom prst="rect">
            <a:avLst/>
          </a:prstGeom>
          <a:ln>
            <a:noFill/>
          </a:ln>
          <a:effectLst>
            <a:softEdge rad="112500"/>
          </a:effectLst>
        </p:spPr>
      </p:pic>
      <p:pic>
        <p:nvPicPr>
          <p:cNvPr id="7" name="Picture 6">
            <a:extLst>
              <a:ext uri="{FF2B5EF4-FFF2-40B4-BE49-F238E27FC236}">
                <a16:creationId xmlns:a16="http://schemas.microsoft.com/office/drawing/2014/main" id="{F53E369E-F0FA-09E4-2746-E9ED14C0C22E}"/>
              </a:ext>
            </a:extLst>
          </p:cNvPr>
          <p:cNvPicPr>
            <a:picLocks noChangeAspect="1"/>
          </p:cNvPicPr>
          <p:nvPr/>
        </p:nvPicPr>
        <p:blipFill>
          <a:blip r:embed="rId3"/>
          <a:stretch>
            <a:fillRect/>
          </a:stretch>
        </p:blipFill>
        <p:spPr>
          <a:xfrm>
            <a:off x="525221" y="3517538"/>
            <a:ext cx="3600000" cy="2399755"/>
          </a:xfrm>
          <a:prstGeom prst="rect">
            <a:avLst/>
          </a:prstGeom>
          <a:ln>
            <a:noFill/>
          </a:ln>
          <a:effectLst>
            <a:softEdge rad="112500"/>
          </a:effectLst>
        </p:spPr>
      </p:pic>
      <p:pic>
        <p:nvPicPr>
          <p:cNvPr id="11" name="Picture 10">
            <a:extLst>
              <a:ext uri="{FF2B5EF4-FFF2-40B4-BE49-F238E27FC236}">
                <a16:creationId xmlns:a16="http://schemas.microsoft.com/office/drawing/2014/main" id="{5AA6A0A1-8B50-0377-371A-CB5E542560DD}"/>
              </a:ext>
            </a:extLst>
          </p:cNvPr>
          <p:cNvPicPr>
            <a:picLocks noChangeAspect="1"/>
          </p:cNvPicPr>
          <p:nvPr/>
        </p:nvPicPr>
        <p:blipFill>
          <a:blip r:embed="rId4"/>
          <a:stretch>
            <a:fillRect/>
          </a:stretch>
        </p:blipFill>
        <p:spPr>
          <a:xfrm>
            <a:off x="4487376" y="2228811"/>
            <a:ext cx="2520000" cy="1680000"/>
          </a:xfrm>
          <a:prstGeom prst="rect">
            <a:avLst/>
          </a:prstGeom>
          <a:ln>
            <a:noFill/>
          </a:ln>
          <a:effectLst>
            <a:softEdge rad="112500"/>
          </a:effectLst>
        </p:spPr>
      </p:pic>
      <p:pic>
        <p:nvPicPr>
          <p:cNvPr id="13" name="Picture 12">
            <a:extLst>
              <a:ext uri="{FF2B5EF4-FFF2-40B4-BE49-F238E27FC236}">
                <a16:creationId xmlns:a16="http://schemas.microsoft.com/office/drawing/2014/main" id="{1399115D-DA1E-402F-4E0C-A0AADBDF518D}"/>
              </a:ext>
            </a:extLst>
          </p:cNvPr>
          <p:cNvPicPr>
            <a:picLocks noChangeAspect="1"/>
          </p:cNvPicPr>
          <p:nvPr/>
        </p:nvPicPr>
        <p:blipFill>
          <a:blip r:embed="rId5"/>
          <a:stretch>
            <a:fillRect/>
          </a:stretch>
        </p:blipFill>
        <p:spPr>
          <a:xfrm>
            <a:off x="7480164" y="232365"/>
            <a:ext cx="3582258" cy="2388172"/>
          </a:xfrm>
          <a:prstGeom prst="rect">
            <a:avLst/>
          </a:prstGeom>
          <a:ln>
            <a:noFill/>
          </a:ln>
          <a:effectLst>
            <a:softEdge rad="112500"/>
          </a:effectLst>
        </p:spPr>
      </p:pic>
      <p:pic>
        <p:nvPicPr>
          <p:cNvPr id="15" name="Picture 14">
            <a:extLst>
              <a:ext uri="{FF2B5EF4-FFF2-40B4-BE49-F238E27FC236}">
                <a16:creationId xmlns:a16="http://schemas.microsoft.com/office/drawing/2014/main" id="{18D32375-A803-484B-6377-28AE7918C280}"/>
              </a:ext>
            </a:extLst>
          </p:cNvPr>
          <p:cNvPicPr>
            <a:picLocks noChangeAspect="1"/>
          </p:cNvPicPr>
          <p:nvPr/>
        </p:nvPicPr>
        <p:blipFill>
          <a:blip r:embed="rId6"/>
          <a:stretch>
            <a:fillRect/>
          </a:stretch>
        </p:blipFill>
        <p:spPr>
          <a:xfrm>
            <a:off x="4487376" y="220159"/>
            <a:ext cx="2520000" cy="1680000"/>
          </a:xfrm>
          <a:prstGeom prst="rect">
            <a:avLst/>
          </a:prstGeom>
          <a:ln>
            <a:noFill/>
          </a:ln>
          <a:effectLst>
            <a:softEdge rad="112500"/>
          </a:effectLst>
        </p:spPr>
      </p:pic>
      <p:pic>
        <p:nvPicPr>
          <p:cNvPr id="17" name="Picture 16">
            <a:extLst>
              <a:ext uri="{FF2B5EF4-FFF2-40B4-BE49-F238E27FC236}">
                <a16:creationId xmlns:a16="http://schemas.microsoft.com/office/drawing/2014/main" id="{805E0649-F6DA-9E33-D635-3D1B5D9364F8}"/>
              </a:ext>
            </a:extLst>
          </p:cNvPr>
          <p:cNvPicPr>
            <a:picLocks noChangeAspect="1"/>
          </p:cNvPicPr>
          <p:nvPr/>
        </p:nvPicPr>
        <p:blipFill>
          <a:blip r:embed="rId7"/>
          <a:stretch>
            <a:fillRect/>
          </a:stretch>
        </p:blipFill>
        <p:spPr>
          <a:xfrm>
            <a:off x="4487376" y="4237464"/>
            <a:ext cx="2520000" cy="1679829"/>
          </a:xfrm>
          <a:prstGeom prst="rect">
            <a:avLst/>
          </a:prstGeom>
          <a:ln>
            <a:noFill/>
          </a:ln>
          <a:effectLst>
            <a:softEdge rad="112500"/>
          </a:effectLst>
        </p:spPr>
      </p:pic>
      <p:pic>
        <p:nvPicPr>
          <p:cNvPr id="19" name="Picture 18">
            <a:extLst>
              <a:ext uri="{FF2B5EF4-FFF2-40B4-BE49-F238E27FC236}">
                <a16:creationId xmlns:a16="http://schemas.microsoft.com/office/drawing/2014/main" id="{BE4914A3-CB20-4B4B-9BB6-9AE320EB4A2E}"/>
              </a:ext>
            </a:extLst>
          </p:cNvPr>
          <p:cNvPicPr>
            <a:picLocks noChangeAspect="1"/>
          </p:cNvPicPr>
          <p:nvPr/>
        </p:nvPicPr>
        <p:blipFill>
          <a:blip r:embed="rId8"/>
          <a:stretch>
            <a:fillRect/>
          </a:stretch>
        </p:blipFill>
        <p:spPr>
          <a:xfrm>
            <a:off x="7480164" y="3006825"/>
            <a:ext cx="4366148" cy="2910468"/>
          </a:xfrm>
          <a:prstGeom prst="rect">
            <a:avLst/>
          </a:prstGeom>
          <a:ln>
            <a:noFill/>
          </a:ln>
          <a:effectLst>
            <a:softEdge rad="112500"/>
          </a:effectLst>
        </p:spPr>
      </p:pic>
    </p:spTree>
    <p:extLst>
      <p:ext uri="{BB962C8B-B14F-4D97-AF65-F5344CB8AC3E}">
        <p14:creationId xmlns:p14="http://schemas.microsoft.com/office/powerpoint/2010/main" val="2031770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2582A31-A898-A005-614A-C50C83202B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4" name="Picture 3">
            <a:extLst>
              <a:ext uri="{FF2B5EF4-FFF2-40B4-BE49-F238E27FC236}">
                <a16:creationId xmlns:a16="http://schemas.microsoft.com/office/drawing/2014/main" id="{82ABFA44-4AB3-DDC8-9ED3-C1E0DEFA6C86}"/>
              </a:ext>
            </a:extLst>
          </p:cNvPr>
          <p:cNvPicPr>
            <a:picLocks noChangeAspect="1"/>
          </p:cNvPicPr>
          <p:nvPr/>
        </p:nvPicPr>
        <p:blipFill>
          <a:blip r:embed="rId2"/>
          <a:stretch>
            <a:fillRect/>
          </a:stretch>
        </p:blipFill>
        <p:spPr>
          <a:xfrm>
            <a:off x="336000" y="346225"/>
            <a:ext cx="5760000" cy="5646101"/>
          </a:xfrm>
          <a:prstGeom prst="rect">
            <a:avLst/>
          </a:prstGeom>
        </p:spPr>
      </p:pic>
      <p:pic>
        <p:nvPicPr>
          <p:cNvPr id="6" name="Picture 5">
            <a:extLst>
              <a:ext uri="{FF2B5EF4-FFF2-40B4-BE49-F238E27FC236}">
                <a16:creationId xmlns:a16="http://schemas.microsoft.com/office/drawing/2014/main" id="{9119280E-9500-CCAC-B774-EE29AA4783A9}"/>
              </a:ext>
            </a:extLst>
          </p:cNvPr>
          <p:cNvPicPr>
            <a:picLocks noChangeAspect="1"/>
          </p:cNvPicPr>
          <p:nvPr/>
        </p:nvPicPr>
        <p:blipFill>
          <a:blip r:embed="rId3"/>
          <a:stretch>
            <a:fillRect/>
          </a:stretch>
        </p:blipFill>
        <p:spPr>
          <a:xfrm>
            <a:off x="6228114" y="4496942"/>
            <a:ext cx="5760000" cy="1495384"/>
          </a:xfrm>
          <a:prstGeom prst="rect">
            <a:avLst/>
          </a:prstGeom>
        </p:spPr>
      </p:pic>
    </p:spTree>
    <p:extLst>
      <p:ext uri="{BB962C8B-B14F-4D97-AF65-F5344CB8AC3E}">
        <p14:creationId xmlns:p14="http://schemas.microsoft.com/office/powerpoint/2010/main" val="1445225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AA27-917F-AF27-539A-E77876828B2A}"/>
              </a:ext>
            </a:extLst>
          </p:cNvPr>
          <p:cNvSpPr>
            <a:spLocks noGrp="1"/>
          </p:cNvSpPr>
          <p:nvPr>
            <p:ph type="title"/>
          </p:nvPr>
        </p:nvSpPr>
        <p:spPr>
          <a:xfrm>
            <a:off x="838200" y="365125"/>
            <a:ext cx="10515600" cy="861509"/>
          </a:xfrm>
        </p:spPr>
        <p:txBody>
          <a:bodyPr/>
          <a:lstStyle/>
          <a:p>
            <a:pPr algn="ctr"/>
            <a:r>
              <a:rPr lang="en-US" dirty="0"/>
              <a:t>VSOB</a:t>
            </a:r>
          </a:p>
        </p:txBody>
      </p:sp>
      <p:sp>
        <p:nvSpPr>
          <p:cNvPr id="3" name="Slide Number Placeholder 2">
            <a:extLst>
              <a:ext uri="{FF2B5EF4-FFF2-40B4-BE49-F238E27FC236}">
                <a16:creationId xmlns:a16="http://schemas.microsoft.com/office/drawing/2014/main" id="{8FCD5CF2-A42C-353E-4699-D42E1A1475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4098" name="Picture 2" descr="Hands On Learning">
            <a:extLst>
              <a:ext uri="{FF2B5EF4-FFF2-40B4-BE49-F238E27FC236}">
                <a16:creationId xmlns:a16="http://schemas.microsoft.com/office/drawing/2014/main" id="{B5E3D4F1-708A-88F1-CBDE-261D51320F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6266" y="1379266"/>
            <a:ext cx="4099467" cy="4099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898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pic>
        <p:nvPicPr>
          <p:cNvPr id="653" name="Google Shape;653;p50" descr="Bioinformatics is not just about pushing a button and getting your result"/>
          <p:cNvPicPr preferRelativeResize="0"/>
          <p:nvPr/>
        </p:nvPicPr>
        <p:blipFill rotWithShape="1">
          <a:blip r:embed="rId3">
            <a:alphaModFix/>
          </a:blip>
          <a:srcRect/>
          <a:stretch/>
        </p:blipFill>
        <p:spPr>
          <a:xfrm>
            <a:off x="31750" y="0"/>
            <a:ext cx="12128500" cy="6858000"/>
          </a:xfrm>
          <a:prstGeom prst="rect">
            <a:avLst/>
          </a:prstGeom>
          <a:noFill/>
          <a:ln>
            <a:noFill/>
          </a:ln>
        </p:spPr>
      </p:pic>
      <p:sp>
        <p:nvSpPr>
          <p:cNvPr id="654" name="Google Shape;654;p50"/>
          <p:cNvSpPr/>
          <p:nvPr/>
        </p:nvSpPr>
        <p:spPr>
          <a:xfrm>
            <a:off x="5486400" y="0"/>
            <a:ext cx="67056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654"/>
                                        </p:tgtEl>
                                      </p:cBhvr>
                                    </p:animEffect>
                                    <p:set>
                                      <p:cBhvr>
                                        <p:cTn id="7" dur="1" fill="hold">
                                          <p:stCondLst>
                                            <p:cond delay="499"/>
                                          </p:stCondLst>
                                        </p:cTn>
                                        <p:tgtEl>
                                          <p:spTgt spid="6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pic>
        <p:nvPicPr>
          <p:cNvPr id="659" name="Google Shape;659;p51" descr="Sermons | St. Hilary Church"/>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60" name="Google Shape;660;p51"/>
          <p:cNvSpPr txBox="1"/>
          <p:nvPr/>
        </p:nvSpPr>
        <p:spPr>
          <a:xfrm>
            <a:off x="2438400" y="4419600"/>
            <a:ext cx="6172200"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lt1"/>
                </a:solidFill>
                <a:latin typeface="Arial"/>
                <a:ea typeface="Arial"/>
                <a:cs typeface="Arial"/>
                <a:sym typeface="Arial"/>
              </a:rPr>
              <a:t>Trong quá trình thực hành, vì một lý do nào đó, có thể có người nhanh, có người chậm, vì vậy mọi người sẽ đợi để cùng nhau hoàn thành phần thực hành.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C61199B-6C84-EF96-68E2-B1C605B593C5}"/>
              </a:ext>
            </a:extLst>
          </p:cNvPr>
          <p:cNvPicPr>
            <a:picLocks noChangeAspect="1"/>
          </p:cNvPicPr>
          <p:nvPr/>
        </p:nvPicPr>
        <p:blipFill>
          <a:blip r:embed="rId2"/>
          <a:stretch>
            <a:fillRect/>
          </a:stretch>
        </p:blipFill>
        <p:spPr>
          <a:xfrm>
            <a:off x="3865756" y="1198756"/>
            <a:ext cx="4460488" cy="4460488"/>
          </a:xfrm>
          <a:prstGeom prst="rect">
            <a:avLst/>
          </a:prstGeom>
        </p:spPr>
      </p:pic>
    </p:spTree>
    <p:extLst>
      <p:ext uri="{BB962C8B-B14F-4D97-AF65-F5344CB8AC3E}">
        <p14:creationId xmlns:p14="http://schemas.microsoft.com/office/powerpoint/2010/main" val="2286033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2095</TotalTime>
  <Words>626</Words>
  <Application>Microsoft Macintosh PowerPoint</Application>
  <PresentationFormat>Widescreen</PresentationFormat>
  <Paragraphs>68</Paragraphs>
  <Slides>13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Century</vt:lpstr>
      <vt:lpstr>Candara</vt:lpstr>
      <vt:lpstr>Montserrat</vt:lpstr>
      <vt:lpstr>Roboto Slab</vt:lpstr>
      <vt:lpstr>Arial</vt:lpstr>
      <vt:lpstr>Times New Roman</vt:lpstr>
      <vt:lpstr>Calibri</vt:lpstr>
      <vt:lpstr>Office Theme</vt:lpstr>
      <vt:lpstr>PowerPoint Presentation</vt:lpstr>
      <vt:lpstr>PowerPoint Presentation</vt:lpstr>
      <vt:lpstr>PowerPoint Presentation</vt:lpstr>
      <vt:lpstr>VSOB Organizing &amp; Program Committees</vt:lpstr>
      <vt:lpstr>VSOB: Invited Speakers and Lecturers</vt:lpstr>
      <vt:lpstr>VSOB: Invited Speakers and Lecturers</vt:lpstr>
      <vt:lpstr>VSOB: Invited Speakers and Lecturers</vt:lpstr>
      <vt:lpstr>PowerPoint Presentation</vt:lpstr>
      <vt:lpstr>PowerPoint Presentation</vt:lpstr>
      <vt:lpstr>VSOB</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55</cp:revision>
  <dcterms:created xsi:type="dcterms:W3CDTF">2022-11-17T08:17:27Z</dcterms:created>
  <dcterms:modified xsi:type="dcterms:W3CDTF">2026-10-28T16:19:46Z</dcterms:modified>
</cp:coreProperties>
</file>